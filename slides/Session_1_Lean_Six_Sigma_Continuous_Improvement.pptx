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db3c87d-e5b8-2226-2a5c-ecb785714f05}">
          <p14:sldIdLst>
            <p14:sldId id="257"/>
            <p14:sldId id="258"/>
          </p14:sldIdLst>
        </p14:section>
        <p14:section name="Default-1" id="{517da40e-8f6d-ba32-e514-d83b478587ec}">
          <p14:sldIdLst>
            <p14:sldId id="256"/>
          </p14:sldIdLst>
        </p14:section>
        <p14:section name="Part One — The puzzle" id="{7ea61ef9-fe98-82ef-0be0-266adbc978f0}">
          <p14:sldIdLst>
            <p14:sldId id="259"/>
            <p14:sldId id="260"/>
            <p14:sldId id="261"/>
          </p14:sldIdLst>
        </p14:section>
        <p14:section name="Part Two — Value" id="{22fd4910-5fa5-6774-1062-7a84597dbe3f}">
          <p14:sldIdLst>
            <p14:sldId id="262"/>
            <p14:sldId id="263"/>
            <p14:sldId id="264"/>
            <p14:sldId id="265"/>
            <p14:sldId id="266"/>
            <p14:sldId id="267"/>
            <p14:sldId id="268"/>
          </p14:sldIdLst>
        </p14:section>
        <p14:section name="Part Three — Waste" id="{c7d3977d-26f4-89a2-98e3-8bbb4fcaab07}">
          <p14:sldIdLst>
            <p14:sldId id="269"/>
            <p14:sldId id="270"/>
            <p14:sldId id="271"/>
            <p14:sldId id="272"/>
            <p14:sldId id="273"/>
          </p14:sldIdLst>
        </p14:section>
        <p14:section name="Part Four — Efficiency and variation" id="{2c4754ff-ea01-d4b0-b995-b6ce028a62b0}">
          <p14:sldIdLst>
            <p14:sldId id="274"/>
            <p14:sldId id="275"/>
            <p14:sldId id="276"/>
            <p14:sldId id="277"/>
            <p14:sldId id="278"/>
            <p14:sldId id="279"/>
            <p14:sldId id="280"/>
          </p14:sldIdLst>
        </p14:section>
        <p14:section name="Part Five — The Toyota system" id="{8a276d57-af79-e7da-3ae9-691bfa8c7b27}">
          <p14:sldIdLst>
            <p14:sldId id="281"/>
            <p14:sldId id="282"/>
            <p14:sldId id="283"/>
            <p14:sldId id="284"/>
            <p14:sldId id="285"/>
          </p14:sldIdLst>
        </p14:section>
        <p14:section name="Part Six — Capital" id="{4bb57fa0-2edf-479f-60b4-8802d542de29}">
          <p14:sldIdLst>
            <p14:sldId id="286"/>
            <p14:sldId id="287"/>
            <p14:sldId id="288"/>
            <p14:sldId id="289"/>
            <p14:sldId id="290"/>
            <p14:sldId id="291"/>
          </p14:sldIdLst>
        </p14:section>
        <p14:section name="Part Seven — DMAIC" id="{9053bfbb-507b-14f9-da45-1a5fd1cdbcde}">
          <p14:sldIdLst>
            <p14:sldId id="292"/>
            <p14:sldId id="293"/>
            <p14:sldId id="294"/>
            <p14:sldId id="295"/>
            <p14:sldId id="296"/>
          </p14:sldIdLst>
        </p14:section>
        <p14:section name="Part Eight — The third equation" id="{5c1876f6-f563-a878-22b5-e39cfcb0bf3f}">
          <p14:sldIdLst>
            <p14:sldId id="297"/>
            <p14:sldId id="298"/>
            <p14:sldId id="299"/>
            <p14:sldId id="300"/>
          </p14:sldIdLst>
        </p14:section>
        <p14:section name="Part Nine — Group activity" id="{c8e232a2-1aba-aaef-59c5-50789fd259a7}">
          <p14:sldIdLst>
            <p14:sldId id="301"/>
            <p14:sldId id="302"/>
            <p14:sldId id="303"/>
            <p14:sldId id="304"/>
          </p14:sldIdLst>
        </p14:section>
        <p14:section name="Part Ten — Conclusion" id="{1802339b-f277-1c15-aae3-0d347dc2a952}">
          <p14:sldIdLst>
            <p14:sldId id="305"/>
            <p14:sldId id="306"/>
            <p14:sldId id="307"/>
            <p14:sldId id="308"/>
            <p14:sldId id="309"/>
          </p14:sldIdLst>
        </p14:section>
        <p14:section name="Default-2" id="{abc3278a-04ca-ccf6-f936-b6df74ae9695}">
          <p14:sldIdLst>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Correct outcome across 20 steps</c:v>
                </c:pt>
              </c:strCache>
            </c:strRef>
          </c:tx>
          <c:spPr>
            <a:solidFill>
              <a:srgbClr val="082A54"/>
            </a:solidFill>
            <a:effectLst/>
          </c:spPr>
          <c:invertIfNegative val="0"/>
          <c:dLbls>
            <c:numFmt formatCode="0.0&quot;%&quot;"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99% per step</c:v>
                  </c:pt>
                  <c:pt idx="1">
                    <c:v>99.38% (4σ)</c:v>
                  </c:pt>
                  <c:pt idx="2">
                    <c:v>99.9% per step</c:v>
                  </c:pt>
                </c:lvl>
              </c:multiLvlStrCache>
            </c:multiLvlStrRef>
          </c:cat>
          <c:val>
            <c:numRef>
              <c:f>Sheet1!$B$2:$B$4</c:f>
              <c:numCache>
                <c:formatCode>General</c:formatCode>
                <c:ptCount val="3"/>
                <c:pt idx="0">
                  <c:v>81.8</c:v>
                </c:pt>
                <c:pt idx="1">
                  <c:v>88.3</c:v>
                </c:pt>
                <c:pt idx="2">
                  <c:v>98</c:v>
                </c:pt>
              </c:numCache>
            </c:numRef>
          </c:val>
        </c:ser>
        <c:dLbls>
          <c:numFmt formatCode="0.0&quot;%&quot;"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82A54"/>
                </a:solidFill>
                <a:latin typeface="+mn-lt"/>
              </a:defRPr>
            </a:pPr>
            <a:r>
              <a:rPr sz="1200" b="0" i="0" u="none" strike="noStrike">
                <a:solidFill>
                  <a:srgbClr val="082A54"/>
                </a:solidFill>
                <a:latin typeface="+mn-lt"/>
              </a:rPr>
              <a:t>ROIC by scenario — WACC 10%</a:t>
            </a:r>
          </a:p>
        </c:rich>
      </c:tx>
      <c:layout/>
      <c:overlay val="0"/>
    </c:title>
    <c:autoTitleDeleted val="0"/>
    <c:plotArea>
      <c:layout/>
      <c:barChart>
        <c:barDir val="col"/>
        <c:grouping val="clustered"/>
        <c:varyColors val="0"/>
        <c:ser>
          <c:idx val="0"/>
          <c:order val="0"/>
          <c:tx>
            <c:strRef>
              <c:f>Sheet1!$B$1</c:f>
              <c:strCache>
                <c:ptCount val="1"/>
                <c:pt idx="0">
                  <c:v>ROIC</c:v>
                </c:pt>
              </c:strCache>
            </c:strRef>
          </c:tx>
          <c:spPr>
            <a:solidFill>
              <a:srgbClr val="082A54"/>
            </a:solidFill>
            <a:effectLst/>
          </c:spPr>
          <c:invertIfNegative val="0"/>
          <c:dLbls>
            <c:numFmt formatCode="0.0&quot;%&quot;"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c:v>
                  </c:pt>
                  <c:pt idx="1">
                    <c:v>Flow only</c:v>
                  </c:pt>
                  <c:pt idx="2">
                    <c:v>Cost only</c:v>
                  </c:pt>
                  <c:pt idx="3">
                    <c:v>Both</c:v>
                  </c:pt>
                </c:lvl>
              </c:multiLvlStrCache>
            </c:multiLvlStrRef>
          </c:cat>
          <c:val>
            <c:numRef>
              <c:f>Sheet1!$B$2:$B$5</c:f>
              <c:numCache>
                <c:formatCode>General</c:formatCode>
                <c:ptCount val="4"/>
                <c:pt idx="0">
                  <c:v>10</c:v>
                </c:pt>
                <c:pt idx="1">
                  <c:v>12.9</c:v>
                </c:pt>
                <c:pt idx="2">
                  <c:v>12.5</c:v>
                </c:pt>
                <c:pt idx="3">
                  <c:v>16.1</c:v>
                </c:pt>
              </c:numCache>
            </c:numRef>
          </c:val>
        </c:ser>
        <c:dLbls>
          <c:numFmt formatCode="0.0&quot;%&quot;"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1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State the claim once; the morning earns it. Point to the reading notes as the reference text for the written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both questions. Ask the room to write a one-line hypothesis now (chat or paper). We return to it in Part Eight with the identity built during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Little's Law simulator from the reading notes with two or three figures volunteered by participants. The simulator shows the arithmetic strip and the comparison of the two levers.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ROIC simulator from the notes. Presets: baseline, flow only, cost only, both. In your own numbers, inventory per day of lead time is roughly annual cost of sales divided by working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082A54"/>
          </a:solidFill>
          <a:ln/>
        </p:spPr>
      </p:sp>
      <p:sp>
        <p:nvSpPr>
          <p:cNvPr id="3" name="Shape 1"/>
          <p:cNvSpPr/>
          <p:nvPr/>
        </p:nvSpPr>
        <p:spPr>
          <a:xfrm>
            <a:off x="0" y="6492240"/>
            <a:ext cx="12191695" cy="365760"/>
          </a:xfrm>
          <a:prstGeom prst="rect">
            <a:avLst/>
          </a:prstGeom>
          <a:solidFill>
            <a:srgbClr val="082A54"/>
          </a:solidFill>
          <a:ln/>
        </p:spPr>
      </p:sp>
      <p:sp>
        <p:nvSpPr>
          <p:cNvPr id="4" name="Text 2"/>
          <p:cNvSpPr/>
          <p:nvPr/>
        </p:nvSpPr>
        <p:spPr>
          <a:xfrm>
            <a:off x="457200" y="6492240"/>
            <a:ext cx="8229600" cy="365760"/>
          </a:xfrm>
          <a:prstGeom prst="rect">
            <a:avLst/>
          </a:prstGeom>
          <a:noFill/>
          <a:ln/>
        </p:spPr>
        <p:txBody>
          <a:bodyPr wrap="square" lIns="0" tIns="0" rIns="0" bIns="0" rtlCol="0" anchor="ctr"/>
          <a:lstStyle/>
          <a:p>
            <a:pPr indent="0" marL="0">
              <a:buNone/>
            </a:pPr>
            <a:r>
              <a:rPr lang="en-US" sz="900" dirty="0">
                <a:solidFill>
                  <a:srgbClr val="C6D4E4"/>
                </a:solidFill>
                <a:latin typeface="Calibri" pitchFamily="34" charset="0"/>
                <a:ea typeface="Calibri" pitchFamily="34" charset="-122"/>
                <a:cs typeface="Calibri" pitchFamily="34" charset="-120"/>
              </a:rPr>
              <a:t>Lean Six Sigma &amp; Continuous Improvement · Module 3, Session 4 · 17 October 2026 · Prof. Dr. Thiago Lima</a:t>
            </a:r>
            <a:endParaRPr lang="en-US" sz="900" dirty="0"/>
          </a:p>
        </p:txBody>
      </p:sp>
      <p:sp>
        <p:nvSpPr>
          <p:cNvPr id="5" name="Text 3"/>
          <p:cNvSpPr/>
          <p:nvPr>
            <p:ph idx="103" type="title" hasCustomPrompt="1"/>
          </p:nvPr>
        </p:nvSpPr>
        <p:spPr>
          <a:xfrm>
            <a:off x="457200" y="73152"/>
            <a:ext cx="10332720" cy="493776"/>
          </a:xfrm>
          <a:prstGeom prst="rect">
            <a:avLst/>
          </a:prstGeom>
          <a:noFill/>
          <a:ln/>
        </p:spPr>
        <p:txBody>
          <a:bodyPr wrap="square" rtlCol="0"/>
          <a:lstStyle>
            <a:lvl1pPr indent="0" marL="0">
              <a:buNone/>
              <a:defRPr lang="en-US" sz="2200" b="1" dirty="0">
                <a:solidFill>
                  <a:srgbClr val="FFFFFF"/>
                </a:solidFill>
                <a:latin typeface="Calibri" pitchFamily="34" charset="0"/>
                <a:ea typeface="Calibri" pitchFamily="34" charset="-122"/>
                <a:cs typeface="Calibri" pitchFamily="34" charset="-120"/>
              </a:defRPr>
            </a:lvl1pPr>
          </a:lstStyle>
          <a:p>
            <a:pPr indent="0" marL="0">
              <a:buNone/>
            </a:pPr>
            <a:endParaRPr lang="en-US" sz="22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577840"/>
            <a:ext cx="12191695" cy="1280160"/>
          </a:xfrm>
          <a:prstGeom prst="rect">
            <a:avLst/>
          </a:prstGeom>
          <a:solidFill>
            <a:srgbClr val="082A54"/>
          </a:solidFill>
          <a:ln/>
        </p:spPr>
      </p:sp>
      <p:pic>
        <p:nvPicPr>
          <p:cNvPr id="3" name="Image 0" descr="/tmp/claude-0/-home-claude/53ac155d-5147-5504-9aa7-9159f9d0a9f7/scratchpad/deck/tu/ppt/media/image1.png">    </p:cNvPr>
          <p:cNvPicPr>
            <a:picLocks noChangeAspect="1"/>
          </p:cNvPicPr>
          <p:nvPr/>
        </p:nvPicPr>
        <p:blipFill>
          <a:blip r:embed="rId1"/>
          <a:stretch>
            <a:fillRect/>
          </a:stretch>
        </p:blipFill>
        <p:spPr>
          <a:xfrm>
            <a:off x="7434072" y="640080"/>
            <a:ext cx="3310128" cy="740664"/>
          </a:xfrm>
          <a:prstGeom prst="rect">
            <a:avLst/>
          </a:prstGeom>
        </p:spPr>
      </p:pic>
      <p:pic>
        <p:nvPicPr>
          <p:cNvPr id="4" name="Image 1" descr="/tmp/claude-0/-home-claude/53ac155d-5147-5504-9aa7-9159f9d0a9f7/scratchpad/deck/tu/ppt/media/image2.png">    </p:cNvPr>
          <p:cNvPicPr>
            <a:picLocks noChangeAspect="1"/>
          </p:cNvPicPr>
          <p:nvPr/>
        </p:nvPicPr>
        <p:blipFill>
          <a:blip r:embed="rId2"/>
          <a:stretch>
            <a:fillRect/>
          </a:stretch>
        </p:blipFill>
        <p:spPr>
          <a:xfrm>
            <a:off x="10881360" y="393192"/>
            <a:ext cx="1005840" cy="106070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958584" cy="6858000"/>
          </a:xfrm>
          <a:prstGeom prst="rect">
            <a:avLst/>
          </a:prstGeom>
          <a:solidFill>
            <a:srgbClr val="082A54"/>
          </a:solidFill>
          <a:ln/>
        </p:spPr>
      </p:sp>
      <p:pic>
        <p:nvPicPr>
          <p:cNvPr id="3" name="Image 0" descr="/tmp/claude-0/-home-claude/53ac155d-5147-5504-9aa7-9159f9d0a9f7/scratchpad/deck/tu/ppt/media/image1.png">    </p:cNvPr>
          <p:cNvPicPr>
            <a:picLocks noChangeAspect="1"/>
          </p:cNvPicPr>
          <p:nvPr/>
        </p:nvPicPr>
        <p:blipFill>
          <a:blip r:embed="rId1"/>
          <a:stretch>
            <a:fillRect/>
          </a:stretch>
        </p:blipFill>
        <p:spPr>
          <a:xfrm>
            <a:off x="7735824" y="5879592"/>
            <a:ext cx="3218688" cy="722376"/>
          </a:xfrm>
          <a:prstGeom prst="rect">
            <a:avLst/>
          </a:prstGeom>
        </p:spPr>
      </p:pic>
      <p:pic>
        <p:nvPicPr>
          <p:cNvPr id="4" name="Image 1" descr="/tmp/claude-0/-home-claude/53ac155d-5147-5504-9aa7-9159f9d0a9f7/scratchpad/deck/tu/ppt/media/image2.png">    </p:cNvPr>
          <p:cNvPicPr>
            <a:picLocks noChangeAspect="1"/>
          </p:cNvPicPr>
          <p:nvPr/>
        </p:nvPicPr>
        <p:blipFill>
          <a:blip r:embed="rId2"/>
          <a:stretch>
            <a:fillRect/>
          </a:stretch>
        </p:blipFill>
        <p:spPr>
          <a:xfrm>
            <a:off x="11073384" y="5632704"/>
            <a:ext cx="978408" cy="103327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600200"/>
            <a:ext cx="9601200" cy="1188720"/>
          </a:xfrm>
          <a:prstGeom prst="rect">
            <a:avLst/>
          </a:prstGeom>
          <a:noFill/>
          <a:ln/>
        </p:spPr>
        <p:txBody>
          <a:bodyPr wrap="square" lIns="0" tIns="0" rIns="0" bIns="0" rtlCol="0" anchor="b"/>
          <a:lstStyle/>
          <a:p>
            <a:pPr indent="0" marL="0">
              <a:buNone/>
            </a:pPr>
            <a:r>
              <a:rPr lang="en-US" sz="3400" b="1" dirty="0">
                <a:solidFill>
                  <a:srgbClr val="082A54"/>
                </a:solidFill>
                <a:latin typeface="Calibri" pitchFamily="34" charset="0"/>
                <a:ea typeface="Calibri" pitchFamily="34" charset="-122"/>
                <a:cs typeface="Calibri" pitchFamily="34" charset="-120"/>
              </a:rPr>
              <a:t>Lean Six Sigma &amp; Continuous Improvement</a:t>
            </a:r>
            <a:endParaRPr lang="en-US" sz="3400" dirty="0"/>
          </a:p>
        </p:txBody>
      </p:sp>
      <p:sp>
        <p:nvSpPr>
          <p:cNvPr id="3" name="Text 1"/>
          <p:cNvSpPr txBox="1"/>
          <p:nvPr/>
        </p:nvSpPr>
        <p:spPr>
          <a:xfrm>
            <a:off x="731520" y="2834640"/>
            <a:ext cx="8686800" cy="822960"/>
          </a:xfrm>
          <a:prstGeom prst="rect">
            <a:avLst/>
          </a:prstGeom>
          <a:noFill/>
          <a:ln/>
        </p:spPr>
        <p:txBody>
          <a:bodyPr wrap="square" lIns="0" tIns="0" rIns="0" bIns="0" rtlCol="0" anchor="t"/>
          <a:lstStyle/>
          <a:p>
            <a:pPr indent="0" marL="0">
              <a:buNone/>
            </a:pPr>
            <a:r>
              <a:rPr lang="en-US" sz="2400" b="1" dirty="0">
                <a:solidFill>
                  <a:srgbClr val="C59221"/>
                </a:solidFill>
                <a:latin typeface="Calibri" pitchFamily="34" charset="0"/>
                <a:ea typeface="Calibri" pitchFamily="34" charset="-122"/>
                <a:cs typeface="Calibri" pitchFamily="34" charset="-120"/>
              </a:rPr>
              <a:t>International Certificate in Project Management and Organizational Performance</a:t>
            </a:r>
            <a:endParaRPr lang="en-US" sz="2400" dirty="0"/>
          </a:p>
        </p:txBody>
      </p:sp>
      <p:sp>
        <p:nvSpPr>
          <p:cNvPr id="4" name="Text 2"/>
          <p:cNvSpPr txBox="1"/>
          <p:nvPr/>
        </p:nvSpPr>
        <p:spPr>
          <a:xfrm>
            <a:off x="731520" y="3931920"/>
            <a:ext cx="8686800" cy="1097280"/>
          </a:xfrm>
          <a:prstGeom prst="rect">
            <a:avLst/>
          </a:prstGeom>
          <a:noFill/>
          <a:ln/>
        </p:spPr>
        <p:txBody>
          <a:bodyPr wrap="square" lIns="0" tIns="0" rIns="0" bIns="0" rtlCol="0" anchor="t"/>
          <a:lstStyle/>
          <a:p>
            <a:pPr indent="0" marL="0">
              <a:lnSpc>
                <a:spcPct val="120000"/>
              </a:lnSpc>
              <a:buNone/>
            </a:pPr>
            <a:r>
              <a:rPr lang="en-US" sz="1500" dirty="0">
                <a:solidFill>
                  <a:srgbClr val="5A6675"/>
                </a:solidFill>
                <a:latin typeface="Calibri" pitchFamily="34" charset="0"/>
                <a:ea typeface="Calibri" pitchFamily="34" charset="-122"/>
                <a:cs typeface="Calibri" pitchFamily="34" charset="-120"/>
              </a:rPr>
              <a:t>Module 3 — Methods, Tools and Operational Efficiency · Session 4, morning</a:t>
            </a:r>
            <a:endParaRPr lang="en-US" sz="1500" dirty="0"/>
          </a:p>
          <a:p>
            <a:pPr indent="0" marL="0">
              <a:lnSpc>
                <a:spcPct val="120000"/>
              </a:lnSpc>
              <a:buNone/>
            </a:pPr>
            <a:r>
              <a:rPr lang="en-US" sz="1500" dirty="0">
                <a:solidFill>
                  <a:srgbClr val="5A6675"/>
                </a:solidFill>
                <a:latin typeface="Calibri" pitchFamily="34" charset="0"/>
                <a:ea typeface="Calibri" pitchFamily="34" charset="-122"/>
                <a:cs typeface="Calibri" pitchFamily="34" charset="-120"/>
              </a:rPr>
              <a:t>17 October 2026 · 09:00–12:00 (Brasília time) · Online</a:t>
            </a:r>
            <a:endParaRPr lang="en-US" sz="1500" dirty="0"/>
          </a:p>
          <a:p>
            <a:pPr indent="0" marL="0">
              <a:lnSpc>
                <a:spcPct val="120000"/>
              </a:lnSpc>
              <a:buNone/>
            </a:pPr>
            <a:r>
              <a:rPr lang="en-US" sz="1500" dirty="0">
                <a:solidFill>
                  <a:srgbClr val="5A6675"/>
                </a:solidFill>
                <a:latin typeface="Calibri" pitchFamily="34" charset="0"/>
                <a:ea typeface="Calibri" pitchFamily="34" charset="-122"/>
                <a:cs typeface="Calibri" pitchFamily="34" charset="-120"/>
              </a:rPr>
              <a:t>Prof. Dr. Thiago Lima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SUMMARY</a:t>
            </a:r>
            <a:endParaRPr lang="en-US" sz="2200" dirty="0"/>
          </a:p>
        </p:txBody>
      </p:sp>
      <p:sp>
        <p:nvSpPr>
          <p:cNvPr id="3" name="Text 1"/>
          <p:cNvSpPr txBox="1"/>
          <p:nvPr/>
        </p:nvSpPr>
        <p:spPr>
          <a:xfrm>
            <a:off x="914400" y="1188720"/>
            <a:ext cx="6583680" cy="4937760"/>
          </a:xfrm>
          <a:prstGeom prst="rect">
            <a:avLst/>
          </a:prstGeom>
          <a:noFill/>
          <a:ln/>
        </p:spPr>
        <p:txBody>
          <a:bodyPr wrap="square" lIns="0" tIns="0" rIns="0" bIns="0" rtlCol="0" anchor="t"/>
          <a:lstStyle/>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The puzzle — Fremont, 1984</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Value, seen from the customer backwards</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The anatomy of waste</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The efficiency paradox — and variation</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The Toyota Production System, as a system</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Lean in the language of capital</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DMAIC — conducting improvement, analysing problems</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The third equation: V = C × (A + P)</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Group activity — the Value Case</a:t>
            </a:r>
            <a:endParaRPr lang="en-US" sz="1800" dirty="0"/>
          </a:p>
          <a:p>
            <a:pPr marL="342900" indent="-342900">
              <a:lnSpc>
                <a:spcPct val="110000"/>
              </a:lnSpc>
              <a:spcAft>
                <a:spcPts val="700"/>
              </a:spcAft>
              <a:buSzPct val="100000"/>
              <a:buFont typeface="+mj-lt"/>
              <a:buAutoNum type="arabicPeriod" startAt="1"/>
            </a:pPr>
            <a:r>
              <a:rPr lang="en-US" sz="1800" dirty="0">
                <a:solidFill>
                  <a:srgbClr val="1A1A1A"/>
                </a:solidFill>
                <a:latin typeface="Calibri" pitchFamily="34" charset="0"/>
                <a:ea typeface="Calibri" pitchFamily="34" charset="-122"/>
                <a:cs typeface="Calibri" pitchFamily="34" charset="-120"/>
              </a:rPr>
              <a:t>Where the morning ends</a:t>
            </a:r>
            <a:endParaRPr lang="en-US" sz="1800" dirty="0"/>
          </a:p>
        </p:txBody>
      </p:sp>
      <p:sp>
        <p:nvSpPr>
          <p:cNvPr id="4" name="Shape 2"/>
          <p:cNvSpPr/>
          <p:nvPr/>
        </p:nvSpPr>
        <p:spPr>
          <a:xfrm>
            <a:off x="7863840" y="1188720"/>
            <a:ext cx="3840480" cy="2377440"/>
          </a:xfrm>
          <a:prstGeom prst="roundRect">
            <a:avLst>
              <a:gd name="adj" fmla="val 4615"/>
            </a:avLst>
          </a:prstGeom>
          <a:solidFill>
            <a:srgbClr val="F3F6FA"/>
          </a:solidFill>
          <a:ln w="15875">
            <a:solidFill>
              <a:srgbClr val="4A7DBA"/>
            </a:solidFill>
            <a:prstDash val="solid"/>
          </a:ln>
        </p:spPr>
      </p:sp>
      <p:sp>
        <p:nvSpPr>
          <p:cNvPr id="5" name="Text 3"/>
          <p:cNvSpPr txBox="1"/>
          <p:nvPr/>
        </p:nvSpPr>
        <p:spPr>
          <a:xfrm>
            <a:off x="8065008" y="1353312"/>
            <a:ext cx="3438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One claim, three hours</a:t>
            </a:r>
            <a:endParaRPr lang="en-US" sz="1600" dirty="0"/>
          </a:p>
        </p:txBody>
      </p:sp>
      <p:sp>
        <p:nvSpPr>
          <p:cNvPr id="6" name="Text 4"/>
          <p:cNvSpPr txBox="1"/>
          <p:nvPr/>
        </p:nvSpPr>
        <p:spPr>
          <a:xfrm>
            <a:off x="8065008" y="1773936"/>
            <a:ext cx="3438144" cy="165506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Operational efficiency is a consequence of what the customer values and of how work flows — not of how busy the resources are. The returns to everything an organisation buys are scaled by a capability it cannot buy.</a:t>
            </a:r>
            <a:endParaRPr lang="en-US" sz="1300" dirty="0"/>
          </a:p>
        </p:txBody>
      </p:sp>
      <p:sp>
        <p:nvSpPr>
          <p:cNvPr id="7" name="Shape 5"/>
          <p:cNvSpPr/>
          <p:nvPr/>
        </p:nvSpPr>
        <p:spPr>
          <a:xfrm>
            <a:off x="7863840" y="3749040"/>
            <a:ext cx="3840480" cy="2377440"/>
          </a:xfrm>
          <a:prstGeom prst="roundRect">
            <a:avLst>
              <a:gd name="adj" fmla="val 4615"/>
            </a:avLst>
          </a:prstGeom>
          <a:solidFill>
            <a:srgbClr val="FFFFFF"/>
          </a:solidFill>
          <a:ln w="15875">
            <a:solidFill>
              <a:srgbClr val="4A7DBA"/>
            </a:solidFill>
            <a:prstDash val="solid"/>
          </a:ln>
        </p:spPr>
      </p:sp>
      <p:sp>
        <p:nvSpPr>
          <p:cNvPr id="8" name="Text 6"/>
          <p:cNvSpPr txBox="1"/>
          <p:nvPr/>
        </p:nvSpPr>
        <p:spPr>
          <a:xfrm>
            <a:off x="8065008" y="3913632"/>
            <a:ext cx="343814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Reading notes</a:t>
            </a:r>
            <a:endParaRPr lang="en-US" sz="1600" dirty="0"/>
          </a:p>
        </p:txBody>
      </p:sp>
      <p:sp>
        <p:nvSpPr>
          <p:cNvPr id="9" name="Text 7"/>
          <p:cNvSpPr txBox="1"/>
          <p:nvPr/>
        </p:nvSpPr>
        <p:spPr>
          <a:xfrm>
            <a:off x="8065008" y="4334256"/>
            <a:ext cx="3438144" cy="165506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Every definition, figure and source in this deck is in the reading notes, which stand on their own and are the reference for the module assessment. Nothing needed reading in advance.</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THE SESSION ASKS OF YOU</a:t>
            </a:r>
            <a:endParaRPr lang="en-US" sz="2200" dirty="0"/>
          </a:p>
        </p:txBody>
      </p:sp>
      <p:sp>
        <p:nvSpPr>
          <p:cNvPr id="3" name="Text 1"/>
          <p:cNvSpPr txBox="1"/>
          <p:nvPr/>
        </p:nvSpPr>
        <p:spPr>
          <a:xfrm>
            <a:off x="457200" y="1005840"/>
            <a:ext cx="11277295" cy="548640"/>
          </a:xfrm>
          <a:prstGeom prst="rect">
            <a:avLst/>
          </a:prstGeom>
          <a:noFill/>
          <a:ln/>
        </p:spPr>
        <p:txBody>
          <a:bodyPr wrap="square" lIns="0" tIns="0" rIns="0" bIns="0" rtlCol="0" anchor="t"/>
          <a:lstStyle/>
          <a:p>
            <a:pPr algn="l" indent="0" marL="0">
              <a:lnSpc>
                <a:spcPct val="115000"/>
              </a:lnSpc>
              <a:buNone/>
            </a:pPr>
            <a:r>
              <a:rPr lang="en-US" sz="1600" dirty="0">
                <a:solidFill>
                  <a:srgbClr val="1A1A1A"/>
                </a:solidFill>
                <a:latin typeface="Calibri" pitchFamily="34" charset="0"/>
                <a:ea typeface="Calibri" pitchFamily="34" charset="-122"/>
                <a:cs typeface="Calibri" pitchFamily="34" charset="-120"/>
              </a:rPr>
              <a:t>Nothing to prepare — three things to have in mind, all about your own organisation, all answerable from what you already know.</a:t>
            </a:r>
            <a:endParaRPr lang="en-US" sz="1600" dirty="0"/>
          </a:p>
        </p:txBody>
      </p:sp>
      <p:sp>
        <p:nvSpPr>
          <p:cNvPr id="4" name="Shape 2"/>
          <p:cNvSpPr/>
          <p:nvPr/>
        </p:nvSpPr>
        <p:spPr>
          <a:xfrm>
            <a:off x="457200" y="1737360"/>
            <a:ext cx="3566160" cy="1188720"/>
          </a:xfrm>
          <a:prstGeom prst="roundRect">
            <a:avLst>
              <a:gd name="adj" fmla="val 9231"/>
            </a:avLst>
          </a:prstGeom>
          <a:solidFill>
            <a:srgbClr val="F3F6FA"/>
          </a:solidFill>
          <a:ln w="12700">
            <a:solidFill>
              <a:srgbClr val="C9D3DE"/>
            </a:solidFill>
            <a:prstDash val="solid"/>
          </a:ln>
        </p:spPr>
      </p:sp>
      <p:sp>
        <p:nvSpPr>
          <p:cNvPr id="5" name="Text 3"/>
          <p:cNvSpPr txBox="1"/>
          <p:nvPr/>
        </p:nvSpPr>
        <p:spPr>
          <a:xfrm>
            <a:off x="594360" y="1847088"/>
            <a:ext cx="3291840" cy="594360"/>
          </a:xfrm>
          <a:prstGeom prst="rect">
            <a:avLst/>
          </a:prstGeom>
          <a:noFill/>
          <a:ln/>
        </p:spPr>
        <p:txBody>
          <a:bodyPr wrap="square" lIns="0" tIns="0" rIns="0" bIns="0" rtlCol="0" anchor="ctr"/>
          <a:lstStyle/>
          <a:p>
            <a:pPr algn="ctr" indent="0" marL="0">
              <a:buNone/>
            </a:pPr>
            <a:r>
              <a:rPr lang="en-US" sz="4000" b="1" dirty="0">
                <a:solidFill>
                  <a:srgbClr val="C59221"/>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594360" y="2450592"/>
            <a:ext cx="3291840" cy="451714"/>
          </a:xfrm>
          <a:prstGeom prst="rect">
            <a:avLst/>
          </a:prstGeom>
          <a:noFill/>
          <a:ln/>
        </p:spPr>
        <p:txBody>
          <a:bodyPr wrap="square" lIns="0" tIns="0" rIns="0" bIns="0" rtlCol="0" anchor="t"/>
          <a:lstStyle/>
          <a:p>
            <a:pPr algn="ctr" indent="0" marL="0">
              <a:buNone/>
            </a:pPr>
            <a:r>
              <a:rPr lang="en-US" sz="1500" dirty="0">
                <a:solidFill>
                  <a:srgbClr val="5A6675"/>
                </a:solidFill>
                <a:latin typeface="Calibri" pitchFamily="34" charset="0"/>
                <a:ea typeface="Calibri" pitchFamily="34" charset="-122"/>
                <a:cs typeface="Calibri" pitchFamily="34" charset="-120"/>
              </a:rPr>
              <a:t>One recurring process</a:t>
            </a:r>
            <a:endParaRPr lang="en-US" sz="1500" dirty="0"/>
          </a:p>
        </p:txBody>
      </p:sp>
      <p:sp>
        <p:nvSpPr>
          <p:cNvPr id="7" name="Shape 5"/>
          <p:cNvSpPr/>
          <p:nvPr/>
        </p:nvSpPr>
        <p:spPr>
          <a:xfrm>
            <a:off x="457200" y="3063240"/>
            <a:ext cx="3566160" cy="2286000"/>
          </a:xfrm>
          <a:prstGeom prst="roundRect">
            <a:avLst>
              <a:gd name="adj" fmla="val 4800"/>
            </a:avLst>
          </a:prstGeom>
          <a:solidFill>
            <a:srgbClr val="FFFFFF"/>
          </a:solidFill>
          <a:ln w="15875">
            <a:solidFill>
              <a:srgbClr val="4A7DBA"/>
            </a:solidFill>
            <a:prstDash val="solid"/>
          </a:ln>
        </p:spPr>
      </p:sp>
      <p:sp>
        <p:nvSpPr>
          <p:cNvPr id="8" name="Text 6"/>
          <p:cNvSpPr txBox="1"/>
          <p:nvPr/>
        </p:nvSpPr>
        <p:spPr>
          <a:xfrm>
            <a:off x="658368" y="3227832"/>
            <a:ext cx="3163824" cy="1984248"/>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That you own or depend on, and that takes longer than it should. Contract approval, project initiation, monthly close, incident resolution.</a:t>
            </a:r>
            <a:endParaRPr lang="en-US" sz="1400" dirty="0"/>
          </a:p>
        </p:txBody>
      </p:sp>
      <p:sp>
        <p:nvSpPr>
          <p:cNvPr id="9" name="Shape 7"/>
          <p:cNvSpPr/>
          <p:nvPr/>
        </p:nvSpPr>
        <p:spPr>
          <a:xfrm>
            <a:off x="4297680" y="1737360"/>
            <a:ext cx="3566160" cy="1188720"/>
          </a:xfrm>
          <a:prstGeom prst="roundRect">
            <a:avLst>
              <a:gd name="adj" fmla="val 9231"/>
            </a:avLst>
          </a:prstGeom>
          <a:solidFill>
            <a:srgbClr val="F3F6FA"/>
          </a:solidFill>
          <a:ln w="12700">
            <a:solidFill>
              <a:srgbClr val="C9D3DE"/>
            </a:solidFill>
            <a:prstDash val="solid"/>
          </a:ln>
        </p:spPr>
      </p:sp>
      <p:sp>
        <p:nvSpPr>
          <p:cNvPr id="10" name="Text 8"/>
          <p:cNvSpPr txBox="1"/>
          <p:nvPr/>
        </p:nvSpPr>
        <p:spPr>
          <a:xfrm>
            <a:off x="4434840" y="1847088"/>
            <a:ext cx="3291840" cy="594360"/>
          </a:xfrm>
          <a:prstGeom prst="rect">
            <a:avLst/>
          </a:prstGeom>
          <a:noFill/>
          <a:ln/>
        </p:spPr>
        <p:txBody>
          <a:bodyPr wrap="square" lIns="0" tIns="0" rIns="0" bIns="0" rtlCol="0" anchor="ctr"/>
          <a:lstStyle/>
          <a:p>
            <a:pPr algn="ctr" indent="0" marL="0">
              <a:buNone/>
            </a:pPr>
            <a:r>
              <a:rPr lang="en-US" sz="4000" b="1" dirty="0">
                <a:solidFill>
                  <a:srgbClr val="C59221"/>
                </a:solidFill>
                <a:latin typeface="Cambria" pitchFamily="34" charset="0"/>
                <a:ea typeface="Cambria" pitchFamily="34" charset="-122"/>
                <a:cs typeface="Cambria" pitchFamily="34" charset="-120"/>
              </a:rPr>
              <a:t>2</a:t>
            </a:r>
            <a:endParaRPr lang="en-US" sz="4000" dirty="0"/>
          </a:p>
        </p:txBody>
      </p:sp>
      <p:sp>
        <p:nvSpPr>
          <p:cNvPr id="11" name="Text 9"/>
          <p:cNvSpPr txBox="1"/>
          <p:nvPr/>
        </p:nvSpPr>
        <p:spPr>
          <a:xfrm>
            <a:off x="4434840" y="2450592"/>
            <a:ext cx="3291840" cy="451714"/>
          </a:xfrm>
          <a:prstGeom prst="rect">
            <a:avLst/>
          </a:prstGeom>
          <a:noFill/>
          <a:ln/>
        </p:spPr>
        <p:txBody>
          <a:bodyPr wrap="square" lIns="0" tIns="0" rIns="0" bIns="0" rtlCol="0" anchor="t"/>
          <a:lstStyle/>
          <a:p>
            <a:pPr algn="ctr" indent="0" marL="0">
              <a:buNone/>
            </a:pPr>
            <a:r>
              <a:rPr lang="en-US" sz="1500" dirty="0">
                <a:solidFill>
                  <a:srgbClr val="5A6675"/>
                </a:solidFill>
                <a:latin typeface="Calibri" pitchFamily="34" charset="0"/>
                <a:ea typeface="Calibri" pitchFamily="34" charset="-122"/>
                <a:cs typeface="Calibri" pitchFamily="34" charset="-120"/>
              </a:rPr>
              <a:t>Two rough figures</a:t>
            </a:r>
            <a:endParaRPr lang="en-US" sz="1500" dirty="0"/>
          </a:p>
        </p:txBody>
      </p:sp>
      <p:sp>
        <p:nvSpPr>
          <p:cNvPr id="12" name="Shape 10"/>
          <p:cNvSpPr/>
          <p:nvPr/>
        </p:nvSpPr>
        <p:spPr>
          <a:xfrm>
            <a:off x="4297680" y="3063240"/>
            <a:ext cx="3566160" cy="2286000"/>
          </a:xfrm>
          <a:prstGeom prst="roundRect">
            <a:avLst>
              <a:gd name="adj" fmla="val 4800"/>
            </a:avLst>
          </a:prstGeom>
          <a:solidFill>
            <a:srgbClr val="FFFFFF"/>
          </a:solidFill>
          <a:ln w="15875">
            <a:solidFill>
              <a:srgbClr val="4A7DBA"/>
            </a:solidFill>
            <a:prstDash val="solid"/>
          </a:ln>
        </p:spPr>
      </p:sp>
      <p:sp>
        <p:nvSpPr>
          <p:cNvPr id="13" name="Text 11"/>
          <p:cNvSpPr txBox="1"/>
          <p:nvPr/>
        </p:nvSpPr>
        <p:spPr>
          <a:xfrm>
            <a:off x="4498848" y="3227832"/>
            <a:ext cx="3163824" cy="1984248"/>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How many projects are in flight in your unit, and how many closed in the last twelve months. Approximations are fine.</a:t>
            </a:r>
            <a:endParaRPr lang="en-US" sz="1400" dirty="0"/>
          </a:p>
        </p:txBody>
      </p:sp>
      <p:sp>
        <p:nvSpPr>
          <p:cNvPr id="14" name="Shape 12"/>
          <p:cNvSpPr/>
          <p:nvPr/>
        </p:nvSpPr>
        <p:spPr>
          <a:xfrm>
            <a:off x="8138160" y="1737360"/>
            <a:ext cx="3566160" cy="1188720"/>
          </a:xfrm>
          <a:prstGeom prst="roundRect">
            <a:avLst>
              <a:gd name="adj" fmla="val 9231"/>
            </a:avLst>
          </a:prstGeom>
          <a:solidFill>
            <a:srgbClr val="F3F6FA"/>
          </a:solidFill>
          <a:ln w="12700">
            <a:solidFill>
              <a:srgbClr val="C9D3DE"/>
            </a:solidFill>
            <a:prstDash val="solid"/>
          </a:ln>
        </p:spPr>
      </p:sp>
      <p:sp>
        <p:nvSpPr>
          <p:cNvPr id="15" name="Text 13"/>
          <p:cNvSpPr txBox="1"/>
          <p:nvPr/>
        </p:nvSpPr>
        <p:spPr>
          <a:xfrm>
            <a:off x="8275320" y="1847088"/>
            <a:ext cx="3291840" cy="594360"/>
          </a:xfrm>
          <a:prstGeom prst="rect">
            <a:avLst/>
          </a:prstGeom>
          <a:noFill/>
          <a:ln/>
        </p:spPr>
        <p:txBody>
          <a:bodyPr wrap="square" lIns="0" tIns="0" rIns="0" bIns="0" rtlCol="0" anchor="ctr"/>
          <a:lstStyle/>
          <a:p>
            <a:pPr algn="ctr" indent="0" marL="0">
              <a:buNone/>
            </a:pPr>
            <a:r>
              <a:rPr lang="en-US" sz="4000" b="1" dirty="0">
                <a:solidFill>
                  <a:srgbClr val="C59221"/>
                </a:solidFill>
                <a:latin typeface="Cambria" pitchFamily="34" charset="0"/>
                <a:ea typeface="Cambria" pitchFamily="34" charset="-122"/>
                <a:cs typeface="Cambria" pitchFamily="34" charset="-120"/>
              </a:rPr>
              <a:t>3</a:t>
            </a:r>
            <a:endParaRPr lang="en-US" sz="4000" dirty="0"/>
          </a:p>
        </p:txBody>
      </p:sp>
      <p:sp>
        <p:nvSpPr>
          <p:cNvPr id="16" name="Text 14"/>
          <p:cNvSpPr txBox="1"/>
          <p:nvPr/>
        </p:nvSpPr>
        <p:spPr>
          <a:xfrm>
            <a:off x="8275320" y="2450592"/>
            <a:ext cx="3291840" cy="451714"/>
          </a:xfrm>
          <a:prstGeom prst="rect">
            <a:avLst/>
          </a:prstGeom>
          <a:noFill/>
          <a:ln/>
        </p:spPr>
        <p:txBody>
          <a:bodyPr wrap="square" lIns="0" tIns="0" rIns="0" bIns="0" rtlCol="0" anchor="t"/>
          <a:lstStyle/>
          <a:p>
            <a:pPr algn="ctr" indent="0" marL="0">
              <a:buNone/>
            </a:pPr>
            <a:r>
              <a:rPr lang="en-US" sz="1500" dirty="0">
                <a:solidFill>
                  <a:srgbClr val="5A6675"/>
                </a:solidFill>
                <a:latin typeface="Calibri" pitchFamily="34" charset="0"/>
                <a:ea typeface="Calibri" pitchFamily="34" charset="-122"/>
                <a:cs typeface="Calibri" pitchFamily="34" charset="-120"/>
              </a:rPr>
              <a:t>One authorised project</a:t>
            </a:r>
            <a:endParaRPr lang="en-US" sz="1500" dirty="0"/>
          </a:p>
        </p:txBody>
      </p:sp>
      <p:sp>
        <p:nvSpPr>
          <p:cNvPr id="17" name="Shape 15"/>
          <p:cNvSpPr/>
          <p:nvPr/>
        </p:nvSpPr>
        <p:spPr>
          <a:xfrm>
            <a:off x="8138160" y="3063240"/>
            <a:ext cx="3566160" cy="2286000"/>
          </a:xfrm>
          <a:prstGeom prst="roundRect">
            <a:avLst>
              <a:gd name="adj" fmla="val 4800"/>
            </a:avLst>
          </a:prstGeom>
          <a:solidFill>
            <a:srgbClr val="FFFFFF"/>
          </a:solidFill>
          <a:ln w="15875">
            <a:solidFill>
              <a:srgbClr val="4A7DBA"/>
            </a:solidFill>
            <a:prstDash val="solid"/>
          </a:ln>
        </p:spPr>
      </p:sp>
      <p:sp>
        <p:nvSpPr>
          <p:cNvPr id="18" name="Text 16"/>
          <p:cNvSpPr txBox="1"/>
          <p:nvPr/>
        </p:nvSpPr>
        <p:spPr>
          <a:xfrm>
            <a:off x="8339328" y="3227832"/>
            <a:ext cx="3163824" cy="1984248"/>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That you know well enough to defend. It closes the session as the group activity. A project you have private doubts about is better material than one you are proud of.</a:t>
            </a:r>
            <a:endParaRPr lang="en-US" sz="1400" dirty="0"/>
          </a:p>
        </p:txBody>
      </p:sp>
      <p:sp>
        <p:nvSpPr>
          <p:cNvPr id="19" name="Shape 17"/>
          <p:cNvSpPr/>
          <p:nvPr/>
        </p:nvSpPr>
        <p:spPr>
          <a:xfrm>
            <a:off x="457200" y="5577840"/>
            <a:ext cx="11277295" cy="685800"/>
          </a:xfrm>
          <a:prstGeom prst="roundRect">
            <a:avLst>
              <a:gd name="adj" fmla="val 16000"/>
            </a:avLst>
          </a:prstGeom>
          <a:solidFill>
            <a:srgbClr val="FBF3E0"/>
          </a:solidFill>
          <a:ln w="15875">
            <a:solidFill>
              <a:srgbClr val="C59221"/>
            </a:solidFill>
            <a:prstDash val="solid"/>
          </a:ln>
        </p:spPr>
      </p:sp>
      <p:sp>
        <p:nvSpPr>
          <p:cNvPr id="20" name="Text 18"/>
          <p:cNvSpPr txBox="1"/>
          <p:nvPr/>
        </p:nvSpPr>
        <p:spPr>
          <a:xfrm>
            <a:off x="658368" y="5669280"/>
            <a:ext cx="10874959" cy="50292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A note on framing: the examples run through factories because that is where the ideas were tested. Queues are queues and variability is variability — every block ends with a bridge to project management.</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One</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ONE</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The puzzle</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Fremont, California. Same building, same equipment, substantially the same people — and the opposite result. Hold your answer: everything that follows is a way of making it precise.</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FREMONT, CALIFORNIA</a:t>
            </a:r>
            <a:endParaRPr lang="en-US" sz="2200" dirty="0"/>
          </a:p>
        </p:txBody>
      </p:sp>
      <p:sp>
        <p:nvSpPr>
          <p:cNvPr id="3" name="Shape 1"/>
          <p:cNvSpPr/>
          <p:nvPr/>
        </p:nvSpPr>
        <p:spPr>
          <a:xfrm>
            <a:off x="457200" y="1005840"/>
            <a:ext cx="5532120" cy="2834640"/>
          </a:xfrm>
          <a:prstGeom prst="roundRect">
            <a:avLst>
              <a:gd name="adj" fmla="val 3871"/>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1982 — General Motors closes the plant</a:t>
            </a:r>
            <a:endParaRPr lang="en-US" sz="1800" dirty="0"/>
          </a:p>
        </p:txBody>
      </p:sp>
      <p:sp>
        <p:nvSpPr>
          <p:cNvPr id="5" name="Text 3"/>
          <p:cNvSpPr txBox="1"/>
          <p:nvPr/>
        </p:nvSpPr>
        <p:spPr>
          <a:xfrm>
            <a:off x="658368" y="1591056"/>
            <a:ext cx="5129784" cy="211226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Absenteeism near 20%</a:t>
            </a:r>
            <a:endParaRPr lang="en-US" sz="1500" dirty="0"/>
          </a:p>
          <a:p>
            <a:pPr marL="342900" indent="-342900">
              <a:lnSpc>
                <a:spcPct val="112000"/>
              </a:lnSpc>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The most combative union local in the GM system, by GM's own description</a:t>
            </a:r>
            <a:endParaRPr lang="en-US" sz="1500" dirty="0"/>
          </a:p>
          <a:p>
            <a:pPr marL="342900" indent="-342900">
              <a:lnSpc>
                <a:spcPct val="112000"/>
              </a:lnSpc>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Quality: the worst in General Motors</a:t>
            </a:r>
            <a:endParaRPr lang="en-US" sz="1500" dirty="0"/>
          </a:p>
        </p:txBody>
      </p:sp>
      <p:sp>
        <p:nvSpPr>
          <p:cNvPr id="6" name="Shape 4"/>
          <p:cNvSpPr/>
          <p:nvPr/>
        </p:nvSpPr>
        <p:spPr>
          <a:xfrm>
            <a:off x="6217920" y="1005840"/>
            <a:ext cx="5532120" cy="2834640"/>
          </a:xfrm>
          <a:prstGeom prst="roundRect">
            <a:avLst>
              <a:gd name="adj" fmla="val 3871"/>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1984 — reopens as NUMMI, with Toyota</a:t>
            </a:r>
            <a:endParaRPr lang="en-US" sz="1800" dirty="0"/>
          </a:p>
        </p:txBody>
      </p:sp>
      <p:sp>
        <p:nvSpPr>
          <p:cNvPr id="8" name="Text 6"/>
          <p:cNvSpPr txBox="1"/>
          <p:nvPr/>
        </p:nvSpPr>
        <p:spPr>
          <a:xfrm>
            <a:off x="6419088" y="1591056"/>
            <a:ext cx="5129784" cy="211226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Substantially the same workforce rehired, including the union leadership</a:t>
            </a:r>
            <a:endParaRPr lang="en-US" sz="1500" dirty="0"/>
          </a:p>
          <a:p>
            <a:pPr marL="342900" indent="-342900">
              <a:lnSpc>
                <a:spcPct val="112000"/>
              </a:lnSpc>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Same building. Same equipment.</a:t>
            </a:r>
            <a:endParaRPr lang="en-US" sz="1500" dirty="0"/>
          </a:p>
          <a:p>
            <a:pPr marL="342900" indent="-342900">
              <a:lnSpc>
                <a:spcPct val="112000"/>
              </a:lnSpc>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Within roughly two years: quality and productivity approach Toyota's Japanese levels and lead the entire GM system</a:t>
            </a:r>
            <a:endParaRPr lang="en-US" sz="1500" dirty="0"/>
          </a:p>
        </p:txBody>
      </p:sp>
      <p:sp>
        <p:nvSpPr>
          <p:cNvPr id="9" name="Shape 7"/>
          <p:cNvSpPr/>
          <p:nvPr/>
        </p:nvSpPr>
        <p:spPr>
          <a:xfrm>
            <a:off x="457200" y="4069080"/>
            <a:ext cx="11277295" cy="960120"/>
          </a:xfrm>
          <a:prstGeom prst="roundRect">
            <a:avLst>
              <a:gd name="adj" fmla="val 11429"/>
            </a:avLst>
          </a:prstGeom>
          <a:solidFill>
            <a:srgbClr val="FBF3E0"/>
          </a:solidFill>
          <a:ln w="15875">
            <a:solidFill>
              <a:srgbClr val="C59221"/>
            </a:solidFill>
            <a:prstDash val="solid"/>
          </a:ln>
        </p:spPr>
      </p:sp>
      <p:sp>
        <p:nvSpPr>
          <p:cNvPr id="10" name="Text 8"/>
          <p:cNvSpPr txBox="1"/>
          <p:nvPr/>
        </p:nvSpPr>
        <p:spPr>
          <a:xfrm>
            <a:off x="658368" y="4160520"/>
            <a:ext cx="10874959" cy="777240"/>
          </a:xfrm>
          <a:prstGeom prst="rect">
            <a:avLst/>
          </a:prstGeom>
          <a:noFill/>
          <a:ln/>
        </p:spPr>
        <p:txBody>
          <a:bodyPr wrap="square" lIns="0" tIns="0" rIns="0" bIns="0" rtlCol="0" anchor="ctr"/>
          <a:lstStyle/>
          <a:p>
            <a:pPr indent="0" marL="0">
              <a:lnSpc>
                <a:spcPct val="112000"/>
              </a:lnSpc>
              <a:buNone/>
            </a:pPr>
            <a:r>
              <a:rPr lang="en-US" sz="1800" b="1" dirty="0">
                <a:solidFill>
                  <a:srgbClr val="082A54"/>
                </a:solidFill>
                <a:latin typeface="Calibri" pitchFamily="34" charset="0"/>
                <a:ea typeface="Calibri" pitchFamily="34" charset="-122"/>
                <a:cs typeface="Calibri" pitchFamily="34" charset="-120"/>
              </a:rPr>
              <a:t>Same assets. Same people. What changed — and where would that change appear on a balance sheet?</a:t>
            </a:r>
            <a:endParaRPr lang="en-US" sz="1800" dirty="0"/>
          </a:p>
        </p:txBody>
      </p:sp>
      <p:sp>
        <p:nvSpPr>
          <p:cNvPr id="11" name="Shape 9"/>
          <p:cNvSpPr/>
          <p:nvPr/>
        </p:nvSpPr>
        <p:spPr>
          <a:xfrm>
            <a:off x="457200" y="5166360"/>
            <a:ext cx="11277295" cy="960120"/>
          </a:xfrm>
          <a:prstGeom prst="roundRect">
            <a:avLst>
              <a:gd name="adj" fmla="val 11429"/>
            </a:avLst>
          </a:prstGeom>
          <a:solidFill>
            <a:srgbClr val="F3F6FA"/>
          </a:solidFill>
          <a:ln w="15875">
            <a:solidFill>
              <a:srgbClr val="4A7DBA"/>
            </a:solidFill>
            <a:prstDash val="solid"/>
          </a:ln>
        </p:spPr>
      </p:sp>
      <p:sp>
        <p:nvSpPr>
          <p:cNvPr id="12" name="Text 10"/>
          <p:cNvSpPr txBox="1"/>
          <p:nvPr/>
        </p:nvSpPr>
        <p:spPr>
          <a:xfrm>
            <a:off x="658368" y="5257800"/>
            <a:ext cx="10874959" cy="777240"/>
          </a:xfrm>
          <a:prstGeom prst="rect">
            <a:avLst/>
          </a:prstGeom>
          <a:noFill/>
          <a:ln/>
        </p:spPr>
        <p:txBody>
          <a:bodyPr wrap="square" lIns="0" tIns="0" rIns="0" bIns="0" rtlCol="0" anchor="ctr"/>
          <a:lstStyle/>
          <a:p>
            <a:pPr indent="0" marL="0">
              <a:lnSpc>
                <a:spcPct val="112000"/>
              </a:lnSpc>
              <a:buNone/>
            </a:pPr>
            <a:r>
              <a:rPr lang="en-US" sz="1600" dirty="0">
                <a:solidFill>
                  <a:srgbClr val="1A1A1A"/>
                </a:solidFill>
                <a:latin typeface="Calibri" pitchFamily="34" charset="0"/>
                <a:ea typeface="Calibri" pitchFamily="34" charset="-122"/>
                <a:cs typeface="Calibri" pitchFamily="34" charset="-120"/>
              </a:rPr>
              <a:t>Harder: GM had access to NUMMI from the inside for two decades. Why was it never replicated across the rest of the network?</a:t>
            </a:r>
            <a:endParaRPr lang="en-US" sz="16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WRITE YOUR HYPOTHESIS DOWN</a:t>
            </a:r>
            <a:endParaRPr lang="en-US" sz="2200" dirty="0"/>
          </a:p>
        </p:txBody>
      </p:sp>
      <p:sp>
        <p:nvSpPr>
          <p:cNvPr id="3" name="Text 1"/>
          <p:cNvSpPr txBox="1"/>
          <p:nvPr/>
        </p:nvSpPr>
        <p:spPr>
          <a:xfrm>
            <a:off x="457200" y="1005840"/>
            <a:ext cx="11277295" cy="822960"/>
          </a:xfrm>
          <a:prstGeom prst="rect">
            <a:avLst/>
          </a:prstGeom>
          <a:noFill/>
          <a:ln/>
        </p:spPr>
        <p:txBody>
          <a:bodyPr wrap="square" lIns="0" tIns="0" rIns="0" bIns="0" rtlCol="0" anchor="t"/>
          <a:lstStyle/>
          <a:p>
            <a:pPr algn="l" indent="0" marL="0">
              <a:lnSpc>
                <a:spcPct val="115000"/>
              </a:lnSpc>
              <a:buNone/>
            </a:pPr>
            <a:r>
              <a:rPr lang="en-US" sz="1600" dirty="0">
                <a:solidFill>
                  <a:srgbClr val="1A1A1A"/>
                </a:solidFill>
                <a:latin typeface="Calibri" pitchFamily="34" charset="0"/>
                <a:ea typeface="Calibri" pitchFamily="34" charset="-122"/>
                <a:cs typeface="Calibri" pitchFamily="34" charset="-120"/>
              </a:rPr>
              <a:t>Before the argument starts. One line each, in the chat or on paper. We test it against the framework at the end of the morning — a hypothesis nobody wrote down cannot be wrong, and it is the error that teaches.</a:t>
            </a:r>
            <a:endParaRPr lang="en-US" sz="1600" dirty="0"/>
          </a:p>
        </p:txBody>
      </p:sp>
      <p:sp>
        <p:nvSpPr>
          <p:cNvPr id="4" name="Shape 2"/>
          <p:cNvSpPr/>
          <p:nvPr/>
        </p:nvSpPr>
        <p:spPr>
          <a:xfrm>
            <a:off x="457200" y="2011680"/>
            <a:ext cx="5532120" cy="3291840"/>
          </a:xfrm>
          <a:prstGeom prst="roundRect">
            <a:avLst>
              <a:gd name="adj" fmla="val 3333"/>
            </a:avLst>
          </a:prstGeom>
          <a:solidFill>
            <a:srgbClr val="FFFFFF"/>
          </a:solidFill>
          <a:ln w="15875">
            <a:solidFill>
              <a:srgbClr val="4A7DBA"/>
            </a:solidFill>
            <a:prstDash val="solid"/>
          </a:ln>
        </p:spPr>
      </p:sp>
      <p:sp>
        <p:nvSpPr>
          <p:cNvPr id="5" name="Text 3"/>
          <p:cNvSpPr txBox="1"/>
          <p:nvPr/>
        </p:nvSpPr>
        <p:spPr>
          <a:xfrm>
            <a:off x="658368" y="217627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What changed at Fremont?</a:t>
            </a:r>
            <a:endParaRPr lang="en-US" sz="1800" dirty="0"/>
          </a:p>
        </p:txBody>
      </p:sp>
      <p:sp>
        <p:nvSpPr>
          <p:cNvPr id="6" name="Text 4"/>
          <p:cNvSpPr txBox="1"/>
          <p:nvPr/>
        </p:nvSpPr>
        <p:spPr>
          <a:xfrm>
            <a:off x="658368" y="2596896"/>
            <a:ext cx="5129784" cy="2569464"/>
          </a:xfrm>
          <a:prstGeom prst="rect">
            <a:avLst/>
          </a:prstGeom>
          <a:noFill/>
          <a:ln/>
        </p:spPr>
        <p:txBody>
          <a:bodyPr wrap="square" lIns="0" tIns="0" rIns="0" bIns="0" rtlCol="0" anchor="t"/>
          <a:lstStyle/>
          <a:p>
            <a:pPr indent="0" marL="0">
              <a:lnSpc>
                <a:spcPct val="112000"/>
              </a:lnSpc>
              <a:spcAft>
                <a:spcPts val="600"/>
              </a:spcAft>
              <a:buNone/>
            </a:pPr>
            <a:r>
              <a:rPr lang="en-US" sz="1700" dirty="0">
                <a:solidFill>
                  <a:srgbClr val="1A1A1A"/>
                </a:solidFill>
                <a:latin typeface="Calibri" pitchFamily="34" charset="0"/>
                <a:ea typeface="Calibri" pitchFamily="34" charset="-122"/>
                <a:cs typeface="Calibri" pitchFamily="34" charset="-120"/>
              </a:rPr>
              <a:t>“What changed was ______________, and it would appear on the balance sheet as ______________.”</a:t>
            </a:r>
            <a:endParaRPr lang="en-US" sz="1700" dirty="0"/>
          </a:p>
        </p:txBody>
      </p:sp>
      <p:sp>
        <p:nvSpPr>
          <p:cNvPr id="7" name="Shape 5"/>
          <p:cNvSpPr/>
          <p:nvPr/>
        </p:nvSpPr>
        <p:spPr>
          <a:xfrm>
            <a:off x="6217920" y="2011680"/>
            <a:ext cx="5532120" cy="3291840"/>
          </a:xfrm>
          <a:prstGeom prst="roundRect">
            <a:avLst>
              <a:gd name="adj" fmla="val 3333"/>
            </a:avLst>
          </a:prstGeom>
          <a:solidFill>
            <a:srgbClr val="F3F6FA"/>
          </a:solidFill>
          <a:ln w="15875">
            <a:solidFill>
              <a:srgbClr val="4A7DBA"/>
            </a:solidFill>
            <a:prstDash val="solid"/>
          </a:ln>
        </p:spPr>
      </p:sp>
      <p:sp>
        <p:nvSpPr>
          <p:cNvPr id="8" name="Text 6"/>
          <p:cNvSpPr txBox="1"/>
          <p:nvPr/>
        </p:nvSpPr>
        <p:spPr>
          <a:xfrm>
            <a:off x="6419088" y="217627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Why could GM not copy it?</a:t>
            </a:r>
            <a:endParaRPr lang="en-US" sz="1800" dirty="0"/>
          </a:p>
        </p:txBody>
      </p:sp>
      <p:sp>
        <p:nvSpPr>
          <p:cNvPr id="9" name="Text 7"/>
          <p:cNvSpPr txBox="1"/>
          <p:nvPr/>
        </p:nvSpPr>
        <p:spPr>
          <a:xfrm>
            <a:off x="6419088" y="2596896"/>
            <a:ext cx="5129784" cy="2569464"/>
          </a:xfrm>
          <a:prstGeom prst="rect">
            <a:avLst/>
          </a:prstGeom>
          <a:noFill/>
          <a:ln/>
        </p:spPr>
        <p:txBody>
          <a:bodyPr wrap="square" lIns="0" tIns="0" rIns="0" bIns="0" rtlCol="0" anchor="t"/>
          <a:lstStyle/>
          <a:p>
            <a:pPr indent="0" marL="0">
              <a:lnSpc>
                <a:spcPct val="112000"/>
              </a:lnSpc>
              <a:spcAft>
                <a:spcPts val="600"/>
              </a:spcAft>
              <a:buNone/>
            </a:pPr>
            <a:r>
              <a:rPr lang="en-US" sz="1700" dirty="0">
                <a:solidFill>
                  <a:srgbClr val="1A1A1A"/>
                </a:solidFill>
                <a:latin typeface="Calibri" pitchFamily="34" charset="0"/>
                <a:ea typeface="Calibri" pitchFamily="34" charset="-122"/>
                <a:cs typeface="Calibri" pitchFamily="34" charset="-120"/>
              </a:rPr>
              <a:t>“GM could see ______________ but could not transfer ______________.”</a:t>
            </a:r>
            <a:endParaRPr lang="en-US" sz="1700" dirty="0"/>
          </a:p>
        </p:txBody>
      </p:sp>
      <p:sp>
        <p:nvSpPr>
          <p:cNvPr id="10" name="Shape 8"/>
          <p:cNvSpPr/>
          <p:nvPr/>
        </p:nvSpPr>
        <p:spPr>
          <a:xfrm>
            <a:off x="457200" y="5486400"/>
            <a:ext cx="11277295" cy="731520"/>
          </a:xfrm>
          <a:prstGeom prst="roundRect">
            <a:avLst>
              <a:gd name="adj" fmla="val 15000"/>
            </a:avLst>
          </a:prstGeom>
          <a:solidFill>
            <a:srgbClr val="FBF3E0"/>
          </a:solidFill>
          <a:ln w="15875">
            <a:solidFill>
              <a:srgbClr val="C59221"/>
            </a:solidFill>
            <a:prstDash val="solid"/>
          </a:ln>
        </p:spPr>
      </p:sp>
      <p:sp>
        <p:nvSpPr>
          <p:cNvPr id="11" name="Text 9"/>
          <p:cNvSpPr txBox="1"/>
          <p:nvPr/>
        </p:nvSpPr>
        <p:spPr>
          <a:xfrm>
            <a:off x="658368" y="5577840"/>
            <a:ext cx="10874959" cy="548640"/>
          </a:xfrm>
          <a:prstGeom prst="rect">
            <a:avLst/>
          </a:prstGeom>
          <a:noFill/>
          <a:ln/>
        </p:spPr>
        <p:txBody>
          <a:bodyPr wrap="square" lIns="0" tIns="0" rIns="0" bIns="0" rtlCol="0" anchor="ctr"/>
          <a:lstStyle/>
          <a:p>
            <a:pPr indent="0" marL="0">
              <a:lnSpc>
                <a:spcPct val="112000"/>
              </a:lnSpc>
              <a:buNone/>
            </a:pPr>
            <a:r>
              <a:rPr lang="en-US" sz="1400" i="1" dirty="0">
                <a:solidFill>
                  <a:srgbClr val="1A1A1A"/>
                </a:solidFill>
                <a:latin typeface="Calibri" pitchFamily="34" charset="0"/>
                <a:ea typeface="Calibri" pitchFamily="34" charset="-122"/>
                <a:cs typeface="Calibri" pitchFamily="34" charset="-120"/>
              </a:rPr>
              <a:t>Keep the line. Part Eight asks you to grade it yourself.</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Two</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TWO</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Value, seen from the customer backwards</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“All we are doing is looking at the timeline — from the moment the customer gives us an order to the point when we collect the cash — and we are reducing that timeline by removing the non-value-added wastes.”  — Taiichi Ohno</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THREE KINDS OF ACTIVITY</a:t>
            </a:r>
            <a:endParaRPr lang="en-US" sz="2200" dirty="0"/>
          </a:p>
        </p:txBody>
      </p:sp>
      <p:sp>
        <p:nvSpPr>
          <p:cNvPr id="3" name="Text 1"/>
          <p:cNvSpPr txBox="1"/>
          <p:nvPr/>
        </p:nvSpPr>
        <p:spPr>
          <a:xfrm>
            <a:off x="457200" y="1005840"/>
            <a:ext cx="11277295" cy="731520"/>
          </a:xfrm>
          <a:prstGeom prst="rect">
            <a:avLst/>
          </a:prstGeom>
          <a:noFill/>
          <a:ln/>
        </p:spPr>
        <p:txBody>
          <a:bodyPr wrap="square" lIns="0" tIns="0" rIns="0" bIns="0" rtlCol="0" anchor="t"/>
          <a:lstStyle/>
          <a:p>
            <a:pPr algn="l" indent="0" marL="0">
              <a:lnSpc>
                <a:spcPct val="115000"/>
              </a:lnSpc>
              <a:buNone/>
            </a:pPr>
            <a:r>
              <a:rPr lang="en-US" sz="1500" dirty="0">
                <a:solidFill>
                  <a:srgbClr val="1A1A1A"/>
                </a:solidFill>
                <a:latin typeface="Calibri" pitchFamily="34" charset="0"/>
                <a:ea typeface="Calibri" pitchFamily="34" charset="-122"/>
                <a:cs typeface="Calibri" pitchFamily="34" charset="-120"/>
              </a:rPr>
              <a:t>Ohno's sentence does two things: it makes elapsed time from order to cash the unit of analysis, and it makes the customer — not the accounting system — the judge of what counts as work.</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11277295" cy="914400"/>
        </p:xfrm>
        <a:graphic>
          <a:graphicData uri="http://schemas.openxmlformats.org/drawingml/2006/table">
            <a:tbl>
              <a:tblPr/>
              <a:tblGrid>
                <a:gridCol w="2926080"/>
                <a:gridCol w="6035040"/>
                <a:gridCol w="231343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Typical share of elapsed time</a:t>
                      </a:r>
                      <a:endParaRPr lang="en-US" sz="13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Value-adding</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Transforms the product or service in a way the customer would knowingly pay for</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Under 5%</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Necessary non-value-adding</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The customer would not pay for it, but law, technology or contract requires it</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10–30%</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Waste (muda)</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Neither</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The remainder</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4206240"/>
            <a:ext cx="11277295" cy="1005840"/>
          </a:xfrm>
          <a:prstGeom prst="roundRect">
            <a:avLst>
              <a:gd name="adj" fmla="val 10909"/>
            </a:avLst>
          </a:prstGeom>
          <a:solidFill>
            <a:srgbClr val="FBF3E0"/>
          </a:solidFill>
          <a:ln w="15875">
            <a:solidFill>
              <a:srgbClr val="C59221"/>
            </a:solidFill>
            <a:prstDash val="solid"/>
          </a:ln>
        </p:spPr>
      </p:sp>
      <p:sp>
        <p:nvSpPr>
          <p:cNvPr id="6" name="Text 3"/>
          <p:cNvSpPr txBox="1"/>
          <p:nvPr/>
        </p:nvSpPr>
        <p:spPr>
          <a:xfrm>
            <a:off x="658368" y="4297680"/>
            <a:ext cx="10874959" cy="822960"/>
          </a:xfrm>
          <a:prstGeom prst="rect">
            <a:avLst/>
          </a:prstGeom>
          <a:noFill/>
          <a:ln/>
        </p:spPr>
        <p:txBody>
          <a:bodyPr wrap="square" lIns="0" tIns="0" rIns="0" bIns="0" rtlCol="0" anchor="ctr"/>
          <a:lstStyle/>
          <a:p>
            <a:pPr indent="0" marL="0">
              <a:lnSpc>
                <a:spcPct val="112000"/>
              </a:lnSpc>
              <a:buNone/>
            </a:pPr>
            <a:r>
              <a:rPr lang="en-US" sz="1500" b="1" dirty="0">
                <a:solidFill>
                  <a:srgbClr val="082A54"/>
                </a:solidFill>
                <a:latin typeface="Calibri" pitchFamily="34" charset="0"/>
                <a:ea typeface="Calibri" pitchFamily="34" charset="-122"/>
                <a:cs typeface="Calibri" pitchFamily="34" charset="-120"/>
              </a:rPr>
              <a:t>In value streams that have never been deliberately improved, value-adding time is a low single-digit percentage of elapsed time. Everything else is queue. This is the single most consequential number in operations — and almost no organisation measures it.</a:t>
            </a:r>
            <a:endParaRPr lang="en-US" sz="15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THE CUSTOMER IS ACTUALLY CHOOSING</a:t>
            </a:r>
            <a:endParaRPr lang="en-US" sz="2200" dirty="0"/>
          </a:p>
        </p:txBody>
      </p:sp>
      <p:sp>
        <p:nvSpPr>
          <p:cNvPr id="3" name="Shape 1"/>
          <p:cNvSpPr/>
          <p:nvPr/>
        </p:nvSpPr>
        <p:spPr>
          <a:xfrm>
            <a:off x="457200" y="1005840"/>
            <a:ext cx="3657600" cy="2377440"/>
          </a:xfrm>
          <a:prstGeom prst="roundRect">
            <a:avLst>
              <a:gd name="adj" fmla="val 4615"/>
            </a:avLst>
          </a:prstGeom>
          <a:solidFill>
            <a:srgbClr val="FFFFFF"/>
          </a:solidFill>
          <a:ln w="15875">
            <a:solidFill>
              <a:srgbClr val="4A7DBA"/>
            </a:solidFill>
            <a:prstDash val="solid"/>
          </a:ln>
        </p:spPr>
      </p:sp>
      <p:sp>
        <p:nvSpPr>
          <p:cNvPr id="4" name="Text 2"/>
          <p:cNvSpPr txBox="1"/>
          <p:nvPr/>
        </p:nvSpPr>
        <p:spPr>
          <a:xfrm>
            <a:off x="658368"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Competitive priorities</a:t>
            </a:r>
            <a:endParaRPr lang="en-US" sz="1600" dirty="0"/>
          </a:p>
        </p:txBody>
      </p:sp>
      <p:sp>
        <p:nvSpPr>
          <p:cNvPr id="5" name="Text 3"/>
          <p:cNvSpPr txBox="1"/>
          <p:nvPr/>
        </p:nvSpPr>
        <p:spPr>
          <a:xfrm>
            <a:off x="658368" y="159105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Cost · quality · delivery speed · flexibility — the operational determinants of willingness to pay. “What the customer would pay for” decomposes into these four.</a:t>
            </a:r>
            <a:endParaRPr lang="en-US" sz="1350" dirty="0"/>
          </a:p>
        </p:txBody>
      </p:sp>
      <p:sp>
        <p:nvSpPr>
          <p:cNvPr id="6" name="Shape 4"/>
          <p:cNvSpPr/>
          <p:nvPr/>
        </p:nvSpPr>
        <p:spPr>
          <a:xfrm>
            <a:off x="4270248" y="1005840"/>
            <a:ext cx="3657600" cy="2377440"/>
          </a:xfrm>
          <a:prstGeom prst="roundRect">
            <a:avLst>
              <a:gd name="adj" fmla="val 4615"/>
            </a:avLst>
          </a:prstGeom>
          <a:solidFill>
            <a:srgbClr val="F3F6FA"/>
          </a:solidFill>
          <a:ln w="15875">
            <a:solidFill>
              <a:srgbClr val="4A7DBA"/>
            </a:solidFill>
            <a:prstDash val="solid"/>
          </a:ln>
        </p:spPr>
      </p:sp>
      <p:sp>
        <p:nvSpPr>
          <p:cNvPr id="7" name="Text 5"/>
          <p:cNvSpPr txBox="1"/>
          <p:nvPr/>
        </p:nvSpPr>
        <p:spPr>
          <a:xfrm>
            <a:off x="4471416"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Order winners and qualifiers (Hill)</a:t>
            </a:r>
            <a:endParaRPr lang="en-US" sz="1600" dirty="0"/>
          </a:p>
        </p:txBody>
      </p:sp>
      <p:sp>
        <p:nvSpPr>
          <p:cNvPr id="8" name="Text 6"/>
          <p:cNvSpPr txBox="1"/>
          <p:nvPr/>
        </p:nvSpPr>
        <p:spPr>
          <a:xfrm>
            <a:off x="4471416" y="159105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A qualifier is a threshold: its presence attracts nobody, its absence eliminates you. A winner is what makes the customer choose you once you are in the set. Nobody picks a restaurant for its bathroom; plenty never return because it was dirty.</a:t>
            </a:r>
            <a:endParaRPr lang="en-US" sz="1350" dirty="0"/>
          </a:p>
        </p:txBody>
      </p:sp>
      <p:sp>
        <p:nvSpPr>
          <p:cNvPr id="9" name="Shape 7"/>
          <p:cNvSpPr/>
          <p:nvPr/>
        </p:nvSpPr>
        <p:spPr>
          <a:xfrm>
            <a:off x="8074152" y="1005840"/>
            <a:ext cx="3657600" cy="2377440"/>
          </a:xfrm>
          <a:prstGeom prst="roundRect">
            <a:avLst>
              <a:gd name="adj" fmla="val 4615"/>
            </a:avLst>
          </a:prstGeom>
          <a:solidFill>
            <a:srgbClr val="FFFFFF"/>
          </a:solidFill>
          <a:ln w="15875">
            <a:solidFill>
              <a:srgbClr val="4A7DBA"/>
            </a:solidFill>
            <a:prstDash val="solid"/>
          </a:ln>
        </p:spPr>
      </p:sp>
      <p:sp>
        <p:nvSpPr>
          <p:cNvPr id="10" name="Text 8"/>
          <p:cNvSpPr txBox="1"/>
          <p:nvPr/>
        </p:nvSpPr>
        <p:spPr>
          <a:xfrm>
            <a:off x="8275320"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Eight dimensions of quality (Garvin)</a:t>
            </a:r>
            <a:endParaRPr lang="en-US" sz="1600" dirty="0"/>
          </a:p>
        </p:txBody>
      </p:sp>
      <p:sp>
        <p:nvSpPr>
          <p:cNvPr id="11" name="Text 9"/>
          <p:cNvSpPr txBox="1"/>
          <p:nvPr/>
        </p:nvSpPr>
        <p:spPr>
          <a:xfrm>
            <a:off x="8275320" y="159105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Quality is not one variable. Conformance lowers cost; reliability, durability and serviceability raise willingness to pay. The same quality effort pays twice, on two edges of value.</a:t>
            </a:r>
            <a:endParaRPr lang="en-US" sz="1350" dirty="0"/>
          </a:p>
        </p:txBody>
      </p:sp>
      <p:sp>
        <p:nvSpPr>
          <p:cNvPr id="12" name="Shape 10"/>
          <p:cNvSpPr/>
          <p:nvPr/>
        </p:nvSpPr>
        <p:spPr>
          <a:xfrm>
            <a:off x="457200" y="3566160"/>
            <a:ext cx="11277295" cy="868680"/>
          </a:xfrm>
          <a:prstGeom prst="roundRect">
            <a:avLst>
              <a:gd name="adj" fmla="val 12632"/>
            </a:avLst>
          </a:prstGeom>
          <a:solidFill>
            <a:srgbClr val="FBF3E0"/>
          </a:solidFill>
          <a:ln w="15875">
            <a:solidFill>
              <a:srgbClr val="C59221"/>
            </a:solidFill>
            <a:prstDash val="solid"/>
          </a:ln>
        </p:spPr>
      </p:sp>
      <p:sp>
        <p:nvSpPr>
          <p:cNvPr id="13" name="Text 11"/>
          <p:cNvSpPr txBox="1"/>
          <p:nvPr/>
        </p:nvSpPr>
        <p:spPr>
          <a:xfrm>
            <a:off x="658368" y="3657600"/>
            <a:ext cx="10874959" cy="685800"/>
          </a:xfrm>
          <a:prstGeom prst="rect">
            <a:avLst/>
          </a:prstGeom>
          <a:noFill/>
          <a:ln/>
        </p:spPr>
        <p:txBody>
          <a:bodyPr wrap="square" lIns="0" tIns="0" rIns="0" bIns="0" rtlCol="0" anchor="ctr"/>
          <a:lstStyle/>
          <a:p>
            <a:pPr indent="0" marL="0">
              <a:lnSpc>
                <a:spcPct val="112000"/>
              </a:lnSpc>
              <a:buNone/>
            </a:pPr>
            <a:r>
              <a:rPr lang="en-US" sz="1400" dirty="0">
                <a:solidFill>
                  <a:srgbClr val="1A1A1A"/>
                </a:solidFill>
                <a:latin typeface="Calibri" pitchFamily="34" charset="0"/>
                <a:ea typeface="Calibri" pitchFamily="34" charset="-122"/>
                <a:cs typeface="Calibri" pitchFamily="34" charset="-120"/>
              </a:rPr>
              <a:t>The uncomfortable consequence: effort poured into qualifiers above the threshold consumes capacity and produces no preference. A firm that is mid-table on every attribute has made no choice at all.</a:t>
            </a:r>
            <a:endParaRPr lang="en-US" sz="1400" dirty="0"/>
          </a:p>
        </p:txBody>
      </p:sp>
      <p:sp>
        <p:nvSpPr>
          <p:cNvPr id="14" name="Shape 12"/>
          <p:cNvSpPr/>
          <p:nvPr/>
        </p:nvSpPr>
        <p:spPr>
          <a:xfrm>
            <a:off x="457200" y="4572000"/>
            <a:ext cx="11277295" cy="1737360"/>
          </a:xfrm>
          <a:prstGeom prst="roundRect">
            <a:avLst>
              <a:gd name="adj" fmla="val 6316"/>
            </a:avLst>
          </a:prstGeom>
          <a:solidFill>
            <a:srgbClr val="F3F6FA"/>
          </a:solidFill>
          <a:ln w="15875">
            <a:solidFill>
              <a:srgbClr val="4A7DBA"/>
            </a:solidFill>
            <a:prstDash val="solid"/>
          </a:ln>
        </p:spPr>
      </p:sp>
      <p:sp>
        <p:nvSpPr>
          <p:cNvPr id="15" name="Text 13"/>
          <p:cNvSpPr txBox="1"/>
          <p:nvPr/>
        </p:nvSpPr>
        <p:spPr>
          <a:xfrm>
            <a:off x="658368" y="470001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16" name="Text 14"/>
          <p:cNvSpPr txBox="1"/>
          <p:nvPr/>
        </p:nvSpPr>
        <p:spPr>
          <a:xfrm>
            <a:off x="658368" y="5010912"/>
            <a:ext cx="1188720" cy="244328"/>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17" name="Text 15"/>
          <p:cNvSpPr txBox="1"/>
          <p:nvPr/>
        </p:nvSpPr>
        <p:spPr>
          <a:xfrm>
            <a:off x="1874520" y="5010912"/>
            <a:ext cx="9631375" cy="244328"/>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A qualifier buys nothing above the threshold; only a winner creates preference.</a:t>
            </a:r>
            <a:endParaRPr lang="en-US" sz="1250" dirty="0"/>
          </a:p>
        </p:txBody>
      </p:sp>
      <p:sp>
        <p:nvSpPr>
          <p:cNvPr id="18" name="Text 16"/>
          <p:cNvSpPr txBox="1"/>
          <p:nvPr/>
        </p:nvSpPr>
        <p:spPr>
          <a:xfrm>
            <a:off x="658368" y="5328392"/>
            <a:ext cx="1188720" cy="408188"/>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9" name="Text 17"/>
          <p:cNvSpPr txBox="1"/>
          <p:nvPr/>
        </p:nvSpPr>
        <p:spPr>
          <a:xfrm>
            <a:off x="1874520" y="5328392"/>
            <a:ext cx="9631375" cy="408188"/>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Most portfolio scoring models add strategic fit, NPV, risk and resource availability on one scale — which assumes every criterion is a winner. Compliance projects are qualifiers: they buy no advantage, and not doing them ends the business.</a:t>
            </a:r>
            <a:endParaRPr lang="en-US" sz="1250" dirty="0"/>
          </a:p>
        </p:txBody>
      </p:sp>
      <p:sp>
        <p:nvSpPr>
          <p:cNvPr id="20" name="Text 18"/>
          <p:cNvSpPr txBox="1"/>
          <p:nvPr/>
        </p:nvSpPr>
        <p:spPr>
          <a:xfrm>
            <a:off x="658368" y="5809732"/>
            <a:ext cx="1188720" cy="408188"/>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21" name="Text 19"/>
          <p:cNvSpPr txBox="1"/>
          <p:nvPr/>
        </p:nvSpPr>
        <p:spPr>
          <a:xfrm>
            <a:off x="1874520" y="5809732"/>
            <a:ext cx="9631375" cy="408188"/>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Split the list before scoring: if we do not do this, do we lose a deal or do we lose the licence? Fund the second kind to the threshold and no further.</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VALUE STICK</a:t>
            </a:r>
            <a:endParaRPr lang="en-US" sz="2200" dirty="0"/>
          </a:p>
        </p:txBody>
      </p:sp>
      <p:sp>
        <p:nvSpPr>
          <p:cNvPr id="3" name="Shape 1"/>
          <p:cNvSpPr/>
          <p:nvPr/>
        </p:nvSpPr>
        <p:spPr>
          <a:xfrm>
            <a:off x="457200" y="1005840"/>
            <a:ext cx="5486400" cy="1371600"/>
          </a:xfrm>
          <a:prstGeom prst="roundRect">
            <a:avLst>
              <a:gd name="adj" fmla="val 8000"/>
            </a:avLst>
          </a:prstGeom>
          <a:solidFill>
            <a:srgbClr val="082A54"/>
          </a:solidFill>
          <a:ln w="12700">
            <a:solidFill>
              <a:srgbClr val="082A54"/>
            </a:solidFill>
            <a:prstDash val="solid"/>
          </a:ln>
        </p:spPr>
      </p:sp>
      <p:sp>
        <p:nvSpPr>
          <p:cNvPr id="4" name="Text 2"/>
          <p:cNvSpPr txBox="1"/>
          <p:nvPr/>
        </p:nvSpPr>
        <p:spPr>
          <a:xfrm>
            <a:off x="640080" y="1115568"/>
            <a:ext cx="5120640" cy="7955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Value created = WTP − SOC</a:t>
            </a:r>
            <a:endParaRPr lang="en-US" sz="3000" dirty="0"/>
          </a:p>
        </p:txBody>
      </p:sp>
      <p:sp>
        <p:nvSpPr>
          <p:cNvPr id="5" name="Text 3"/>
          <p:cNvSpPr txBox="1"/>
          <p:nvPr/>
        </p:nvSpPr>
        <p:spPr>
          <a:xfrm>
            <a:off x="640080" y="1856232"/>
            <a:ext cx="5120640" cy="46634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willingness to pay, minus supplier opportunity cost — Brandenburger &amp; Stuart (1996)</a:t>
            </a:r>
            <a:endParaRPr lang="en-US" sz="1200" dirty="0"/>
          </a:p>
        </p:txBody>
      </p:sp>
      <p:sp>
        <p:nvSpPr>
          <p:cNvPr id="6" name="Text 4"/>
          <p:cNvSpPr txBox="1"/>
          <p:nvPr/>
        </p:nvSpPr>
        <p:spPr>
          <a:xfrm>
            <a:off x="6492240" y="1005840"/>
            <a:ext cx="1463040" cy="365760"/>
          </a:xfrm>
          <a:prstGeom prst="rect">
            <a:avLst/>
          </a:prstGeom>
          <a:noFill/>
          <a:ln/>
        </p:spPr>
        <p:txBody>
          <a:bodyPr wrap="square" lIns="0" tIns="0" rIns="0" bIns="0" rtlCol="0" anchor="ctr"/>
          <a:lstStyle/>
          <a:p>
            <a:pPr algn="ctr" indent="0" marL="0">
              <a:buNone/>
            </a:pPr>
            <a:r>
              <a:rPr lang="en-US" sz="1300" b="1" dirty="0">
                <a:solidFill>
                  <a:srgbClr val="082A54"/>
                </a:solidFill>
                <a:latin typeface="Calibri" pitchFamily="34" charset="0"/>
                <a:ea typeface="Calibri" pitchFamily="34" charset="-122"/>
                <a:cs typeface="Calibri" pitchFamily="34" charset="-120"/>
              </a:rPr>
              <a:t>WTP</a:t>
            </a:r>
            <a:endParaRPr lang="en-US" sz="1300" dirty="0"/>
          </a:p>
        </p:txBody>
      </p:sp>
      <p:sp>
        <p:nvSpPr>
          <p:cNvPr id="7" name="Shape 5"/>
          <p:cNvSpPr/>
          <p:nvPr/>
        </p:nvSpPr>
        <p:spPr>
          <a:xfrm>
            <a:off x="6583680" y="1463040"/>
            <a:ext cx="1280160" cy="1371600"/>
          </a:xfrm>
          <a:prstGeom prst="rect">
            <a:avLst/>
          </a:prstGeom>
          <a:solidFill>
            <a:srgbClr val="F3F6FA"/>
          </a:solidFill>
          <a:ln w="12700">
            <a:solidFill>
              <a:srgbClr val="082A54"/>
            </a:solidFill>
            <a:prstDash val="solid"/>
          </a:ln>
        </p:spPr>
      </p:sp>
      <p:sp>
        <p:nvSpPr>
          <p:cNvPr id="8" name="Text 6"/>
          <p:cNvSpPr txBox="1"/>
          <p:nvPr/>
        </p:nvSpPr>
        <p:spPr>
          <a:xfrm>
            <a:off x="8092440" y="1463040"/>
            <a:ext cx="3474720" cy="137160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Customer surplus</a:t>
            </a:r>
            <a:endParaRPr lang="en-US" sz="1300" dirty="0"/>
          </a:p>
          <a:p>
            <a:pPr indent="0" marL="0">
              <a:buNone/>
            </a:pPr>
            <a:r>
              <a:rPr lang="en-US" sz="1100" dirty="0">
                <a:solidFill>
                  <a:srgbClr val="1A1A1A"/>
                </a:solidFill>
                <a:latin typeface="Calibri" pitchFamily="34" charset="0"/>
                <a:ea typeface="Calibri" pitchFamily="34" charset="-122"/>
                <a:cs typeface="Calibri" pitchFamily="34" charset="-120"/>
              </a:rPr>
              <a:t>WTP − price</a:t>
            </a:r>
            <a:endParaRPr lang="en-US" sz="1300" dirty="0"/>
          </a:p>
        </p:txBody>
      </p:sp>
      <p:sp>
        <p:nvSpPr>
          <p:cNvPr id="9" name="Shape 7"/>
          <p:cNvSpPr/>
          <p:nvPr/>
        </p:nvSpPr>
        <p:spPr>
          <a:xfrm>
            <a:off x="6583680" y="2834640"/>
            <a:ext cx="1280160" cy="1828800"/>
          </a:xfrm>
          <a:prstGeom prst="rect">
            <a:avLst/>
          </a:prstGeom>
          <a:solidFill>
            <a:srgbClr val="082A54"/>
          </a:solidFill>
          <a:ln w="12700">
            <a:solidFill>
              <a:srgbClr val="082A54"/>
            </a:solidFill>
            <a:prstDash val="solid"/>
          </a:ln>
        </p:spPr>
      </p:sp>
      <p:sp>
        <p:nvSpPr>
          <p:cNvPr id="10" name="Text 8"/>
          <p:cNvSpPr txBox="1"/>
          <p:nvPr/>
        </p:nvSpPr>
        <p:spPr>
          <a:xfrm>
            <a:off x="8092440" y="2834640"/>
            <a:ext cx="3474720" cy="182880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Firm margin</a:t>
            </a:r>
            <a:endParaRPr lang="en-US" sz="1300" dirty="0"/>
          </a:p>
          <a:p>
            <a:pPr indent="0" marL="0">
              <a:buNone/>
            </a:pPr>
            <a:r>
              <a:rPr lang="en-US" sz="1100" dirty="0">
                <a:solidFill>
                  <a:srgbClr val="1A1A1A"/>
                </a:solidFill>
                <a:latin typeface="Calibri" pitchFamily="34" charset="0"/>
                <a:ea typeface="Calibri" pitchFamily="34" charset="-122"/>
                <a:cs typeface="Calibri" pitchFamily="34" charset="-120"/>
              </a:rPr>
              <a:t>price − cost</a:t>
            </a:r>
            <a:endParaRPr lang="en-US" sz="1300" dirty="0"/>
          </a:p>
        </p:txBody>
      </p:sp>
      <p:sp>
        <p:nvSpPr>
          <p:cNvPr id="11" name="Shape 9"/>
          <p:cNvSpPr/>
          <p:nvPr/>
        </p:nvSpPr>
        <p:spPr>
          <a:xfrm>
            <a:off x="6583680" y="4663440"/>
            <a:ext cx="1280160" cy="1097280"/>
          </a:xfrm>
          <a:prstGeom prst="rect">
            <a:avLst/>
          </a:prstGeom>
          <a:solidFill>
            <a:srgbClr val="FBF3E0"/>
          </a:solidFill>
          <a:ln w="12700">
            <a:solidFill>
              <a:srgbClr val="082A54"/>
            </a:solidFill>
            <a:prstDash val="solid"/>
          </a:ln>
        </p:spPr>
      </p:sp>
      <p:sp>
        <p:nvSpPr>
          <p:cNvPr id="12" name="Text 10"/>
          <p:cNvSpPr txBox="1"/>
          <p:nvPr/>
        </p:nvSpPr>
        <p:spPr>
          <a:xfrm>
            <a:off x="8092440" y="4663440"/>
            <a:ext cx="3474720" cy="10972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Supplier surplus</a:t>
            </a:r>
            <a:endParaRPr lang="en-US" sz="1300" dirty="0"/>
          </a:p>
          <a:p>
            <a:pPr indent="0" marL="0">
              <a:buNone/>
            </a:pPr>
            <a:r>
              <a:rPr lang="en-US" sz="1100" dirty="0">
                <a:solidFill>
                  <a:srgbClr val="1A1A1A"/>
                </a:solidFill>
                <a:latin typeface="Calibri" pitchFamily="34" charset="0"/>
                <a:ea typeface="Calibri" pitchFamily="34" charset="-122"/>
                <a:cs typeface="Calibri" pitchFamily="34" charset="-120"/>
              </a:rPr>
              <a:t>cost − SOC</a:t>
            </a:r>
            <a:endParaRPr lang="en-US" sz="1300" dirty="0"/>
          </a:p>
        </p:txBody>
      </p:sp>
      <p:sp>
        <p:nvSpPr>
          <p:cNvPr id="13" name="Text 11"/>
          <p:cNvSpPr txBox="1"/>
          <p:nvPr/>
        </p:nvSpPr>
        <p:spPr>
          <a:xfrm>
            <a:off x="6492240" y="5806440"/>
            <a:ext cx="1463040" cy="365760"/>
          </a:xfrm>
          <a:prstGeom prst="rect">
            <a:avLst/>
          </a:prstGeom>
          <a:noFill/>
          <a:ln/>
        </p:spPr>
        <p:txBody>
          <a:bodyPr wrap="square" lIns="0" tIns="0" rIns="0" bIns="0" rtlCol="0" anchor="ctr"/>
          <a:lstStyle/>
          <a:p>
            <a:pPr algn="ctr" indent="0" marL="0">
              <a:buNone/>
            </a:pPr>
            <a:r>
              <a:rPr lang="en-US" sz="1300" b="1" dirty="0">
                <a:solidFill>
                  <a:srgbClr val="082A54"/>
                </a:solidFill>
                <a:latin typeface="Calibri" pitchFamily="34" charset="0"/>
                <a:ea typeface="Calibri" pitchFamily="34" charset="-122"/>
                <a:cs typeface="Calibri" pitchFamily="34" charset="-120"/>
              </a:rPr>
              <a:t>SOC</a:t>
            </a:r>
            <a:endParaRPr lang="en-US" sz="1300" dirty="0"/>
          </a:p>
        </p:txBody>
      </p:sp>
      <p:sp>
        <p:nvSpPr>
          <p:cNvPr id="14" name="Text 12"/>
          <p:cNvSpPr txBox="1"/>
          <p:nvPr/>
        </p:nvSpPr>
        <p:spPr>
          <a:xfrm>
            <a:off x="457200" y="2651760"/>
            <a:ext cx="5486400" cy="3474720"/>
          </a:xfrm>
          <a:prstGeom prst="rect">
            <a:avLst/>
          </a:prstGeom>
          <a:noFill/>
          <a:ln/>
        </p:spPr>
        <p:txBody>
          <a:bodyPr wrap="square" lIns="0" tIns="0" rIns="0" bIns="0" rtlCol="0" anchor="t"/>
          <a:lstStyle/>
          <a:p>
            <a:pPr marL="342900" indent="-342900">
              <a:lnSpc>
                <a:spcPct val="112000"/>
              </a:lnSpc>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Negotiating over price or supplier terms moves value between parties. Only two moves create it: push WTP up, or push SOC down.</a:t>
            </a:r>
            <a:endParaRPr lang="en-US" sz="1450" dirty="0"/>
          </a:p>
          <a:p>
            <a:pPr marL="342900" indent="-342900">
              <a:lnSpc>
                <a:spcPct val="112000"/>
              </a:lnSpc>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Lean is unusual because it does both at once: removing waste lowers cost; the same work raises reliability and speed, which raise what the customer will pay.</a:t>
            </a:r>
            <a:endParaRPr lang="en-US" sz="1450" dirty="0"/>
          </a:p>
          <a:p>
            <a:pPr marL="342900" indent="-342900">
              <a:lnSpc>
                <a:spcPct val="112000"/>
              </a:lnSpc>
              <a:spcAft>
                <a:spcPts val="1000"/>
              </a:spcAft>
              <a:buSzPct val="100000"/>
              <a:buChar char="•"/>
            </a:pPr>
            <a:r>
              <a:rPr lang="en-US" sz="1450" dirty="0">
                <a:solidFill>
                  <a:srgbClr val="1A1A1A"/>
                </a:solidFill>
                <a:latin typeface="Calibri" pitchFamily="34" charset="0"/>
                <a:ea typeface="Calibri" pitchFamily="34" charset="-122"/>
                <a:cs typeface="Calibri" pitchFamily="34" charset="-120"/>
              </a:rPr>
              <a:t>That is the whole strategic claim of the method. The rest of the morning is the mechanism.</a:t>
            </a:r>
            <a:endParaRPr lang="en-US" sz="14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FROM VALUE CREATED TO ADVANTAGE</a:t>
            </a:r>
            <a:endParaRPr lang="en-US" sz="2200" dirty="0"/>
          </a:p>
        </p:txBody>
      </p:sp>
      <p:sp>
        <p:nvSpPr>
          <p:cNvPr id="3" name="Shape 1"/>
          <p:cNvSpPr/>
          <p:nvPr/>
        </p:nvSpPr>
        <p:spPr>
          <a:xfrm>
            <a:off x="457200" y="1005840"/>
            <a:ext cx="11277295" cy="1371600"/>
          </a:xfrm>
          <a:prstGeom prst="roundRect">
            <a:avLst>
              <a:gd name="adj" fmla="val 8000"/>
            </a:avLst>
          </a:prstGeom>
          <a:solidFill>
            <a:srgbClr val="082A54"/>
          </a:solidFill>
          <a:ln w="12700">
            <a:solidFill>
              <a:srgbClr val="082A54"/>
            </a:solidFill>
            <a:prstDash val="solid"/>
          </a:ln>
        </p:spPr>
      </p:sp>
      <p:sp>
        <p:nvSpPr>
          <p:cNvPr id="4" name="Text 2"/>
          <p:cNvSpPr txBox="1"/>
          <p:nvPr/>
        </p:nvSpPr>
        <p:spPr>
          <a:xfrm>
            <a:off x="640080" y="1115568"/>
            <a:ext cx="10911535" cy="7955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VC = (WTPA − CostA) − (WTPB − CostB)</a:t>
            </a:r>
            <a:endParaRPr lang="en-US" sz="3000" dirty="0"/>
          </a:p>
        </p:txBody>
      </p:sp>
      <p:sp>
        <p:nvSpPr>
          <p:cNvPr id="5" name="Text 3"/>
          <p:cNvSpPr txBox="1"/>
          <p:nvPr/>
        </p:nvSpPr>
        <p:spPr>
          <a:xfrm>
            <a:off x="640080" y="1856232"/>
            <a:ext cx="10911535" cy="46634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the value firm A creates, minus the value created by its relevant rival B</a:t>
            </a:r>
            <a:endParaRPr lang="en-US" sz="1200" dirty="0"/>
          </a:p>
        </p:txBody>
      </p:sp>
      <p:sp>
        <p:nvSpPr>
          <p:cNvPr id="6" name="Text 4"/>
          <p:cNvSpPr txBox="1"/>
          <p:nvPr/>
        </p:nvSpPr>
        <p:spPr>
          <a:xfrm>
            <a:off x="457200" y="2560320"/>
            <a:ext cx="11277295" cy="822960"/>
          </a:xfrm>
          <a:prstGeom prst="rect">
            <a:avLst/>
          </a:prstGeom>
          <a:noFill/>
          <a:ln/>
        </p:spPr>
        <p:txBody>
          <a:bodyPr wrap="square" lIns="0" tIns="0" rIns="0" bIns="0" rtlCol="0" anchor="t"/>
          <a:lstStyle/>
          <a:p>
            <a:pPr algn="l" indent="0" marL="0">
              <a:lnSpc>
                <a:spcPct val="115000"/>
              </a:lnSpc>
              <a:buNone/>
            </a:pPr>
            <a:r>
              <a:rPr lang="en-US" sz="1450" dirty="0">
                <a:solidFill>
                  <a:srgbClr val="1A1A1A"/>
                </a:solidFill>
                <a:latin typeface="Calibri" pitchFamily="34" charset="0"/>
                <a:ea typeface="Calibri" pitchFamily="34" charset="-122"/>
                <a:cs typeface="Calibri" pitchFamily="34" charset="-120"/>
              </a:rPr>
              <a:t>Creating value and having an advantage are different things. A firm that raises WTP and lowers cost in a market where every competitor does the same has created value and captured none of the difference. Advantage is a comparison, so it has to be written as one.</a:t>
            </a:r>
            <a:endParaRPr lang="en-US" sz="1450" dirty="0"/>
          </a:p>
        </p:txBody>
      </p:sp>
      <p:sp>
        <p:nvSpPr>
          <p:cNvPr id="7" name="Shape 5"/>
          <p:cNvSpPr/>
          <p:nvPr/>
        </p:nvSpPr>
        <p:spPr>
          <a:xfrm>
            <a:off x="457200" y="3520440"/>
            <a:ext cx="3657600" cy="2011680"/>
          </a:xfrm>
          <a:prstGeom prst="roundRect">
            <a:avLst>
              <a:gd name="adj" fmla="val 5455"/>
            </a:avLst>
          </a:prstGeom>
          <a:solidFill>
            <a:srgbClr val="FFFFFF"/>
          </a:solidFill>
          <a:ln w="15875">
            <a:solidFill>
              <a:srgbClr val="4A7DBA"/>
            </a:solidFill>
            <a:prstDash val="solid"/>
          </a:ln>
        </p:spPr>
      </p:sp>
      <p:sp>
        <p:nvSpPr>
          <p:cNvPr id="8" name="Text 6"/>
          <p:cNvSpPr txBox="1"/>
          <p:nvPr/>
        </p:nvSpPr>
        <p:spPr>
          <a:xfrm>
            <a:off x="658368" y="36850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benchmark is a rival, not last year</a:t>
            </a:r>
            <a:endParaRPr lang="en-US" sz="1600" dirty="0"/>
          </a:p>
        </p:txBody>
      </p:sp>
      <p:sp>
        <p:nvSpPr>
          <p:cNvPr id="9" name="Text 7"/>
          <p:cNvSpPr txBox="1"/>
          <p:nvPr/>
        </p:nvSpPr>
        <p:spPr>
          <a:xfrm>
            <a:off x="658368" y="4105656"/>
            <a:ext cx="3255264" cy="128930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Cutting your own cost by 8% while the reference competitor cuts theirs by 12% makes the firm better and its position worse. Only the comparison detects it.</a:t>
            </a:r>
            <a:endParaRPr lang="en-US" sz="1300" dirty="0"/>
          </a:p>
        </p:txBody>
      </p:sp>
      <p:sp>
        <p:nvSpPr>
          <p:cNvPr id="10" name="Shape 8"/>
          <p:cNvSpPr/>
          <p:nvPr/>
        </p:nvSpPr>
        <p:spPr>
          <a:xfrm>
            <a:off x="4270248" y="3520440"/>
            <a:ext cx="3657600" cy="2011680"/>
          </a:xfrm>
          <a:prstGeom prst="roundRect">
            <a:avLst>
              <a:gd name="adj" fmla="val 5455"/>
            </a:avLst>
          </a:prstGeom>
          <a:solidFill>
            <a:srgbClr val="F3F6FA"/>
          </a:solidFill>
          <a:ln w="15875">
            <a:solidFill>
              <a:srgbClr val="4A7DBA"/>
            </a:solidFill>
            <a:prstDash val="solid"/>
          </a:ln>
        </p:spPr>
      </p:sp>
      <p:sp>
        <p:nvSpPr>
          <p:cNvPr id="11" name="Text 9"/>
          <p:cNvSpPr txBox="1"/>
          <p:nvPr/>
        </p:nvSpPr>
        <p:spPr>
          <a:xfrm>
            <a:off x="4471416" y="36850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Both terms can be attacked</a:t>
            </a:r>
            <a:endParaRPr lang="en-US" sz="1600" dirty="0"/>
          </a:p>
        </p:txBody>
      </p:sp>
      <p:sp>
        <p:nvSpPr>
          <p:cNvPr id="12" name="Text 10"/>
          <p:cNvSpPr txBox="1"/>
          <p:nvPr/>
        </p:nvSpPr>
        <p:spPr>
          <a:xfrm>
            <a:off x="4471416" y="4105656"/>
            <a:ext cx="3255264" cy="128930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VC rises when A improves — and equally when B's advantage is made harder to sustain. That is why capability that resists imitation matters more than capability that does not.</a:t>
            </a:r>
            <a:endParaRPr lang="en-US" sz="1300" dirty="0"/>
          </a:p>
        </p:txBody>
      </p:sp>
      <p:sp>
        <p:nvSpPr>
          <p:cNvPr id="13" name="Shape 11"/>
          <p:cNvSpPr/>
          <p:nvPr/>
        </p:nvSpPr>
        <p:spPr>
          <a:xfrm>
            <a:off x="8074152" y="3520440"/>
            <a:ext cx="3657600" cy="2011680"/>
          </a:xfrm>
          <a:prstGeom prst="roundRect">
            <a:avLst>
              <a:gd name="adj" fmla="val 5455"/>
            </a:avLst>
          </a:prstGeom>
          <a:solidFill>
            <a:srgbClr val="FFFFFF"/>
          </a:solidFill>
          <a:ln w="15875">
            <a:solidFill>
              <a:srgbClr val="4A7DBA"/>
            </a:solidFill>
            <a:prstDash val="solid"/>
          </a:ln>
        </p:spPr>
      </p:sp>
      <p:sp>
        <p:nvSpPr>
          <p:cNvPr id="14" name="Text 12"/>
          <p:cNvSpPr txBox="1"/>
          <p:nvPr/>
        </p:nvSpPr>
        <p:spPr>
          <a:xfrm>
            <a:off x="8275320" y="36850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Operational effectiveness erodes by construction</a:t>
            </a:r>
            <a:endParaRPr lang="en-US" sz="1600" dirty="0"/>
          </a:p>
        </p:txBody>
      </p:sp>
      <p:sp>
        <p:nvSpPr>
          <p:cNvPr id="15" name="Text 13"/>
          <p:cNvSpPr txBox="1"/>
          <p:nvPr/>
        </p:nvSpPr>
        <p:spPr>
          <a:xfrm>
            <a:off x="8275320" y="4105656"/>
            <a:ext cx="3255264" cy="128930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If the improvement is visible and copyable, B makes the same move, the brackets converge and VC tends to zero. Porter's objection, as arithmetic.</a:t>
            </a:r>
            <a:endParaRPr lang="en-US" sz="1300" dirty="0"/>
          </a:p>
        </p:txBody>
      </p:sp>
      <p:sp>
        <p:nvSpPr>
          <p:cNvPr id="16" name="Shape 14"/>
          <p:cNvSpPr/>
          <p:nvPr/>
        </p:nvSpPr>
        <p:spPr>
          <a:xfrm>
            <a:off x="457200" y="5669280"/>
            <a:ext cx="11277295" cy="640080"/>
          </a:xfrm>
          <a:prstGeom prst="roundRect">
            <a:avLst>
              <a:gd name="adj" fmla="val 17143"/>
            </a:avLst>
          </a:prstGeom>
          <a:solidFill>
            <a:srgbClr val="FBF3E0"/>
          </a:solidFill>
          <a:ln w="15875">
            <a:solidFill>
              <a:srgbClr val="C59221"/>
            </a:solidFill>
            <a:prstDash val="solid"/>
          </a:ln>
        </p:spPr>
      </p:sp>
      <p:sp>
        <p:nvSpPr>
          <p:cNvPr id="17" name="Text 15"/>
          <p:cNvSpPr txBox="1"/>
          <p:nvPr/>
        </p:nvSpPr>
        <p:spPr>
          <a:xfrm>
            <a:off x="658368" y="5760720"/>
            <a:ext cx="10874959" cy="457200"/>
          </a:xfrm>
          <a:prstGeom prst="rect">
            <a:avLst/>
          </a:prstGeom>
          <a:noFill/>
          <a:ln/>
        </p:spPr>
        <p:txBody>
          <a:bodyPr wrap="square" lIns="0" tIns="0" rIns="0" bIns="0" rtlCol="0" anchor="ctr"/>
          <a:lstStyle/>
          <a:p>
            <a:pPr indent="0" marL="0">
              <a:lnSpc>
                <a:spcPct val="112000"/>
              </a:lnSpc>
              <a:buNone/>
            </a:pPr>
            <a:r>
              <a:rPr lang="en-US" sz="1350" b="1" dirty="0">
                <a:solidFill>
                  <a:srgbClr val="082A54"/>
                </a:solidFill>
                <a:latin typeface="Calibri" pitchFamily="34" charset="0"/>
                <a:ea typeface="Calibri" pitchFamily="34" charset="-122"/>
                <a:cs typeface="Calibri" pitchFamily="34" charset="-120"/>
              </a:rPr>
              <a:t>One test for any improvement project: when the competitor does this too, what is left? If nothing — fund it to the threshold and no further. If something — name it. That residue is the advantage.</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WHERE THE RESIDUE CAN LIVE</a:t>
            </a:r>
            <a:endParaRPr lang="en-US" sz="2200" dirty="0"/>
          </a:p>
        </p:txBody>
      </p:sp>
      <p:sp>
        <p:nvSpPr>
          <p:cNvPr id="3" name="Shape 1"/>
          <p:cNvSpPr/>
          <p:nvPr/>
        </p:nvSpPr>
        <p:spPr>
          <a:xfrm>
            <a:off x="457200" y="1005840"/>
            <a:ext cx="11277295" cy="1371600"/>
          </a:xfrm>
          <a:prstGeom prst="roundRect">
            <a:avLst>
              <a:gd name="adj" fmla="val 8000"/>
            </a:avLst>
          </a:prstGeom>
          <a:solidFill>
            <a:srgbClr val="082A54"/>
          </a:solidFill>
          <a:ln w="12700">
            <a:solidFill>
              <a:srgbClr val="082A54"/>
            </a:solidFill>
            <a:prstDash val="solid"/>
          </a:ln>
        </p:spPr>
      </p:sp>
      <p:sp>
        <p:nvSpPr>
          <p:cNvPr id="4" name="Text 2"/>
          <p:cNvSpPr txBox="1"/>
          <p:nvPr/>
        </p:nvSpPr>
        <p:spPr>
          <a:xfrm>
            <a:off x="640080" y="1115568"/>
            <a:ext cx="10911535" cy="7955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V = C × (A + P)</a:t>
            </a:r>
            <a:endParaRPr lang="en-US" sz="3000" dirty="0"/>
          </a:p>
        </p:txBody>
      </p:sp>
      <p:sp>
        <p:nvSpPr>
          <p:cNvPr id="5" name="Text 3"/>
          <p:cNvSpPr txBox="1"/>
          <p:nvPr/>
        </p:nvSpPr>
        <p:spPr>
          <a:xfrm>
            <a:off x="640080" y="1856232"/>
            <a:ext cx="10911535" cy="466344"/>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Lima (2026), Ch. 1 — after Van Mieghem &amp; Allon (2015)</a:t>
            </a:r>
            <a:endParaRPr lang="en-US" sz="1200" dirty="0"/>
          </a:p>
        </p:txBody>
      </p:sp>
      <p:sp>
        <p:nvSpPr>
          <p:cNvPr id="6" name="Shape 4"/>
          <p:cNvSpPr/>
          <p:nvPr/>
        </p:nvSpPr>
        <p:spPr>
          <a:xfrm>
            <a:off x="457200" y="2606040"/>
            <a:ext cx="3657600" cy="1920240"/>
          </a:xfrm>
          <a:prstGeom prst="roundRect">
            <a:avLst>
              <a:gd name="adj" fmla="val 5714"/>
            </a:avLst>
          </a:prstGeom>
          <a:solidFill>
            <a:srgbClr val="FFFFFF"/>
          </a:solidFill>
          <a:ln w="15875">
            <a:solidFill>
              <a:srgbClr val="4A7DBA"/>
            </a:solidFill>
            <a:prstDash val="solid"/>
          </a:ln>
        </p:spPr>
      </p:sp>
      <p:sp>
        <p:nvSpPr>
          <p:cNvPr id="7" name="Text 5"/>
          <p:cNvSpPr txBox="1"/>
          <p:nvPr/>
        </p:nvSpPr>
        <p:spPr>
          <a:xfrm>
            <a:off x="658368" y="27706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A — Assets</a:t>
            </a:r>
            <a:endParaRPr lang="en-US" sz="1600" dirty="0"/>
          </a:p>
        </p:txBody>
      </p:sp>
      <p:sp>
        <p:nvSpPr>
          <p:cNvPr id="8" name="Text 6"/>
          <p:cNvSpPr txBox="1"/>
          <p:nvPr/>
        </p:nvSpPr>
        <p:spPr>
          <a:xfrm>
            <a:off x="658368" y="3191256"/>
            <a:ext cx="3255264" cy="119786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What the organisation owns: plants, machines, systems. Visible and purchasable.</a:t>
            </a:r>
            <a:endParaRPr lang="en-US" sz="1400" dirty="0"/>
          </a:p>
        </p:txBody>
      </p:sp>
      <p:sp>
        <p:nvSpPr>
          <p:cNvPr id="9" name="Shape 7"/>
          <p:cNvSpPr/>
          <p:nvPr/>
        </p:nvSpPr>
        <p:spPr>
          <a:xfrm>
            <a:off x="4270248" y="2606040"/>
            <a:ext cx="3657600" cy="1920240"/>
          </a:xfrm>
          <a:prstGeom prst="roundRect">
            <a:avLst>
              <a:gd name="adj" fmla="val 5714"/>
            </a:avLst>
          </a:prstGeom>
          <a:solidFill>
            <a:srgbClr val="FFFFFF"/>
          </a:solidFill>
          <a:ln w="15875">
            <a:solidFill>
              <a:srgbClr val="4A7DBA"/>
            </a:solidFill>
            <a:prstDash val="solid"/>
          </a:ln>
        </p:spPr>
      </p:sp>
      <p:sp>
        <p:nvSpPr>
          <p:cNvPr id="10" name="Text 8"/>
          <p:cNvSpPr txBox="1"/>
          <p:nvPr/>
        </p:nvSpPr>
        <p:spPr>
          <a:xfrm>
            <a:off x="4471416" y="27706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P — Processes</a:t>
            </a:r>
            <a:endParaRPr lang="en-US" sz="1600" dirty="0"/>
          </a:p>
        </p:txBody>
      </p:sp>
      <p:sp>
        <p:nvSpPr>
          <p:cNvPr id="11" name="Text 9"/>
          <p:cNvSpPr txBox="1"/>
          <p:nvPr/>
        </p:nvSpPr>
        <p:spPr>
          <a:xfrm>
            <a:off x="4471416" y="3191256"/>
            <a:ext cx="3255264" cy="119786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How work flows across the assets. Partly visible, imitable with effort.</a:t>
            </a:r>
            <a:endParaRPr lang="en-US" sz="1400" dirty="0"/>
          </a:p>
        </p:txBody>
      </p:sp>
      <p:sp>
        <p:nvSpPr>
          <p:cNvPr id="12" name="Shape 10"/>
          <p:cNvSpPr/>
          <p:nvPr/>
        </p:nvSpPr>
        <p:spPr>
          <a:xfrm>
            <a:off x="8074152" y="2606040"/>
            <a:ext cx="3657600" cy="1920240"/>
          </a:xfrm>
          <a:prstGeom prst="roundRect">
            <a:avLst>
              <a:gd name="adj" fmla="val 5714"/>
            </a:avLst>
          </a:prstGeom>
          <a:solidFill>
            <a:srgbClr val="082A54"/>
          </a:solidFill>
          <a:ln w="15875">
            <a:solidFill>
              <a:srgbClr val="082A54"/>
            </a:solidFill>
            <a:prstDash val="solid"/>
          </a:ln>
        </p:spPr>
      </p:sp>
      <p:sp>
        <p:nvSpPr>
          <p:cNvPr id="13" name="Text 11"/>
          <p:cNvSpPr txBox="1"/>
          <p:nvPr/>
        </p:nvSpPr>
        <p:spPr>
          <a:xfrm>
            <a:off x="8275320" y="2770632"/>
            <a:ext cx="3255264" cy="384048"/>
          </a:xfrm>
          <a:prstGeom prst="rect">
            <a:avLst/>
          </a:prstGeom>
          <a:noFill/>
          <a:ln/>
        </p:spPr>
        <p:txBody>
          <a:bodyPr wrap="square" lIns="0" tIns="0" rIns="0" bIns="0" rtlCol="0" anchor="t"/>
          <a:lstStyle/>
          <a:p>
            <a:pPr indent="0" marL="0">
              <a:buNone/>
            </a:pPr>
            <a:r>
              <a:rPr lang="en-US" sz="1600" b="1" dirty="0">
                <a:solidFill>
                  <a:srgbClr val="C59221"/>
                </a:solidFill>
                <a:latin typeface="Calibri" pitchFamily="34" charset="0"/>
                <a:ea typeface="Calibri" pitchFamily="34" charset="-122"/>
                <a:cs typeface="Calibri" pitchFamily="34" charset="-120"/>
              </a:rPr>
              <a:t>C — Capability</a:t>
            </a:r>
            <a:endParaRPr lang="en-US" sz="1600" dirty="0"/>
          </a:p>
        </p:txBody>
      </p:sp>
      <p:sp>
        <p:nvSpPr>
          <p:cNvPr id="14" name="Text 12"/>
          <p:cNvSpPr txBox="1"/>
          <p:nvPr/>
        </p:nvSpPr>
        <p:spPr>
          <a:xfrm>
            <a:off x="8275320" y="3191256"/>
            <a:ext cx="3255264" cy="119786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FFFFFF"/>
                </a:solidFill>
                <a:latin typeface="Calibri" pitchFamily="34" charset="0"/>
                <a:ea typeface="Calibri" pitchFamily="34" charset="-122"/>
                <a:cs typeface="Calibri" pitchFamily="34" charset="-120"/>
              </a:rPr>
              <a:t>The organisation's repeated ability to improve P. Barely visible, rarely imitable — and a coefficient, not a term.</a:t>
            </a:r>
            <a:endParaRPr lang="en-US" sz="1400" dirty="0"/>
          </a:p>
        </p:txBody>
      </p:sp>
      <p:sp>
        <p:nvSpPr>
          <p:cNvPr id="15" name="Shape 13"/>
          <p:cNvSpPr/>
          <p:nvPr/>
        </p:nvSpPr>
        <p:spPr>
          <a:xfrm>
            <a:off x="457200" y="4709160"/>
            <a:ext cx="11277295" cy="1463040"/>
          </a:xfrm>
          <a:prstGeom prst="roundRect">
            <a:avLst>
              <a:gd name="adj" fmla="val 7500"/>
            </a:avLst>
          </a:prstGeom>
          <a:solidFill>
            <a:srgbClr val="FBF3E0"/>
          </a:solidFill>
          <a:ln w="15875">
            <a:solidFill>
              <a:srgbClr val="C59221"/>
            </a:solidFill>
            <a:prstDash val="solid"/>
          </a:ln>
        </p:spPr>
      </p:sp>
      <p:sp>
        <p:nvSpPr>
          <p:cNvPr id="16" name="Text 14"/>
          <p:cNvSpPr txBox="1"/>
          <p:nvPr/>
        </p:nvSpPr>
        <p:spPr>
          <a:xfrm>
            <a:off x="658368" y="4800600"/>
            <a:ext cx="10874959" cy="1280160"/>
          </a:xfrm>
          <a:prstGeom prst="rect">
            <a:avLst/>
          </a:prstGeom>
          <a:noFill/>
          <a:ln/>
        </p:spPr>
        <p:txBody>
          <a:bodyPr wrap="square" lIns="0" tIns="0" rIns="0" bIns="0" rtlCol="0" anchor="ctr"/>
          <a:lstStyle/>
          <a:p>
            <a:pPr indent="0" marL="0">
              <a:lnSpc>
                <a:spcPct val="112000"/>
              </a:lnSpc>
              <a:buNone/>
            </a:pPr>
            <a:r>
              <a:rPr lang="en-US" sz="1400" dirty="0">
                <a:solidFill>
                  <a:srgbClr val="1A1A1A"/>
                </a:solidFill>
                <a:latin typeface="Calibri" pitchFamily="34" charset="0"/>
                <a:ea typeface="Calibri" pitchFamily="34" charset="-122"/>
                <a:cs typeface="Calibri" pitchFamily="34" charset="-120"/>
              </a:rPr>
              <a:t>The form of the expression is the claim: assets and processes are additive and purchasable; capability multiplies them. Anything in the bracket is available to a competitor at roughly the same price, so improvements that live there move both parentheses of VC and the difference returns towards zero. Only the coefficient resists — it is the one term nobody can invoice you for. Part Eight returns to this once there is material to test it.</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FIVE PRINCIPLES — AND WHERE EACH ONE IS TREATED</a:t>
            </a:r>
            <a:endParaRPr lang="en-US" sz="2200" dirty="0"/>
          </a:p>
        </p:txBody>
      </p:sp>
      <p:sp>
        <p:nvSpPr>
          <p:cNvPr id="3" name="Text 1"/>
          <p:cNvSpPr txBox="1"/>
          <p:nvPr/>
        </p:nvSpPr>
        <p:spPr>
          <a:xfrm>
            <a:off x="457200" y="1005840"/>
            <a:ext cx="11277295" cy="640080"/>
          </a:xfrm>
          <a:prstGeom prst="rect">
            <a:avLst/>
          </a:prstGeom>
          <a:noFill/>
          <a:ln/>
        </p:spPr>
        <p:txBody>
          <a:bodyPr wrap="square" lIns="0" tIns="0" rIns="0" bIns="0" rtlCol="0" anchor="t"/>
          <a:lstStyle/>
          <a:p>
            <a:pPr algn="l" indent="0" marL="0">
              <a:lnSpc>
                <a:spcPct val="115000"/>
              </a:lnSpc>
              <a:buNone/>
            </a:pPr>
            <a:r>
              <a:rPr lang="en-US" sz="1450" dirty="0">
                <a:solidFill>
                  <a:srgbClr val="1A1A1A"/>
                </a:solidFill>
                <a:latin typeface="Calibri" pitchFamily="34" charset="0"/>
                <a:ea typeface="Calibri" pitchFamily="34" charset="-122"/>
                <a:cs typeface="Calibri" pitchFamily="34" charset="-120"/>
              </a:rPr>
              <a:t>Womack and Jones reduced the method to five principles in sequence. The sequence is the argument: every principle after the first is meaningless until the first has been answered.</a:t>
            </a:r>
            <a:endParaRPr lang="en-US" sz="14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457200"/>
                <a:gridCol w="1828800"/>
                <a:gridCol w="6976872"/>
                <a:gridCol w="2011680"/>
              </a:tblGrid>
              <a:tr h="0">
                <a:tc>
                  <a:txBody>
                    <a:bodyPr/>
                    <a:lstStyle/>
                    <a:p>
                      <a:pPr indent="0" marL="0">
                        <a:buNone/>
                      </a:pP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Principle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asks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What is the customer actually paying for? Defined from the customer backwards, never from the process forwards.</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This part</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Value stream</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Which activities deliver that value, which merely enable it, and which do neither? The map is the instrument.</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Part Three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Flow</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Can the work move without stopping? Stoppage, not slowness, is what makes lead time long.</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Part Four</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Pull</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Is work released by downstream demand, or pushed by upstream capacity and a plan?</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Part Five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Perfection</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Does the cycle repeat, with the standard rewritten each time? This decides whether the first four survive.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Parts Seven and Eleven</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Three</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THREE</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The anatomy of waste</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Ohno catalogued seven wastes; modern practice adds an eighth. The list matters less than its structure: one of them is the root, and the others are symptoms.</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EIGHT WASTES — FACTORY AND PROJECT</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77295" cy="914400"/>
        </p:xfrm>
        <a:graphic>
          <a:graphicData uri="http://schemas.openxmlformats.org/drawingml/2006/table">
            <a:tbl>
              <a:tblPr/>
              <a:tblGrid>
                <a:gridCol w="2468880"/>
                <a:gridCol w="3291840"/>
                <a:gridCol w="551383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Waste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a factory</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project and knowledge work</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Overproduction — the root</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Making more than demand</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Reports nobody reads, features nobody uses, gold-plating</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Waiting</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Idle machines and people</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Approval queues, decision latency, blocked dependencies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Transport</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Moving materials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Handoffs between departments and systems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Over-processing</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Machining beyond specification</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Sign-off chains, redundant status meetings, precision beyond need</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Inventory</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Stockpiles and work in process (WIP)</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Half-finished work packages, open tickets, projects started but unstaffed</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Motion</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Unnecessary movement of people</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Searching for information, tool switching, duplicated data entry</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Defects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Scrap and rework</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Rework loops, failed deliverables, change requests from unclear requirements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Unused talent</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Ignored operator ideas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Experts doing administration; front-line insight never reaching decisions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457200" y="5532120"/>
            <a:ext cx="11277295" cy="731520"/>
          </a:xfrm>
          <a:prstGeom prst="roundRect">
            <a:avLst>
              <a:gd name="adj" fmla="val 15000"/>
            </a:avLst>
          </a:prstGeom>
          <a:solidFill>
            <a:srgbClr val="FBF3E0"/>
          </a:solidFill>
          <a:ln w="15875">
            <a:solidFill>
              <a:srgbClr val="C59221"/>
            </a:solidFill>
            <a:prstDash val="solid"/>
          </a:ln>
        </p:spPr>
      </p:sp>
      <p:sp>
        <p:nvSpPr>
          <p:cNvPr id="5" name="Text 2"/>
          <p:cNvSpPr txBox="1"/>
          <p:nvPr/>
        </p:nvSpPr>
        <p:spPr>
          <a:xfrm>
            <a:off x="658368" y="5623560"/>
            <a:ext cx="10874959" cy="548640"/>
          </a:xfrm>
          <a:prstGeom prst="rect">
            <a:avLst/>
          </a:prstGeom>
          <a:noFill/>
          <a:ln/>
        </p:spPr>
        <p:txBody>
          <a:bodyPr wrap="square" lIns="0" tIns="0" rIns="0" bIns="0" rtlCol="0" anchor="ctr"/>
          <a:lstStyle/>
          <a:p>
            <a:pPr indent="0" marL="0">
              <a:lnSpc>
                <a:spcPct val="112000"/>
              </a:lnSpc>
              <a:buNone/>
            </a:pPr>
            <a:r>
              <a:rPr lang="en-US" sz="1250" dirty="0">
                <a:solidFill>
                  <a:srgbClr val="1A1A1A"/>
                </a:solidFill>
                <a:latin typeface="Calibri" pitchFamily="34" charset="0"/>
                <a:ea typeface="Calibri" pitchFamily="34" charset="-122"/>
                <a:cs typeface="Calibri" pitchFamily="34" charset="-120"/>
              </a:rPr>
              <a:t>Overproduction generates the other six: it creates inventory, which needs transport and motion, which hides defects, which forces waiting. Attack it and the others shrink; attack the others individually and overproduction regenerates them.</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MUDA IS THE SYMPTOM; MURA AND MURI ARE THE DISEASE</a:t>
            </a:r>
            <a:endParaRPr lang="en-US" sz="2200" dirty="0"/>
          </a:p>
        </p:txBody>
      </p:sp>
      <p:sp>
        <p:nvSpPr>
          <p:cNvPr id="3" name="Shape 1"/>
          <p:cNvSpPr/>
          <p:nvPr/>
        </p:nvSpPr>
        <p:spPr>
          <a:xfrm>
            <a:off x="457200" y="1005840"/>
            <a:ext cx="3657600" cy="2286000"/>
          </a:xfrm>
          <a:prstGeom prst="roundRect">
            <a:avLst>
              <a:gd name="adj" fmla="val 4800"/>
            </a:avLst>
          </a:prstGeom>
          <a:solidFill>
            <a:srgbClr val="FFFFFF"/>
          </a:solidFill>
          <a:ln w="15875">
            <a:solidFill>
              <a:srgbClr val="4A7DBA"/>
            </a:solidFill>
            <a:prstDash val="solid"/>
          </a:ln>
        </p:spPr>
      </p:sp>
      <p:sp>
        <p:nvSpPr>
          <p:cNvPr id="4" name="Text 2"/>
          <p:cNvSpPr txBox="1"/>
          <p:nvPr/>
        </p:nvSpPr>
        <p:spPr>
          <a:xfrm>
            <a:off x="658368"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Muda — waste</a:t>
            </a:r>
            <a:endParaRPr lang="en-US" sz="1600" dirty="0"/>
          </a:p>
        </p:txBody>
      </p:sp>
      <p:sp>
        <p:nvSpPr>
          <p:cNvPr id="5" name="Text 3"/>
          <p:cNvSpPr txBox="1"/>
          <p:nvPr/>
        </p:nvSpPr>
        <p:spPr>
          <a:xfrm>
            <a:off x="658368" y="1591056"/>
            <a:ext cx="3255264" cy="156362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The eight items on the previous slide. The one executives usually learn, and the only one most programmes attack.</a:t>
            </a:r>
            <a:endParaRPr lang="en-US" sz="1400" dirty="0"/>
          </a:p>
        </p:txBody>
      </p:sp>
      <p:sp>
        <p:nvSpPr>
          <p:cNvPr id="6" name="Shape 4"/>
          <p:cNvSpPr/>
          <p:nvPr/>
        </p:nvSpPr>
        <p:spPr>
          <a:xfrm>
            <a:off x="4270248" y="1005840"/>
            <a:ext cx="3657600" cy="2286000"/>
          </a:xfrm>
          <a:prstGeom prst="roundRect">
            <a:avLst>
              <a:gd name="adj" fmla="val 4800"/>
            </a:avLst>
          </a:prstGeom>
          <a:solidFill>
            <a:srgbClr val="F3F6FA"/>
          </a:solidFill>
          <a:ln w="15875">
            <a:solidFill>
              <a:srgbClr val="4A7DBA"/>
            </a:solidFill>
            <a:prstDash val="solid"/>
          </a:ln>
        </p:spPr>
      </p:sp>
      <p:sp>
        <p:nvSpPr>
          <p:cNvPr id="7" name="Text 5"/>
          <p:cNvSpPr txBox="1"/>
          <p:nvPr/>
        </p:nvSpPr>
        <p:spPr>
          <a:xfrm>
            <a:off x="4471416"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Mura — unevenness</a:t>
            </a:r>
            <a:endParaRPr lang="en-US" sz="1600" dirty="0"/>
          </a:p>
        </p:txBody>
      </p:sp>
      <p:sp>
        <p:nvSpPr>
          <p:cNvPr id="8" name="Text 6"/>
          <p:cNvSpPr txBox="1"/>
          <p:nvPr/>
        </p:nvSpPr>
        <p:spPr>
          <a:xfrm>
            <a:off x="4471416" y="1591056"/>
            <a:ext cx="3255264" cy="156362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Irregular flow of work. Unevenness creates queues, and queues create the safety buffers that look like prudent management and are in fact inventory.</a:t>
            </a:r>
            <a:endParaRPr lang="en-US" sz="1400" dirty="0"/>
          </a:p>
        </p:txBody>
      </p:sp>
      <p:sp>
        <p:nvSpPr>
          <p:cNvPr id="9" name="Shape 7"/>
          <p:cNvSpPr/>
          <p:nvPr/>
        </p:nvSpPr>
        <p:spPr>
          <a:xfrm>
            <a:off x="8074152" y="1005840"/>
            <a:ext cx="3657600" cy="2286000"/>
          </a:xfrm>
          <a:prstGeom prst="roundRect">
            <a:avLst>
              <a:gd name="adj" fmla="val 4800"/>
            </a:avLst>
          </a:prstGeom>
          <a:solidFill>
            <a:srgbClr val="FFFFFF"/>
          </a:solidFill>
          <a:ln w="15875">
            <a:solidFill>
              <a:srgbClr val="4A7DBA"/>
            </a:solidFill>
            <a:prstDash val="solid"/>
          </a:ln>
        </p:spPr>
      </p:sp>
      <p:sp>
        <p:nvSpPr>
          <p:cNvPr id="10" name="Text 8"/>
          <p:cNvSpPr txBox="1"/>
          <p:nvPr/>
        </p:nvSpPr>
        <p:spPr>
          <a:xfrm>
            <a:off x="8275320"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Muri — overburden</a:t>
            </a:r>
            <a:endParaRPr lang="en-US" sz="1600" dirty="0"/>
          </a:p>
        </p:txBody>
      </p:sp>
      <p:sp>
        <p:nvSpPr>
          <p:cNvPr id="11" name="Text 9"/>
          <p:cNvSpPr txBox="1"/>
          <p:nvPr/>
        </p:nvSpPr>
        <p:spPr>
          <a:xfrm>
            <a:off x="8275320" y="1591056"/>
            <a:ext cx="3255264" cy="156362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People and equipment pushed beyond reasonable limits. Overburden creates defects, breakdowns and absence — which create more unevenness.</a:t>
            </a:r>
            <a:endParaRPr lang="en-US" sz="1400" dirty="0"/>
          </a:p>
        </p:txBody>
      </p:sp>
      <p:sp>
        <p:nvSpPr>
          <p:cNvPr id="12" name="Shape 10"/>
          <p:cNvSpPr/>
          <p:nvPr/>
        </p:nvSpPr>
        <p:spPr>
          <a:xfrm>
            <a:off x="457200" y="3474720"/>
            <a:ext cx="11277295" cy="868680"/>
          </a:xfrm>
          <a:prstGeom prst="roundRect">
            <a:avLst>
              <a:gd name="adj" fmla="val 12632"/>
            </a:avLst>
          </a:prstGeom>
          <a:solidFill>
            <a:srgbClr val="FBF3E0"/>
          </a:solidFill>
          <a:ln w="15875">
            <a:solidFill>
              <a:srgbClr val="C59221"/>
            </a:solidFill>
            <a:prstDash val="solid"/>
          </a:ln>
        </p:spPr>
      </p:sp>
      <p:sp>
        <p:nvSpPr>
          <p:cNvPr id="13" name="Text 11"/>
          <p:cNvSpPr txBox="1"/>
          <p:nvPr/>
        </p:nvSpPr>
        <p:spPr>
          <a:xfrm>
            <a:off x="658368" y="3566160"/>
            <a:ext cx="10874959" cy="685800"/>
          </a:xfrm>
          <a:prstGeom prst="rect">
            <a:avLst/>
          </a:prstGeom>
          <a:noFill/>
          <a:ln/>
        </p:spPr>
        <p:txBody>
          <a:bodyPr wrap="square" lIns="0" tIns="0" rIns="0" bIns="0" rtlCol="0" anchor="ctr"/>
          <a:lstStyle/>
          <a:p>
            <a:pPr indent="0" marL="0">
              <a:lnSpc>
                <a:spcPct val="112000"/>
              </a:lnSpc>
              <a:buNone/>
            </a:pPr>
            <a:r>
              <a:rPr lang="en-US" sz="1400" dirty="0">
                <a:solidFill>
                  <a:srgbClr val="1A1A1A"/>
                </a:solidFill>
                <a:latin typeface="Calibri" pitchFamily="34" charset="0"/>
                <a:ea typeface="Calibri" pitchFamily="34" charset="-122"/>
                <a:cs typeface="Calibri" pitchFamily="34" charset="-120"/>
              </a:rPr>
              <a:t>This is why improvement programmes plateau after year one: the first wave removes visible muda and produces real gains. Then the gains stop, because the unevenness and overburden that generate muda were never touched.</a:t>
            </a:r>
            <a:endParaRPr lang="en-US" sz="1400" dirty="0"/>
          </a:p>
        </p:txBody>
      </p:sp>
      <p:sp>
        <p:nvSpPr>
          <p:cNvPr id="14" name="Shape 12"/>
          <p:cNvSpPr/>
          <p:nvPr/>
        </p:nvSpPr>
        <p:spPr>
          <a:xfrm>
            <a:off x="457200" y="4480560"/>
            <a:ext cx="11277295" cy="1828800"/>
          </a:xfrm>
          <a:prstGeom prst="roundRect">
            <a:avLst>
              <a:gd name="adj" fmla="val 6000"/>
            </a:avLst>
          </a:prstGeom>
          <a:solidFill>
            <a:srgbClr val="F3F6FA"/>
          </a:solidFill>
          <a:ln w="15875">
            <a:solidFill>
              <a:srgbClr val="4A7DBA"/>
            </a:solidFill>
            <a:prstDash val="solid"/>
          </a:ln>
        </p:spPr>
      </p:sp>
      <p:sp>
        <p:nvSpPr>
          <p:cNvPr id="15" name="Text 13"/>
          <p:cNvSpPr txBox="1"/>
          <p:nvPr/>
        </p:nvSpPr>
        <p:spPr>
          <a:xfrm>
            <a:off x="658368" y="460857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16" name="Text 14"/>
          <p:cNvSpPr txBox="1"/>
          <p:nvPr/>
        </p:nvSpPr>
        <p:spPr>
          <a:xfrm>
            <a:off x="658368" y="4919472"/>
            <a:ext cx="1188720" cy="316936"/>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17" name="Text 15"/>
          <p:cNvSpPr txBox="1"/>
          <p:nvPr/>
        </p:nvSpPr>
        <p:spPr>
          <a:xfrm>
            <a:off x="1874520" y="4919472"/>
            <a:ext cx="9631375" cy="316936"/>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Mura and muri are not wastes; they are what manufactures the wastes.</a:t>
            </a:r>
            <a:endParaRPr lang="en-US" sz="1250" dirty="0"/>
          </a:p>
        </p:txBody>
      </p:sp>
      <p:sp>
        <p:nvSpPr>
          <p:cNvPr id="18" name="Text 16"/>
          <p:cNvSpPr txBox="1"/>
          <p:nvPr/>
        </p:nvSpPr>
        <p:spPr>
          <a:xfrm>
            <a:off x="658368" y="5309560"/>
            <a:ext cx="1188720" cy="518272"/>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9" name="Text 17"/>
          <p:cNvSpPr txBox="1"/>
          <p:nvPr/>
        </p:nvSpPr>
        <p:spPr>
          <a:xfrm>
            <a:off x="1874520" y="5309560"/>
            <a:ext cx="9631375" cy="518272"/>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A specialist at 120% across four projects produces the entire symptom set at once: defects (divided attention), waiting (each project queues behind three others), unused talent (the expert spends the day reconciling status). The quarter-end delivery peak nobody levels is mura.</a:t>
            </a:r>
            <a:endParaRPr lang="en-US" sz="1250" dirty="0"/>
          </a:p>
        </p:txBody>
      </p:sp>
      <p:sp>
        <p:nvSpPr>
          <p:cNvPr id="20" name="Text 18"/>
          <p:cNvSpPr txBox="1"/>
          <p:nvPr/>
        </p:nvSpPr>
        <p:spPr>
          <a:xfrm>
            <a:off x="658368" y="5900984"/>
            <a:ext cx="1188720" cy="316936"/>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21" name="Text 19"/>
          <p:cNvSpPr txBox="1"/>
          <p:nvPr/>
        </p:nvSpPr>
        <p:spPr>
          <a:xfrm>
            <a:off x="1874520" y="5900984"/>
            <a:ext cx="9631375" cy="316936"/>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List everyone allocated above 100% and count projects per person. Two is a working limit; four is a queue with a name.</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MAKING IT VISIBLE — THE VALUE STREAM MAP</a:t>
            </a:r>
            <a:endParaRPr lang="en-US" sz="2200" dirty="0"/>
          </a:p>
        </p:txBody>
      </p:sp>
      <p:pic>
        <p:nvPicPr>
          <p:cNvPr id="3" name="Image 0" descr="/tmp/claude-0/-home-claude/53ac155d-5147-5504-9aa7-9159f9d0a9f7/scratchpad/deck/figs/s1-fig1.png">    </p:cNvPr>
          <p:cNvPicPr>
            <a:picLocks noChangeAspect="1"/>
          </p:cNvPicPr>
          <p:nvPr/>
        </p:nvPicPr>
        <p:blipFill>
          <a:blip r:embed="rId1"/>
          <a:stretch>
            <a:fillRect/>
          </a:stretch>
        </p:blipFill>
        <p:spPr>
          <a:xfrm>
            <a:off x="457200" y="914400"/>
            <a:ext cx="7498080" cy="2858276"/>
          </a:xfrm>
          <a:prstGeom prst="rect">
            <a:avLst/>
          </a:prstGeom>
        </p:spPr>
      </p:pic>
      <p:sp>
        <p:nvSpPr>
          <p:cNvPr id="4" name="Text 1"/>
          <p:cNvSpPr txBox="1"/>
          <p:nvPr/>
        </p:nvSpPr>
        <p:spPr>
          <a:xfrm>
            <a:off x="457200" y="3845828"/>
            <a:ext cx="7498080" cy="457200"/>
          </a:xfrm>
          <a:prstGeom prst="rect">
            <a:avLst/>
          </a:prstGeom>
          <a:noFill/>
          <a:ln/>
        </p:spPr>
        <p:txBody>
          <a:bodyPr wrap="square" lIns="0" tIns="0" rIns="0" bIns="0" rtlCol="0" anchor="t"/>
          <a:lstStyle/>
          <a:p>
            <a:pPr indent="0" marL="0">
              <a:buNone/>
            </a:pPr>
            <a:r>
              <a:rPr lang="en-US" sz="1100" i="1" dirty="0">
                <a:solidFill>
                  <a:srgbClr val="5A6675"/>
                </a:solidFill>
                <a:latin typeface="Calibri" pitchFamily="34" charset="0"/>
                <a:ea typeface="Calibri" pitchFamily="34" charset="-122"/>
                <a:cs typeface="Calibri" pitchFamily="34" charset="-120"/>
              </a:rPr>
              <a:t>Figure 1. A change request from arrival to implementation: four hours of work across fifteen working days, almost all of it in two approval queues.</a:t>
            </a:r>
            <a:endParaRPr lang="en-US" sz="1100" dirty="0"/>
          </a:p>
        </p:txBody>
      </p:sp>
      <p:sp>
        <p:nvSpPr>
          <p:cNvPr id="5" name="Shape 2"/>
          <p:cNvSpPr/>
          <p:nvPr/>
        </p:nvSpPr>
        <p:spPr>
          <a:xfrm>
            <a:off x="8229600" y="914400"/>
            <a:ext cx="3502152" cy="3291840"/>
          </a:xfrm>
          <a:prstGeom prst="roundRect">
            <a:avLst>
              <a:gd name="adj" fmla="val 3333"/>
            </a:avLst>
          </a:prstGeom>
          <a:solidFill>
            <a:srgbClr val="FFFFFF"/>
          </a:solidFill>
          <a:ln w="15875">
            <a:solidFill>
              <a:srgbClr val="4A7DBA"/>
            </a:solidFill>
            <a:prstDash val="solid"/>
          </a:ln>
        </p:spPr>
      </p:sp>
      <p:sp>
        <p:nvSpPr>
          <p:cNvPr id="6" name="Text 3"/>
          <p:cNvSpPr txBox="1"/>
          <p:nvPr/>
        </p:nvSpPr>
        <p:spPr>
          <a:xfrm>
            <a:off x="8430768" y="1078992"/>
            <a:ext cx="309981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Three layers, one number</a:t>
            </a:r>
            <a:endParaRPr lang="en-US" sz="1600" dirty="0"/>
          </a:p>
        </p:txBody>
      </p:sp>
      <p:sp>
        <p:nvSpPr>
          <p:cNvPr id="7" name="Text 4"/>
          <p:cNvSpPr txBox="1"/>
          <p:nvPr/>
        </p:nvSpPr>
        <p:spPr>
          <a:xfrm>
            <a:off x="8430768" y="1499616"/>
            <a:ext cx="3099816" cy="256946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The work — each step, in sequence, with who performs it. Reveals handoffs.</a:t>
            </a:r>
            <a:endParaRPr lang="en-US" sz="1200" dirty="0"/>
          </a:p>
          <a:p>
            <a:pPr marL="342900" indent="-342900">
              <a:lnSpc>
                <a:spcPct val="112000"/>
              </a:lnSpc>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The information — what triggers each step. Reveals whether the stream is pulled or pushed.</a:t>
            </a:r>
            <a:endParaRPr lang="en-US" sz="1200" dirty="0"/>
          </a:p>
          <a:p>
            <a:pPr marL="342900" indent="-342900">
              <a:lnSpc>
                <a:spcPct val="112000"/>
              </a:lnSpc>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The timeline — time worked and time elapsed per step. Produces flow efficiency, the number the map exists for.</a:t>
            </a:r>
            <a:endParaRPr lang="en-US" sz="1200" dirty="0"/>
          </a:p>
        </p:txBody>
      </p:sp>
      <p:sp>
        <p:nvSpPr>
          <p:cNvPr id="8" name="Shape 5"/>
          <p:cNvSpPr/>
          <p:nvPr/>
        </p:nvSpPr>
        <p:spPr>
          <a:xfrm>
            <a:off x="457200" y="4343400"/>
            <a:ext cx="2377440" cy="1783080"/>
          </a:xfrm>
          <a:prstGeom prst="roundRect">
            <a:avLst>
              <a:gd name="adj" fmla="val 6154"/>
            </a:avLst>
          </a:prstGeom>
          <a:solidFill>
            <a:srgbClr val="F3F6FA"/>
          </a:solidFill>
          <a:ln w="12700">
            <a:solidFill>
              <a:srgbClr val="C9D3DE"/>
            </a:solidFill>
            <a:prstDash val="solid"/>
          </a:ln>
        </p:spPr>
      </p:sp>
      <p:sp>
        <p:nvSpPr>
          <p:cNvPr id="9" name="Text 6"/>
          <p:cNvSpPr txBox="1"/>
          <p:nvPr/>
        </p:nvSpPr>
        <p:spPr>
          <a:xfrm>
            <a:off x="594360" y="4453128"/>
            <a:ext cx="2103120" cy="891540"/>
          </a:xfrm>
          <a:prstGeom prst="rect">
            <a:avLst/>
          </a:prstGeom>
          <a:noFill/>
          <a:ln/>
        </p:spPr>
        <p:txBody>
          <a:bodyPr wrap="square" lIns="0" tIns="0" rIns="0" bIns="0" rtlCol="0" anchor="ctr"/>
          <a:lstStyle/>
          <a:p>
            <a:pPr algn="ctr" indent="0" marL="0">
              <a:buNone/>
            </a:pPr>
            <a:r>
              <a:rPr lang="en-US" sz="3400" b="1" dirty="0">
                <a:solidFill>
                  <a:srgbClr val="082A54"/>
                </a:solidFill>
                <a:latin typeface="Cambria" pitchFamily="34" charset="0"/>
                <a:ea typeface="Cambria" pitchFamily="34" charset="-122"/>
                <a:cs typeface="Cambria" pitchFamily="34" charset="-120"/>
              </a:rPr>
              <a:t>4 h</a:t>
            </a:r>
            <a:endParaRPr lang="en-US" sz="3400" dirty="0"/>
          </a:p>
        </p:txBody>
      </p:sp>
      <p:sp>
        <p:nvSpPr>
          <p:cNvPr id="10" name="Text 7"/>
          <p:cNvSpPr txBox="1"/>
          <p:nvPr/>
        </p:nvSpPr>
        <p:spPr>
          <a:xfrm>
            <a:off x="594360" y="5413248"/>
            <a:ext cx="2103120" cy="677570"/>
          </a:xfrm>
          <a:prstGeom prst="rect">
            <a:avLst/>
          </a:prstGeom>
          <a:noFill/>
          <a:ln/>
        </p:spPr>
        <p:txBody>
          <a:bodyPr wrap="square" lIns="0" tIns="0" rIns="0" bIns="0" rtlCol="0" anchor="t"/>
          <a:lstStyle/>
          <a:p>
            <a:pPr algn="ctr" indent="0" marL="0">
              <a:buNone/>
            </a:pPr>
            <a:r>
              <a:rPr lang="en-US" sz="1200" dirty="0">
                <a:solidFill>
                  <a:srgbClr val="5A6675"/>
                </a:solidFill>
                <a:latin typeface="Calibri" pitchFamily="34" charset="0"/>
                <a:ea typeface="Calibri" pitchFamily="34" charset="-122"/>
                <a:cs typeface="Calibri" pitchFamily="34" charset="-120"/>
              </a:rPr>
              <a:t>process time — the time anyone is actually working on it</a:t>
            </a:r>
            <a:endParaRPr lang="en-US" sz="1200" dirty="0"/>
          </a:p>
        </p:txBody>
      </p:sp>
      <p:sp>
        <p:nvSpPr>
          <p:cNvPr id="11" name="Shape 8"/>
          <p:cNvSpPr/>
          <p:nvPr/>
        </p:nvSpPr>
        <p:spPr>
          <a:xfrm>
            <a:off x="3017520" y="4343400"/>
            <a:ext cx="2377440" cy="1783080"/>
          </a:xfrm>
          <a:prstGeom prst="roundRect">
            <a:avLst>
              <a:gd name="adj" fmla="val 6154"/>
            </a:avLst>
          </a:prstGeom>
          <a:solidFill>
            <a:srgbClr val="F3F6FA"/>
          </a:solidFill>
          <a:ln w="12700">
            <a:solidFill>
              <a:srgbClr val="C9D3DE"/>
            </a:solidFill>
            <a:prstDash val="solid"/>
          </a:ln>
        </p:spPr>
      </p:sp>
      <p:sp>
        <p:nvSpPr>
          <p:cNvPr id="12" name="Text 9"/>
          <p:cNvSpPr txBox="1"/>
          <p:nvPr/>
        </p:nvSpPr>
        <p:spPr>
          <a:xfrm>
            <a:off x="3154680" y="4453128"/>
            <a:ext cx="2103120" cy="891540"/>
          </a:xfrm>
          <a:prstGeom prst="rect">
            <a:avLst/>
          </a:prstGeom>
          <a:noFill/>
          <a:ln/>
        </p:spPr>
        <p:txBody>
          <a:bodyPr wrap="square" lIns="0" tIns="0" rIns="0" bIns="0" rtlCol="0" anchor="ctr"/>
          <a:lstStyle/>
          <a:p>
            <a:pPr algn="ctr" indent="0" marL="0">
              <a:buNone/>
            </a:pPr>
            <a:r>
              <a:rPr lang="en-US" sz="3400" b="1" dirty="0">
                <a:solidFill>
                  <a:srgbClr val="082A54"/>
                </a:solidFill>
                <a:latin typeface="Cambria" pitchFamily="34" charset="0"/>
                <a:ea typeface="Cambria" pitchFamily="34" charset="-122"/>
                <a:cs typeface="Cambria" pitchFamily="34" charset="-120"/>
              </a:rPr>
              <a:t>15 days</a:t>
            </a:r>
            <a:endParaRPr lang="en-US" sz="3400" dirty="0"/>
          </a:p>
        </p:txBody>
      </p:sp>
      <p:sp>
        <p:nvSpPr>
          <p:cNvPr id="13" name="Text 10"/>
          <p:cNvSpPr txBox="1"/>
          <p:nvPr/>
        </p:nvSpPr>
        <p:spPr>
          <a:xfrm>
            <a:off x="3154680" y="5413248"/>
            <a:ext cx="2103120" cy="677570"/>
          </a:xfrm>
          <a:prstGeom prst="rect">
            <a:avLst/>
          </a:prstGeom>
          <a:noFill/>
          <a:ln/>
        </p:spPr>
        <p:txBody>
          <a:bodyPr wrap="square" lIns="0" tIns="0" rIns="0" bIns="0" rtlCol="0" anchor="t"/>
          <a:lstStyle/>
          <a:p>
            <a:pPr algn="ctr" indent="0" marL="0">
              <a:buNone/>
            </a:pPr>
            <a:r>
              <a:rPr lang="en-US" sz="1200" dirty="0">
                <a:solidFill>
                  <a:srgbClr val="5A6675"/>
                </a:solidFill>
                <a:latin typeface="Calibri" pitchFamily="34" charset="0"/>
                <a:ea typeface="Calibri" pitchFamily="34" charset="-122"/>
                <a:cs typeface="Calibri" pitchFamily="34" charset="-120"/>
              </a:rPr>
              <a:t>lead time — elapsed, first step to last</a:t>
            </a:r>
            <a:endParaRPr lang="en-US" sz="1200" dirty="0"/>
          </a:p>
        </p:txBody>
      </p:sp>
      <p:sp>
        <p:nvSpPr>
          <p:cNvPr id="14" name="Shape 11"/>
          <p:cNvSpPr/>
          <p:nvPr/>
        </p:nvSpPr>
        <p:spPr>
          <a:xfrm>
            <a:off x="5577840" y="4343400"/>
            <a:ext cx="2377440" cy="1783080"/>
          </a:xfrm>
          <a:prstGeom prst="roundRect">
            <a:avLst>
              <a:gd name="adj" fmla="val 6154"/>
            </a:avLst>
          </a:prstGeom>
          <a:solidFill>
            <a:srgbClr val="F3F6FA"/>
          </a:solidFill>
          <a:ln w="12700">
            <a:solidFill>
              <a:srgbClr val="C9D3DE"/>
            </a:solidFill>
            <a:prstDash val="solid"/>
          </a:ln>
        </p:spPr>
      </p:sp>
      <p:sp>
        <p:nvSpPr>
          <p:cNvPr id="15" name="Text 12"/>
          <p:cNvSpPr txBox="1"/>
          <p:nvPr/>
        </p:nvSpPr>
        <p:spPr>
          <a:xfrm>
            <a:off x="5715000" y="4453128"/>
            <a:ext cx="2103120" cy="891540"/>
          </a:xfrm>
          <a:prstGeom prst="rect">
            <a:avLst/>
          </a:prstGeom>
          <a:noFill/>
          <a:ln/>
        </p:spPr>
        <p:txBody>
          <a:bodyPr wrap="square" lIns="0" tIns="0" rIns="0" bIns="0" rtlCol="0" anchor="ctr"/>
          <a:lstStyle/>
          <a:p>
            <a:pPr algn="ctr" indent="0" marL="0">
              <a:buNone/>
            </a:pPr>
            <a:r>
              <a:rPr lang="en-US" sz="3400" b="1" dirty="0">
                <a:solidFill>
                  <a:srgbClr val="C59221"/>
                </a:solidFill>
                <a:latin typeface="Cambria" pitchFamily="34" charset="0"/>
                <a:ea typeface="Cambria" pitchFamily="34" charset="-122"/>
                <a:cs typeface="Cambria" pitchFamily="34" charset="-120"/>
              </a:rPr>
              <a:t>3.3%</a:t>
            </a:r>
            <a:endParaRPr lang="en-US" sz="3400" dirty="0"/>
          </a:p>
        </p:txBody>
      </p:sp>
      <p:sp>
        <p:nvSpPr>
          <p:cNvPr id="16" name="Text 13"/>
          <p:cNvSpPr txBox="1"/>
          <p:nvPr/>
        </p:nvSpPr>
        <p:spPr>
          <a:xfrm>
            <a:off x="5715000" y="5413248"/>
            <a:ext cx="2103120" cy="677570"/>
          </a:xfrm>
          <a:prstGeom prst="rect">
            <a:avLst/>
          </a:prstGeom>
          <a:noFill/>
          <a:ln/>
        </p:spPr>
        <p:txBody>
          <a:bodyPr wrap="square" lIns="0" tIns="0" rIns="0" bIns="0" rtlCol="0" anchor="t"/>
          <a:lstStyle/>
          <a:p>
            <a:pPr algn="ctr" indent="0" marL="0">
              <a:buNone/>
            </a:pPr>
            <a:r>
              <a:rPr lang="en-US" sz="1200" dirty="0">
                <a:solidFill>
                  <a:srgbClr val="5A6675"/>
                </a:solidFill>
                <a:latin typeface="Calibri" pitchFamily="34" charset="0"/>
                <a:ea typeface="Calibri" pitchFamily="34" charset="-122"/>
                <a:cs typeface="Calibri" pitchFamily="34" charset="-120"/>
              </a:rPr>
              <a:t>flow efficiency — typically 2–10% in administrative processes</a:t>
            </a:r>
            <a:endParaRPr lang="en-US" sz="1200" dirty="0"/>
          </a:p>
        </p:txBody>
      </p:sp>
      <p:sp>
        <p:nvSpPr>
          <p:cNvPr id="17" name="Shape 14"/>
          <p:cNvSpPr/>
          <p:nvPr/>
        </p:nvSpPr>
        <p:spPr>
          <a:xfrm>
            <a:off x="8229600" y="4343400"/>
            <a:ext cx="3502152" cy="1783080"/>
          </a:xfrm>
          <a:prstGeom prst="roundRect">
            <a:avLst>
              <a:gd name="adj" fmla="val 6154"/>
            </a:avLst>
          </a:prstGeom>
          <a:solidFill>
            <a:srgbClr val="F3F6FA"/>
          </a:solidFill>
          <a:ln w="15875">
            <a:solidFill>
              <a:srgbClr val="4A7DBA"/>
            </a:solidFill>
            <a:prstDash val="solid"/>
          </a:ln>
        </p:spPr>
      </p:sp>
      <p:sp>
        <p:nvSpPr>
          <p:cNvPr id="18" name="Text 15"/>
          <p:cNvSpPr txBox="1"/>
          <p:nvPr/>
        </p:nvSpPr>
        <p:spPr>
          <a:xfrm>
            <a:off x="8430768" y="4507992"/>
            <a:ext cx="309981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Current state, then future state</a:t>
            </a:r>
            <a:endParaRPr lang="en-US" sz="1600" dirty="0"/>
          </a:p>
        </p:txBody>
      </p:sp>
      <p:sp>
        <p:nvSpPr>
          <p:cNvPr id="19" name="Text 16"/>
          <p:cNvSpPr txBox="1"/>
          <p:nvPr/>
        </p:nvSpPr>
        <p:spPr>
          <a:xfrm>
            <a:off x="8430768" y="4928616"/>
            <a:ext cx="3099816" cy="1060704"/>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A1A1A"/>
                </a:solidFill>
                <a:latin typeface="Calibri" pitchFamily="34" charset="0"/>
                <a:ea typeface="Calibri" pitchFamily="34" charset="-122"/>
                <a:cs typeface="Calibri" pitchFamily="34" charset="-120"/>
              </a:rPr>
              <a:t>Every difference between the two maps must be attributable to a named change with an owner. A future state nobody can trace to interventions is a wish drawn in boxes.</a:t>
            </a:r>
            <a:endParaRPr lang="en-US" sz="11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MAP THE STREAM, NOT THE DELIVERABLE</a:t>
            </a:r>
            <a:endParaRPr lang="en-US" sz="2200" dirty="0"/>
          </a:p>
        </p:txBody>
      </p:sp>
      <p:sp>
        <p:nvSpPr>
          <p:cNvPr id="3" name="Shape 1"/>
          <p:cNvSpPr/>
          <p:nvPr/>
        </p:nvSpPr>
        <p:spPr>
          <a:xfrm>
            <a:off x="457200" y="1005840"/>
            <a:ext cx="11277295" cy="3017520"/>
          </a:xfrm>
          <a:prstGeom prst="roundRect">
            <a:avLst>
              <a:gd name="adj" fmla="val 3636"/>
            </a:avLst>
          </a:prstGeom>
          <a:solidFill>
            <a:srgbClr val="F3F6FA"/>
          </a:solidFill>
          <a:ln w="15875">
            <a:solidFill>
              <a:srgbClr val="4A7DBA"/>
            </a:solidFill>
            <a:prstDash val="solid"/>
          </a:ln>
        </p:spPr>
      </p:sp>
      <p:sp>
        <p:nvSpPr>
          <p:cNvPr id="4" name="Text 2"/>
          <p:cNvSpPr txBox="1"/>
          <p:nvPr/>
        </p:nvSpPr>
        <p:spPr>
          <a:xfrm>
            <a:off x="658368" y="113385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5" name="Text 3"/>
          <p:cNvSpPr txBox="1"/>
          <p:nvPr/>
        </p:nvSpPr>
        <p:spPr>
          <a:xfrm>
            <a:off x="658368" y="1444752"/>
            <a:ext cx="1188720" cy="474227"/>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6" name="Text 4"/>
          <p:cNvSpPr txBox="1"/>
          <p:nvPr/>
        </p:nvSpPr>
        <p:spPr>
          <a:xfrm>
            <a:off x="1874520" y="1444752"/>
            <a:ext cx="9631375" cy="474227"/>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The elapsed time lives in the handoffs around the work, not in the work.</a:t>
            </a:r>
            <a:endParaRPr lang="en-US" sz="1250" dirty="0"/>
          </a:p>
        </p:txBody>
      </p:sp>
      <p:sp>
        <p:nvSpPr>
          <p:cNvPr id="7" name="Text 5"/>
          <p:cNvSpPr txBox="1"/>
          <p:nvPr/>
        </p:nvSpPr>
        <p:spPr>
          <a:xfrm>
            <a:off x="658368" y="1992131"/>
            <a:ext cx="1188720" cy="1109892"/>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8" name="Text 6"/>
          <p:cNvSpPr txBox="1"/>
          <p:nvPr/>
        </p:nvSpPr>
        <p:spPr>
          <a:xfrm>
            <a:off x="1874520" y="1992131"/>
            <a:ext cx="9631375" cy="1109892"/>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The streams worth mapping are the administrative ones: change request to approved change, invoice to payment, defect reported to defect closed. They repeat, they can be timed, and they are where lead time accumulates. The characteristic finding is Figure 1 — four hours across fifteen days, the days sitting in two approval queues that exist because of an authority limit nobody has revisited since it was set.</a:t>
            </a:r>
            <a:endParaRPr lang="en-US" sz="1250" dirty="0"/>
          </a:p>
        </p:txBody>
      </p:sp>
      <p:sp>
        <p:nvSpPr>
          <p:cNvPr id="9" name="Text 7"/>
          <p:cNvSpPr txBox="1"/>
          <p:nvPr/>
        </p:nvSpPr>
        <p:spPr>
          <a:xfrm>
            <a:off x="658368" y="3175175"/>
            <a:ext cx="1188720" cy="756745"/>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0" name="Text 8"/>
          <p:cNvSpPr txBox="1"/>
          <p:nvPr/>
        </p:nvSpPr>
        <p:spPr>
          <a:xfrm>
            <a:off x="1874520" y="3175175"/>
            <a:ext cx="9631375" cy="756745"/>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Pick one of the three. Walk it with the people who perform each step, not from the procedure. Write two numbers on one line: hours worked, days elapsed. The ratio is the conversation.</a:t>
            </a:r>
            <a:endParaRPr lang="en-US" sz="1250" dirty="0"/>
          </a:p>
        </p:txBody>
      </p:sp>
      <p:sp>
        <p:nvSpPr>
          <p:cNvPr id="11" name="Shape 9"/>
          <p:cNvSpPr/>
          <p:nvPr/>
        </p:nvSpPr>
        <p:spPr>
          <a:xfrm>
            <a:off x="457200" y="4251960"/>
            <a:ext cx="11277295" cy="914400"/>
          </a:xfrm>
          <a:prstGeom prst="roundRect">
            <a:avLst>
              <a:gd name="adj" fmla="val 12000"/>
            </a:avLst>
          </a:prstGeom>
          <a:solidFill>
            <a:srgbClr val="FBF3E0"/>
          </a:solidFill>
          <a:ln w="15875">
            <a:solidFill>
              <a:srgbClr val="C59221"/>
            </a:solidFill>
            <a:prstDash val="solid"/>
          </a:ln>
        </p:spPr>
      </p:sp>
      <p:sp>
        <p:nvSpPr>
          <p:cNvPr id="12" name="Text 10"/>
          <p:cNvSpPr txBox="1"/>
          <p:nvPr/>
        </p:nvSpPr>
        <p:spPr>
          <a:xfrm>
            <a:off x="658368" y="4343400"/>
            <a:ext cx="10874959" cy="731520"/>
          </a:xfrm>
          <a:prstGeom prst="rect">
            <a:avLst/>
          </a:prstGeom>
          <a:noFill/>
          <a:ln/>
        </p:spPr>
        <p:txBody>
          <a:bodyPr wrap="square" lIns="0" tIns="0" rIns="0" bIns="0" rtlCol="0" anchor="ctr"/>
          <a:lstStyle/>
          <a:p>
            <a:pPr indent="0" marL="0">
              <a:lnSpc>
                <a:spcPct val="112000"/>
              </a:lnSpc>
              <a:buNone/>
            </a:pPr>
            <a:r>
              <a:rPr lang="en-US" sz="1450" b="1" dirty="0">
                <a:solidFill>
                  <a:srgbClr val="082A54"/>
                </a:solidFill>
                <a:latin typeface="Calibri" pitchFamily="34" charset="0"/>
                <a:ea typeface="Calibri" pitchFamily="34" charset="-122"/>
                <a:cs typeface="Calibri" pitchFamily="34" charset="-120"/>
              </a:rPr>
              <a:t>A map is drawn by walking the process, not by assembling it from what people say in a meeting — which is why the first draft almost always contradicts the official procedure.</a:t>
            </a:r>
            <a:endParaRPr lang="en-US" sz="1450" dirty="0"/>
          </a:p>
        </p:txBody>
      </p:sp>
      <p:sp>
        <p:nvSpPr>
          <p:cNvPr id="13" name="Shape 11"/>
          <p:cNvSpPr/>
          <p:nvPr/>
        </p:nvSpPr>
        <p:spPr>
          <a:xfrm>
            <a:off x="457200" y="5349240"/>
            <a:ext cx="11277295" cy="914400"/>
          </a:xfrm>
          <a:prstGeom prst="roundRect">
            <a:avLst>
              <a:gd name="adj" fmla="val 12000"/>
            </a:avLst>
          </a:prstGeom>
          <a:solidFill>
            <a:srgbClr val="F3F6FA"/>
          </a:solidFill>
          <a:ln w="15875">
            <a:solidFill>
              <a:srgbClr val="4A7DBA"/>
            </a:solidFill>
            <a:prstDash val="solid"/>
          </a:ln>
        </p:spPr>
      </p:sp>
      <p:sp>
        <p:nvSpPr>
          <p:cNvPr id="14" name="Text 12"/>
          <p:cNvSpPr txBox="1"/>
          <p:nvPr/>
        </p:nvSpPr>
        <p:spPr>
          <a:xfrm>
            <a:off x="658368" y="5440680"/>
            <a:ext cx="10874959" cy="731520"/>
          </a:xfrm>
          <a:prstGeom prst="rect">
            <a:avLst/>
          </a:prstGeom>
          <a:noFill/>
          <a:ln/>
        </p:spPr>
        <p:txBody>
          <a:bodyPr wrap="square" lIns="0" tIns="0" rIns="0" bIns="0" rtlCol="0" anchor="ctr"/>
          <a:lstStyle/>
          <a:p>
            <a:pPr indent="0" marL="0">
              <a:lnSpc>
                <a:spcPct val="112000"/>
              </a:lnSpc>
              <a:buNone/>
            </a:pPr>
            <a:r>
              <a:rPr lang="en-US" sz="1400" dirty="0">
                <a:solidFill>
                  <a:srgbClr val="1A1A1A"/>
                </a:solidFill>
                <a:latin typeface="Calibri" pitchFamily="34" charset="0"/>
                <a:ea typeface="Calibri" pitchFamily="34" charset="-122"/>
                <a:cs typeface="Calibri" pitchFamily="34" charset="-120"/>
              </a:rPr>
              <a:t>One more figure per step: the share of items arriving complete and accurate. A chain of steps each at 90% does not deliver 90% — the arithmetic is in Part Four.</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Four</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FOUR</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The efficiency paradox</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Lean is routinely introduced as “doing more with less”. Taken literally, that is the definition of the thing lean exists to correct.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RESOURCE EFFICIENCY VERSUS FLOW EFFICIENCY</a:t>
            </a:r>
            <a:endParaRPr lang="en-US" sz="2200" dirty="0"/>
          </a:p>
        </p:txBody>
      </p:sp>
      <p:sp>
        <p:nvSpPr>
          <p:cNvPr id="3" name="Shape 1"/>
          <p:cNvSpPr/>
          <p:nvPr/>
        </p:nvSpPr>
        <p:spPr>
          <a:xfrm>
            <a:off x="457200" y="1005840"/>
            <a:ext cx="5532120" cy="2377440"/>
          </a:xfrm>
          <a:prstGeom prst="roundRect">
            <a:avLst>
              <a:gd name="adj" fmla="val 4615"/>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Resource efficiency</a:t>
            </a:r>
            <a:endParaRPr lang="en-US" sz="1800" dirty="0"/>
          </a:p>
        </p:txBody>
      </p:sp>
      <p:sp>
        <p:nvSpPr>
          <p:cNvPr id="5" name="Text 3"/>
          <p:cNvSpPr txBox="1"/>
          <p:nvPr/>
        </p:nvSpPr>
        <p:spPr>
          <a:xfrm>
            <a:off x="658368" y="1591056"/>
            <a:ext cx="5129784" cy="165506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Keep every person and every machine busy</a:t>
            </a:r>
            <a:endParaRPr lang="en-US" sz="1400" dirty="0"/>
          </a:p>
          <a:p>
            <a:pPr marL="342900" indent="-342900">
              <a:lnSpc>
                <a:spcPct val="112000"/>
              </a:lnSpc>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Optimises what cost accounting measures — which is why organisations default to it</a:t>
            </a:r>
            <a:endParaRPr lang="en-US" sz="1400" dirty="0"/>
          </a:p>
          <a:p>
            <a:pPr marL="342900" indent="-342900">
              <a:lnSpc>
                <a:spcPct val="112000"/>
              </a:lnSpc>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Generates queues, rework and expediting; destroys performance globally while every local unit looks efficient</a:t>
            </a:r>
            <a:endParaRPr lang="en-US" sz="1400" dirty="0"/>
          </a:p>
        </p:txBody>
      </p:sp>
      <p:sp>
        <p:nvSpPr>
          <p:cNvPr id="6" name="Shape 4"/>
          <p:cNvSpPr/>
          <p:nvPr/>
        </p:nvSpPr>
        <p:spPr>
          <a:xfrm>
            <a:off x="6217920" y="1005840"/>
            <a:ext cx="5532120" cy="2377440"/>
          </a:xfrm>
          <a:prstGeom prst="roundRect">
            <a:avLst>
              <a:gd name="adj" fmla="val 4615"/>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Flow efficiency</a:t>
            </a:r>
            <a:endParaRPr lang="en-US" sz="1800" dirty="0"/>
          </a:p>
        </p:txBody>
      </p:sp>
      <p:sp>
        <p:nvSpPr>
          <p:cNvPr id="8" name="Text 6"/>
          <p:cNvSpPr txBox="1"/>
          <p:nvPr/>
        </p:nvSpPr>
        <p:spPr>
          <a:xfrm>
            <a:off x="6419088" y="1591056"/>
            <a:ext cx="5129784" cy="165506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Optimise the unit's journey through the system — it measures the order, not the resource</a:t>
            </a:r>
            <a:endParaRPr lang="en-US" sz="1400" dirty="0"/>
          </a:p>
          <a:p>
            <a:pPr marL="342900" indent="-342900">
              <a:lnSpc>
                <a:spcPct val="112000"/>
              </a:lnSpc>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Process time over lead time: the ratio the value stream map was built to produce</a:t>
            </a:r>
            <a:endParaRPr lang="en-US" sz="1400" dirty="0"/>
          </a:p>
          <a:p>
            <a:pPr marL="342900" indent="-342900">
              <a:lnSpc>
                <a:spcPct val="112000"/>
              </a:lnSpc>
              <a:spcAft>
                <a:spcPts val="400"/>
              </a:spcAft>
              <a:buSzPct val="100000"/>
              <a:buChar char="•"/>
            </a:pPr>
            <a:r>
              <a:rPr lang="en-US" sz="1400" dirty="0">
                <a:solidFill>
                  <a:srgbClr val="1A1A1A"/>
                </a:solidFill>
                <a:latin typeface="Calibri" pitchFamily="34" charset="0"/>
                <a:ea typeface="Calibri" pitchFamily="34" charset="-122"/>
                <a:cs typeface="Calibri" pitchFamily="34" charset="-120"/>
              </a:rPr>
              <a:t>Usually improves both once queues collapse — and almost nobody reports it</a:t>
            </a:r>
            <a:endParaRPr lang="en-US" sz="1400" dirty="0"/>
          </a:p>
        </p:txBody>
      </p:sp>
      <p:sp>
        <p:nvSpPr>
          <p:cNvPr id="9" name="Shape 7"/>
          <p:cNvSpPr/>
          <p:nvPr/>
        </p:nvSpPr>
        <p:spPr>
          <a:xfrm>
            <a:off x="457200" y="3566160"/>
            <a:ext cx="5532120" cy="2697480"/>
          </a:xfrm>
          <a:prstGeom prst="roundRect">
            <a:avLst>
              <a:gd name="adj" fmla="val 4068"/>
            </a:avLst>
          </a:prstGeom>
          <a:solidFill>
            <a:srgbClr val="FFFFFF"/>
          </a:solidFill>
          <a:ln w="15875">
            <a:solidFill>
              <a:srgbClr val="4A7DBA"/>
            </a:solidFill>
            <a:prstDash val="solid"/>
          </a:ln>
        </p:spPr>
      </p:sp>
      <p:sp>
        <p:nvSpPr>
          <p:cNvPr id="10" name="Text 8"/>
          <p:cNvSpPr txBox="1"/>
          <p:nvPr/>
        </p:nvSpPr>
        <p:spPr>
          <a:xfrm>
            <a:off x="658368" y="373075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physics of lead time</a:t>
            </a:r>
            <a:endParaRPr lang="en-US" sz="1600" dirty="0"/>
          </a:p>
        </p:txBody>
      </p:sp>
      <p:sp>
        <p:nvSpPr>
          <p:cNvPr id="11" name="Text 9"/>
          <p:cNvSpPr txBox="1"/>
          <p:nvPr/>
        </p:nvSpPr>
        <p:spPr>
          <a:xfrm>
            <a:off x="658368" y="4151376"/>
            <a:ext cx="5129784" cy="197510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As utilisation rises toward 100%, queue time rises towards infinity. The curve is flat until roughly 80% and then climbs violently.</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Raising utilisation does not raise the system's output. It raises the queue in front of the system.</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The instinct to keep every resource busy is the direct mechanical cause of the inventory it was meant to avoid.</a:t>
            </a:r>
            <a:endParaRPr lang="en-US" sz="1300" dirty="0"/>
          </a:p>
        </p:txBody>
      </p:sp>
      <p:sp>
        <p:nvSpPr>
          <p:cNvPr id="12" name="Shape 10"/>
          <p:cNvSpPr/>
          <p:nvPr/>
        </p:nvSpPr>
        <p:spPr>
          <a:xfrm>
            <a:off x="6217920" y="3566160"/>
            <a:ext cx="5532120" cy="2697480"/>
          </a:xfrm>
          <a:prstGeom prst="roundRect">
            <a:avLst>
              <a:gd name="adj" fmla="val 4068"/>
            </a:avLst>
          </a:prstGeom>
          <a:solidFill>
            <a:srgbClr val="FBF3E0"/>
          </a:solidFill>
          <a:ln w="15875">
            <a:solidFill>
              <a:srgbClr val="C59221"/>
            </a:solidFill>
            <a:prstDash val="solid"/>
          </a:ln>
        </p:spPr>
      </p:sp>
      <p:sp>
        <p:nvSpPr>
          <p:cNvPr id="13" name="Text 11"/>
          <p:cNvSpPr txBox="1"/>
          <p:nvPr/>
        </p:nvSpPr>
        <p:spPr>
          <a:xfrm>
            <a:off x="6419088" y="3657600"/>
            <a:ext cx="5129784" cy="2514600"/>
          </a:xfrm>
          <a:prstGeom prst="rect">
            <a:avLst/>
          </a:prstGeom>
          <a:noFill/>
          <a:ln/>
        </p:spPr>
        <p:txBody>
          <a:bodyPr wrap="square" lIns="0" tIns="0" rIns="0" bIns="0" rtlCol="0" anchor="ctr"/>
          <a:lstStyle/>
          <a:p>
            <a:pPr indent="0" marL="0">
              <a:lnSpc>
                <a:spcPct val="112000"/>
              </a:lnSpc>
              <a:buNone/>
            </a:pPr>
            <a:r>
              <a:rPr lang="en-US" sz="1500" dirty="0">
                <a:solidFill>
                  <a:srgbClr val="082A54"/>
                </a:solidFill>
                <a:latin typeface="Calibri" pitchFamily="34" charset="0"/>
                <a:ea typeface="Calibri" pitchFamily="34" charset="-122"/>
                <a:cs typeface="Calibri" pitchFamily="34" charset="-120"/>
              </a:rPr>
              <a:t>The sentence worth memorising</a:t>
            </a:r>
            <a:endParaRPr lang="en-US" sz="1500" dirty="0"/>
          </a:p>
          <a:p>
            <a:pPr indent="0" marL="0">
              <a:lnSpc>
                <a:spcPct val="112000"/>
              </a:lnSpc>
              <a:buNone/>
            </a:pPr>
            <a:endParaRPr lang="en-US" sz="1500" dirty="0"/>
          </a:p>
          <a:p>
            <a:pPr indent="0" marL="0">
              <a:lnSpc>
                <a:spcPct val="112000"/>
              </a:lnSpc>
              <a:buNone/>
            </a:pPr>
            <a:r>
              <a:rPr lang="en-US" sz="1500" dirty="0">
                <a:solidFill>
                  <a:srgbClr val="082A54"/>
                </a:solidFill>
                <a:latin typeface="Calibri" pitchFamily="34" charset="0"/>
                <a:ea typeface="Calibri" pitchFamily="34" charset="-122"/>
                <a:cs typeface="Calibri" pitchFamily="34" charset="-120"/>
              </a:rPr>
              <a:t>Variability must be absorbed by inventory, by capacity, or by time. Every organisation chooses one — usually without deciding to. Only one of the three is invisible in the P&amp;L, which is why it is the one most organisations choose by default.</a:t>
            </a:r>
            <a:endParaRPr lang="en-US" sz="15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EFFICIENCY MATRIX</a:t>
            </a:r>
            <a:endParaRPr lang="en-US" sz="2200" dirty="0"/>
          </a:p>
        </p:txBody>
      </p:sp>
      <p:pic>
        <p:nvPicPr>
          <p:cNvPr id="3" name="Image 0" descr="/tmp/claude-0/-home-claude/53ac155d-5147-5504-9aa7-9159f9d0a9f7/scratchpad/deck/figs/s1-fig2.png">    </p:cNvPr>
          <p:cNvPicPr>
            <a:picLocks noChangeAspect="1"/>
          </p:cNvPicPr>
          <p:nvPr/>
        </p:nvPicPr>
        <p:blipFill>
          <a:blip r:embed="rId1"/>
          <a:stretch>
            <a:fillRect/>
          </a:stretch>
        </p:blipFill>
        <p:spPr>
          <a:xfrm>
            <a:off x="457200" y="914400"/>
            <a:ext cx="6766560" cy="4982167"/>
          </a:xfrm>
          <a:prstGeom prst="rect">
            <a:avLst/>
          </a:prstGeom>
        </p:spPr>
      </p:pic>
      <p:sp>
        <p:nvSpPr>
          <p:cNvPr id="4" name="Text 1"/>
          <p:cNvSpPr txBox="1"/>
          <p:nvPr/>
        </p:nvSpPr>
        <p:spPr>
          <a:xfrm>
            <a:off x="457200" y="5969719"/>
            <a:ext cx="6766560" cy="457200"/>
          </a:xfrm>
          <a:prstGeom prst="rect">
            <a:avLst/>
          </a:prstGeom>
          <a:noFill/>
          <a:ln/>
        </p:spPr>
        <p:txBody>
          <a:bodyPr wrap="square" lIns="0" tIns="0" rIns="0" bIns="0" rtlCol="0" anchor="t"/>
          <a:lstStyle/>
          <a:p>
            <a:pPr indent="0" marL="0">
              <a:buNone/>
            </a:pPr>
            <a:r>
              <a:rPr lang="en-US" sz="1100" i="1" dirty="0">
                <a:solidFill>
                  <a:srgbClr val="5A6675"/>
                </a:solidFill>
                <a:latin typeface="Calibri" pitchFamily="34" charset="0"/>
                <a:ea typeface="Calibri" pitchFamily="34" charset="-122"/>
                <a:cs typeface="Calibri" pitchFamily="34" charset="-120"/>
              </a:rPr>
              <a:t>Figure 2. After Modig &amp; Åhlström (2012).</a:t>
            </a:r>
            <a:endParaRPr lang="en-US" sz="1100" dirty="0"/>
          </a:p>
        </p:txBody>
      </p:sp>
      <p:sp>
        <p:nvSpPr>
          <p:cNvPr id="5" name="Shape 2"/>
          <p:cNvSpPr/>
          <p:nvPr/>
        </p:nvSpPr>
        <p:spPr>
          <a:xfrm>
            <a:off x="7498080" y="914400"/>
            <a:ext cx="4233672" cy="5120640"/>
          </a:xfrm>
          <a:prstGeom prst="roundRect">
            <a:avLst>
              <a:gd name="adj" fmla="val 2592"/>
            </a:avLst>
          </a:prstGeom>
          <a:solidFill>
            <a:srgbClr val="FFFFFF"/>
          </a:solidFill>
          <a:ln w="15875">
            <a:solidFill>
              <a:srgbClr val="4A7DBA"/>
            </a:solidFill>
            <a:prstDash val="solid"/>
          </a:ln>
        </p:spPr>
      </p:sp>
      <p:sp>
        <p:nvSpPr>
          <p:cNvPr id="6" name="Text 3"/>
          <p:cNvSpPr txBox="1"/>
          <p:nvPr/>
        </p:nvSpPr>
        <p:spPr>
          <a:xfrm>
            <a:off x="7699248" y="1078992"/>
            <a:ext cx="383133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How to read it</a:t>
            </a:r>
            <a:endParaRPr lang="en-US" sz="1600" dirty="0"/>
          </a:p>
        </p:txBody>
      </p:sp>
      <p:sp>
        <p:nvSpPr>
          <p:cNvPr id="7" name="Text 4"/>
          <p:cNvSpPr txBox="1"/>
          <p:nvPr/>
        </p:nvSpPr>
        <p:spPr>
          <a:xfrm>
            <a:off x="7699248" y="1499616"/>
            <a:ext cx="3831336" cy="439826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350" dirty="0">
                <a:solidFill>
                  <a:srgbClr val="1A1A1A"/>
                </a:solidFill>
                <a:latin typeface="Calibri" pitchFamily="34" charset="0"/>
                <a:ea typeface="Calibri" pitchFamily="34" charset="-122"/>
                <a:cs typeface="Calibri" pitchFamily="34" charset="-120"/>
              </a:rPr>
              <a:t>Resource efficiency and flow efficiency are not two names for the same thing.</a:t>
            </a:r>
            <a:endParaRPr lang="en-US" sz="1350" dirty="0"/>
          </a:p>
          <a:p>
            <a:pPr marL="342900" indent="-342900">
              <a:lnSpc>
                <a:spcPct val="112000"/>
              </a:lnSpc>
              <a:spcAft>
                <a:spcPts val="400"/>
              </a:spcAft>
              <a:buSzPct val="100000"/>
              <a:buChar char="•"/>
            </a:pPr>
            <a:r>
              <a:rPr lang="en-US" sz="1350" dirty="0">
                <a:solidFill>
                  <a:srgbClr val="1A1A1A"/>
                </a:solidFill>
                <a:latin typeface="Calibri" pitchFamily="34" charset="0"/>
                <a:ea typeface="Calibri" pitchFamily="34" charset="-122"/>
                <a:cs typeface="Calibri" pitchFamily="34" charset="-120"/>
              </a:rPr>
              <a:t>The curve is the reason they trade off: with variation at its current level, the combinations beyond the frontier cannot be bought with effort.</a:t>
            </a:r>
            <a:endParaRPr lang="en-US" sz="1350" dirty="0"/>
          </a:p>
          <a:p>
            <a:pPr marL="342900" indent="-342900">
              <a:lnSpc>
                <a:spcPct val="112000"/>
              </a:lnSpc>
              <a:spcAft>
                <a:spcPts val="400"/>
              </a:spcAft>
              <a:buSzPct val="100000"/>
              <a:buChar char="•"/>
            </a:pPr>
            <a:r>
              <a:rPr lang="en-US" sz="1350" dirty="0">
                <a:solidFill>
                  <a:srgbClr val="1A1A1A"/>
                </a:solidFill>
                <a:latin typeface="Calibri" pitchFamily="34" charset="0"/>
                <a:ea typeface="Calibri" pitchFamily="34" charset="-122"/>
                <a:cs typeface="Calibri" pitchFamily="34" charset="-120"/>
              </a:rPr>
              <a:t>Removing variation is what moves the frontier towards the corner where both are high.</a:t>
            </a:r>
            <a:endParaRPr lang="en-US" sz="1350" dirty="0"/>
          </a:p>
          <a:p>
            <a:pPr marL="342900" indent="-342900">
              <a:lnSpc>
                <a:spcPct val="112000"/>
              </a:lnSpc>
              <a:spcAft>
                <a:spcPts val="400"/>
              </a:spcAft>
              <a:buSzPct val="100000"/>
              <a:buChar char="•"/>
            </a:pPr>
            <a:r>
              <a:rPr lang="en-US" sz="1350" dirty="0">
                <a:solidFill>
                  <a:srgbClr val="1A1A1A"/>
                </a:solidFill>
                <a:latin typeface="Calibri" pitchFamily="34" charset="0"/>
                <a:ea typeface="Calibri" pitchFamily="34" charset="-122"/>
                <a:cs typeface="Calibri" pitchFamily="34" charset="-120"/>
              </a:rPr>
              <a:t>The figure is usually a shock the first time it is computed for a real process — and the shock is the point.</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OTHER HALF OF THE METHOD — VARIATION</a:t>
            </a:r>
            <a:endParaRPr lang="en-US" sz="2200" dirty="0"/>
          </a:p>
        </p:txBody>
      </p:sp>
      <p:sp>
        <p:nvSpPr>
          <p:cNvPr id="3" name="Text 1"/>
          <p:cNvSpPr txBox="1"/>
          <p:nvPr/>
        </p:nvSpPr>
        <p:spPr>
          <a:xfrm>
            <a:off x="457200" y="960120"/>
            <a:ext cx="11277295" cy="685800"/>
          </a:xfrm>
          <a:prstGeom prst="rect">
            <a:avLst/>
          </a:prstGeom>
          <a:noFill/>
          <a:ln/>
        </p:spPr>
        <p:txBody>
          <a:bodyPr wrap="square" lIns="0" tIns="0" rIns="0" bIns="0" rtlCol="0" anchor="t"/>
          <a:lstStyle/>
          <a:p>
            <a:pPr algn="l" indent="0" marL="0">
              <a:lnSpc>
                <a:spcPct val="115000"/>
              </a:lnSpc>
              <a:buNone/>
            </a:pPr>
            <a:r>
              <a:rPr lang="en-US" sz="1400" dirty="0">
                <a:solidFill>
                  <a:srgbClr val="1A1A1A"/>
                </a:solidFill>
                <a:latin typeface="Calibri" pitchFamily="34" charset="0"/>
                <a:ea typeface="Calibri" pitchFamily="34" charset="-122"/>
                <a:cs typeface="Calibri" pitchFamily="34" charset="-120"/>
              </a:rPr>
              <a:t>Lean attacks the time the work spends not being worked on. Six Sigma attacks the dispersion of the process — and dispersion is what makes lead time unpredictable. Two attacks on the same quantity, which is why the integration is more than a brand.</a:t>
            </a:r>
            <a:endParaRPr lang="en-US" sz="1400" dirty="0"/>
          </a:p>
        </p:txBody>
      </p:sp>
      <p:pic>
        <p:nvPicPr>
          <p:cNvPr id="4" name="Image 0" descr="/tmp/claude-0/-home-claude/53ac155d-5147-5504-9aa7-9159f9d0a9f7/scratchpad/deck/figs/s1-fig3.png">    </p:cNvPr>
          <p:cNvPicPr>
            <a:picLocks noChangeAspect="1"/>
          </p:cNvPicPr>
          <p:nvPr/>
        </p:nvPicPr>
        <p:blipFill>
          <a:blip r:embed="rId1"/>
          <a:stretch>
            <a:fillRect/>
          </a:stretch>
        </p:blipFill>
        <p:spPr>
          <a:xfrm>
            <a:off x="457200" y="1737360"/>
            <a:ext cx="6949440" cy="2640061"/>
          </a:xfrm>
          <a:prstGeom prst="rect">
            <a:avLst/>
          </a:prstGeom>
        </p:spPr>
      </p:pic>
      <p:sp>
        <p:nvSpPr>
          <p:cNvPr id="5" name="Text 2"/>
          <p:cNvSpPr txBox="1"/>
          <p:nvPr/>
        </p:nvSpPr>
        <p:spPr>
          <a:xfrm>
            <a:off x="457200" y="4450573"/>
            <a:ext cx="6949440" cy="457200"/>
          </a:xfrm>
          <a:prstGeom prst="rect">
            <a:avLst/>
          </a:prstGeom>
          <a:noFill/>
          <a:ln/>
        </p:spPr>
        <p:txBody>
          <a:bodyPr wrap="square" lIns="0" tIns="0" rIns="0" bIns="0" rtlCol="0" anchor="t"/>
          <a:lstStyle/>
          <a:p>
            <a:pPr indent="0" marL="0">
              <a:buNone/>
            </a:pPr>
            <a:r>
              <a:rPr lang="en-US" sz="1100" i="1" dirty="0">
                <a:solidFill>
                  <a:srgbClr val="5A6675"/>
                </a:solidFill>
                <a:latin typeface="Calibri" pitchFamily="34" charset="0"/>
                <a:ea typeface="Calibri" pitchFamily="34" charset="-122"/>
                <a:cs typeface="Calibri" pitchFamily="34" charset="-120"/>
              </a:rPr>
              <a:t>Figure 3. Twenty-four measurements; limits calculated from the process, not from the target. Two signals — everything else is noise.</a:t>
            </a:r>
            <a:endParaRPr lang="en-US" sz="1100" dirty="0"/>
          </a:p>
        </p:txBody>
      </p:sp>
      <p:sp>
        <p:nvSpPr>
          <p:cNvPr id="6" name="Shape 3"/>
          <p:cNvSpPr/>
          <p:nvPr/>
        </p:nvSpPr>
        <p:spPr>
          <a:xfrm>
            <a:off x="7680960" y="1737360"/>
            <a:ext cx="4050792" cy="1554480"/>
          </a:xfrm>
          <a:prstGeom prst="roundRect">
            <a:avLst>
              <a:gd name="adj" fmla="val 7059"/>
            </a:avLst>
          </a:prstGeom>
          <a:solidFill>
            <a:srgbClr val="FFFFFF"/>
          </a:solidFill>
          <a:ln w="15875">
            <a:solidFill>
              <a:srgbClr val="4A7DBA"/>
            </a:solidFill>
            <a:prstDash val="solid"/>
          </a:ln>
        </p:spPr>
      </p:sp>
      <p:sp>
        <p:nvSpPr>
          <p:cNvPr id="7" name="Text 4"/>
          <p:cNvSpPr txBox="1"/>
          <p:nvPr/>
        </p:nvSpPr>
        <p:spPr>
          <a:xfrm>
            <a:off x="7882128" y="1901952"/>
            <a:ext cx="36484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Common cause</a:t>
            </a:r>
            <a:endParaRPr lang="en-US" sz="1600" dirty="0"/>
          </a:p>
        </p:txBody>
      </p:sp>
      <p:sp>
        <p:nvSpPr>
          <p:cNvPr id="8" name="Text 5"/>
          <p:cNvSpPr txBox="1"/>
          <p:nvPr/>
        </p:nvSpPr>
        <p:spPr>
          <a:xfrm>
            <a:off x="7882128" y="2322576"/>
            <a:ext cx="3648456" cy="832104"/>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A1A1A"/>
                </a:solidFill>
                <a:latin typeface="Calibri" pitchFamily="34" charset="0"/>
                <a:ea typeface="Calibri" pitchFamily="34" charset="-122"/>
                <a:cs typeface="Calibri" pitchFamily="34" charset="-120"/>
              </a:rPr>
              <a:t>Inherent in the process as designed. Investigating individual cases will not reduce it: every case has a different story and none of the stories is the cause.</a:t>
            </a:r>
            <a:endParaRPr lang="en-US" sz="1150" dirty="0"/>
          </a:p>
        </p:txBody>
      </p:sp>
      <p:sp>
        <p:nvSpPr>
          <p:cNvPr id="9" name="Shape 6"/>
          <p:cNvSpPr/>
          <p:nvPr/>
        </p:nvSpPr>
        <p:spPr>
          <a:xfrm>
            <a:off x="7680960" y="3429000"/>
            <a:ext cx="4050792" cy="1554480"/>
          </a:xfrm>
          <a:prstGeom prst="roundRect">
            <a:avLst>
              <a:gd name="adj" fmla="val 7059"/>
            </a:avLst>
          </a:prstGeom>
          <a:solidFill>
            <a:srgbClr val="F3F6FA"/>
          </a:solidFill>
          <a:ln w="15875">
            <a:solidFill>
              <a:srgbClr val="4A7DBA"/>
            </a:solidFill>
            <a:prstDash val="solid"/>
          </a:ln>
        </p:spPr>
      </p:sp>
      <p:sp>
        <p:nvSpPr>
          <p:cNvPr id="10" name="Text 7"/>
          <p:cNvSpPr txBox="1"/>
          <p:nvPr/>
        </p:nvSpPr>
        <p:spPr>
          <a:xfrm>
            <a:off x="7882128" y="3593592"/>
            <a:ext cx="36484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Special cause</a:t>
            </a:r>
            <a:endParaRPr lang="en-US" sz="1600" dirty="0"/>
          </a:p>
        </p:txBody>
      </p:sp>
      <p:sp>
        <p:nvSpPr>
          <p:cNvPr id="11" name="Text 8"/>
          <p:cNvSpPr txBox="1"/>
          <p:nvPr/>
        </p:nvSpPr>
        <p:spPr>
          <a:xfrm>
            <a:off x="7882128" y="4014216"/>
            <a:ext cx="3648456" cy="832104"/>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A1A1A"/>
                </a:solidFill>
                <a:latin typeface="Calibri" pitchFamily="34" charset="0"/>
                <a:ea typeface="Calibri" pitchFamily="34" charset="-122"/>
                <a:cs typeface="Calibri" pitchFamily="34" charset="-120"/>
              </a:rPr>
              <a:t>Comes from something that was not there before. It can be found and removed. Shewhart's distinction governs everything that follows.</a:t>
            </a:r>
            <a:endParaRPr lang="en-US" sz="1150" dirty="0"/>
          </a:p>
        </p:txBody>
      </p:sp>
      <p:sp>
        <p:nvSpPr>
          <p:cNvPr id="12" name="Shape 9"/>
          <p:cNvSpPr/>
          <p:nvPr/>
        </p:nvSpPr>
        <p:spPr>
          <a:xfrm>
            <a:off x="457200" y="5166360"/>
            <a:ext cx="11277295" cy="1097280"/>
          </a:xfrm>
          <a:prstGeom prst="roundRect">
            <a:avLst>
              <a:gd name="adj" fmla="val 10000"/>
            </a:avLst>
          </a:prstGeom>
          <a:solidFill>
            <a:srgbClr val="FBF3E0"/>
          </a:solidFill>
          <a:ln w="15875">
            <a:solidFill>
              <a:srgbClr val="C59221"/>
            </a:solidFill>
            <a:prstDash val="solid"/>
          </a:ln>
        </p:spPr>
      </p:sp>
      <p:sp>
        <p:nvSpPr>
          <p:cNvPr id="13" name="Text 10"/>
          <p:cNvSpPr txBox="1"/>
          <p:nvPr/>
        </p:nvSpPr>
        <p:spPr>
          <a:xfrm>
            <a:off x="658368" y="5257800"/>
            <a:ext cx="10874959" cy="91440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Reacting to common-cause variation as though it were special cause makes the process worse: each reaction is an unplanned adjustment to a stable system. The monthly meeting that demands an explanation for every variance against target is this error institutionalised — and the single most common misuse of a performance dashboard.</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CAPABILITY — THE PROMISE IS THE SPREAD, NOT THE AVERAGE</a:t>
            </a:r>
            <a:endParaRPr lang="en-US" sz="2200" dirty="0"/>
          </a:p>
        </p:txBody>
      </p:sp>
      <p:sp>
        <p:nvSpPr>
          <p:cNvPr id="3" name="Shape 1"/>
          <p:cNvSpPr/>
          <p:nvPr/>
        </p:nvSpPr>
        <p:spPr>
          <a:xfrm>
            <a:off x="457200" y="960120"/>
            <a:ext cx="4572000" cy="1234440"/>
          </a:xfrm>
          <a:prstGeom prst="roundRect">
            <a:avLst>
              <a:gd name="adj" fmla="val 8889"/>
            </a:avLst>
          </a:prstGeom>
          <a:solidFill>
            <a:srgbClr val="082A54"/>
          </a:solidFill>
          <a:ln w="12700">
            <a:solidFill>
              <a:srgbClr val="082A54"/>
            </a:solidFill>
            <a:prstDash val="solid"/>
          </a:ln>
        </p:spPr>
      </p:sp>
      <p:sp>
        <p:nvSpPr>
          <p:cNvPr id="4" name="Text 2"/>
          <p:cNvSpPr txBox="1"/>
          <p:nvPr/>
        </p:nvSpPr>
        <p:spPr>
          <a:xfrm>
            <a:off x="640080" y="1069848"/>
            <a:ext cx="4206240" cy="715975"/>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Cp = (USL − LSL) / 6σ</a:t>
            </a:r>
            <a:endParaRPr lang="en-US" sz="3000" dirty="0"/>
          </a:p>
        </p:txBody>
      </p:sp>
      <p:sp>
        <p:nvSpPr>
          <p:cNvPr id="5" name="Text 3"/>
          <p:cNvSpPr txBox="1"/>
          <p:nvPr/>
        </p:nvSpPr>
        <p:spPr>
          <a:xfrm>
            <a:off x="640080" y="1725473"/>
            <a:ext cx="4206240" cy="419710"/>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the width the customer allows, over the width the process produces</a:t>
            </a:r>
            <a:endParaRPr lang="en-US" sz="1200" dirty="0"/>
          </a:p>
        </p:txBody>
      </p:sp>
      <p:sp>
        <p:nvSpPr>
          <p:cNvPr id="6" name="Text 4"/>
          <p:cNvSpPr txBox="1"/>
          <p:nvPr/>
        </p:nvSpPr>
        <p:spPr>
          <a:xfrm>
            <a:off x="457200" y="2377440"/>
            <a:ext cx="4572000" cy="3840480"/>
          </a:xfrm>
          <a:prstGeom prst="rect">
            <a:avLst/>
          </a:prstGeom>
          <a:noFill/>
          <a:ln/>
        </p:spPr>
        <p:txBody>
          <a:bodyPr wrap="square" lIns="0" tIns="0" rIns="0" bIns="0" rtlCol="0" anchor="t"/>
          <a:lstStyle/>
          <a:p>
            <a:pPr marL="342900" indent="-342900">
              <a:lnSpc>
                <a:spcPct val="112000"/>
              </a:lnSpc>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Cp assumes the process is centred. Cpk removes that assumption and is the one that matters: a process can be admirably narrow and reliably in the wrong place. Conventional threshold: Cpk ≥ 1.33.</a:t>
            </a:r>
            <a:endParaRPr lang="en-US" sz="1350" dirty="0"/>
          </a:p>
          <a:p>
            <a:pPr marL="342900" indent="-342900">
              <a:lnSpc>
                <a:spcPct val="112000"/>
              </a:lnSpc>
              <a:spcAft>
                <a:spcPts val="1000"/>
              </a:spcAft>
              <a:buSzPct val="100000"/>
              <a:buChar char="•"/>
            </a:pPr>
            <a:r>
              <a:rPr lang="en-US" sz="1350" dirty="0">
                <a:solidFill>
                  <a:srgbClr val="1A1A1A"/>
                </a:solidFill>
                <a:latin typeface="Calibri" pitchFamily="34" charset="0"/>
                <a:ea typeface="Calibri" pitchFamily="34" charset="-122"/>
                <a:cs typeface="Calibri" pitchFamily="34" charset="-120"/>
              </a:rPr>
              <a:t>In services and projects the tolerance is a promise: a response committed at 48 hours with an average of 30 and a spread reaching 90 breaks its promise regularly while reporting comfortable averages.</a:t>
            </a:r>
            <a:endParaRPr lang="en-US" sz="1350" dirty="0"/>
          </a:p>
        </p:txBody>
      </p:sp>
      <p:pic>
        <p:nvPicPr>
          <p:cNvPr id="7" name="Image 0" descr="/tmp/claude-0/-home-claude/53ac155d-5147-5504-9aa7-9159f9d0a9f7/scratchpad/deck/figs/s1-fig4.png">    </p:cNvPr>
          <p:cNvPicPr>
            <a:picLocks noChangeAspect="1"/>
          </p:cNvPicPr>
          <p:nvPr/>
        </p:nvPicPr>
        <p:blipFill>
          <a:blip r:embed="rId1"/>
          <a:stretch>
            <a:fillRect/>
          </a:stretch>
        </p:blipFill>
        <p:spPr>
          <a:xfrm>
            <a:off x="5303520" y="960120"/>
            <a:ext cx="6428232" cy="2332961"/>
          </a:xfrm>
          <a:prstGeom prst="rect">
            <a:avLst/>
          </a:prstGeom>
        </p:spPr>
      </p:pic>
      <p:sp>
        <p:nvSpPr>
          <p:cNvPr id="8" name="Text 5"/>
          <p:cNvSpPr txBox="1"/>
          <p:nvPr/>
        </p:nvSpPr>
        <p:spPr>
          <a:xfrm>
            <a:off x="5303520" y="3366233"/>
            <a:ext cx="6428232" cy="457200"/>
          </a:xfrm>
          <a:prstGeom prst="rect">
            <a:avLst/>
          </a:prstGeom>
          <a:noFill/>
          <a:ln/>
        </p:spPr>
        <p:txBody>
          <a:bodyPr wrap="square" lIns="0" tIns="0" rIns="0" bIns="0" rtlCol="0" anchor="t"/>
          <a:lstStyle/>
          <a:p>
            <a:pPr indent="0" marL="0">
              <a:buNone/>
            </a:pPr>
            <a:r>
              <a:rPr lang="en-US" sz="1100" i="1" dirty="0">
                <a:solidFill>
                  <a:srgbClr val="5A6675"/>
                </a:solidFill>
                <a:latin typeface="Calibri" pitchFamily="34" charset="0"/>
                <a:ea typeface="Calibri" pitchFamily="34" charset="-122"/>
                <a:cs typeface="Calibri" pitchFamily="34" charset="-120"/>
              </a:rPr>
              <a:t>Figure 4. Identical spread, opposite fates: only the centring changed. Cp is unmoved, Cpk halves, and the shaded tail is what the customer rejects.</a:t>
            </a:r>
            <a:endParaRPr lang="en-US" sz="1100" dirty="0"/>
          </a:p>
        </p:txBody>
      </p:sp>
      <p:sp>
        <p:nvSpPr>
          <p:cNvPr id="9" name="Shape 6"/>
          <p:cNvSpPr/>
          <p:nvPr/>
        </p:nvSpPr>
        <p:spPr>
          <a:xfrm>
            <a:off x="5303520" y="4480560"/>
            <a:ext cx="6428232" cy="1737360"/>
          </a:xfrm>
          <a:prstGeom prst="roundRect">
            <a:avLst>
              <a:gd name="adj" fmla="val 6316"/>
            </a:avLst>
          </a:prstGeom>
          <a:solidFill>
            <a:srgbClr val="FBF3E0"/>
          </a:solidFill>
          <a:ln w="15875">
            <a:solidFill>
              <a:srgbClr val="C59221"/>
            </a:solidFill>
            <a:prstDash val="solid"/>
          </a:ln>
        </p:spPr>
      </p:sp>
      <p:sp>
        <p:nvSpPr>
          <p:cNvPr id="10" name="Text 7"/>
          <p:cNvSpPr txBox="1"/>
          <p:nvPr/>
        </p:nvSpPr>
        <p:spPr>
          <a:xfrm>
            <a:off x="5504688" y="4572000"/>
            <a:ext cx="6025896" cy="1554480"/>
          </a:xfrm>
          <a:prstGeom prst="rect">
            <a:avLst/>
          </a:prstGeom>
          <a:noFill/>
          <a:ln/>
        </p:spPr>
        <p:txBody>
          <a:bodyPr wrap="square" lIns="0" tIns="0" rIns="0" bIns="0" rtlCol="0" anchor="ctr"/>
          <a:lstStyle/>
          <a:p>
            <a:pPr indent="0" marL="0">
              <a:lnSpc>
                <a:spcPct val="112000"/>
              </a:lnSpc>
              <a:buNone/>
            </a:pPr>
            <a:r>
              <a:rPr lang="en-US" sz="1500" b="1" dirty="0">
                <a:solidFill>
                  <a:srgbClr val="082A54"/>
                </a:solidFill>
                <a:latin typeface="Calibri" pitchFamily="34" charset="0"/>
                <a:ea typeface="Calibri" pitchFamily="34" charset="-122"/>
                <a:cs typeface="Calibri" pitchFamily="34" charset="-120"/>
              </a:rPr>
              <a:t>The average tells you almost nothing about what the customer will experience; the spread, relative to the tolerance, tells you everything.</a:t>
            </a:r>
            <a:endParaRPr lang="en-US" sz="15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A SIGMA LEVEL ACTUALLY SAYS</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6766560" cy="914400"/>
        </p:xfrm>
        <a:graphic>
          <a:graphicData uri="http://schemas.openxmlformats.org/drawingml/2006/table">
            <a:tbl>
              <a:tblPr/>
              <a:tblGrid>
                <a:gridCol w="1188720"/>
                <a:gridCol w="1554480"/>
                <a:gridCol w="1371600"/>
                <a:gridCol w="26517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Sigma level</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Defects per million</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Right first time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 in practice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3σ</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66,807</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93.3%</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Typical of a process nobody has studied. Feels acceptable in isolation.</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4σ</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6,210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99.38%</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 well-run process with active controls.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5σ</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233</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99.977%</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Requires design changes, not vigilance.</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6σ</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3.4</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99.99966%</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The benchmark the method is named after.</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Text 1"/>
          <p:cNvSpPr txBox="1"/>
          <p:nvPr/>
        </p:nvSpPr>
        <p:spPr>
          <a:xfrm>
            <a:off x="457200" y="3657600"/>
            <a:ext cx="6766560" cy="822960"/>
          </a:xfrm>
          <a:prstGeom prst="rect">
            <a:avLst/>
          </a:prstGeom>
          <a:noFill/>
          <a:ln/>
        </p:spPr>
        <p:txBody>
          <a:bodyPr wrap="square" lIns="0" tIns="0" rIns="0" bIns="0" rtlCol="0" anchor="t"/>
          <a:lstStyle/>
          <a:p>
            <a:pPr algn="l" indent="0" marL="0">
              <a:lnSpc>
                <a:spcPct val="115000"/>
              </a:lnSpc>
              <a:buNone/>
            </a:pPr>
            <a:r>
              <a:rPr lang="en-US" sz="1200" i="1" dirty="0">
                <a:solidFill>
                  <a:srgbClr val="5A6675"/>
                </a:solidFill>
                <a:latin typeface="Calibri" pitchFamily="34" charset="0"/>
                <a:ea typeface="Calibri" pitchFamily="34" charset="-122"/>
                <a:cs typeface="Calibri" pitchFamily="34" charset="-120"/>
              </a:rPr>
              <a:t>Figures follow the convention of allowing a 1.5σ long-term drift in the mean — which is why 6σ is 3.4 per million rather than two per billion. A convention, not a law.</a:t>
            </a:r>
            <a:endParaRPr lang="en-US" sz="1200" dirty="0"/>
          </a:p>
        </p:txBody>
      </p:sp>
      <p:sp>
        <p:nvSpPr>
          <p:cNvPr id="5" name="Text 2"/>
          <p:cNvSpPr txBox="1"/>
          <p:nvPr/>
        </p:nvSpPr>
        <p:spPr>
          <a:xfrm>
            <a:off x="7589520" y="960120"/>
            <a:ext cx="4142232" cy="457200"/>
          </a:xfrm>
          <a:prstGeom prst="rect">
            <a:avLst/>
          </a:prstGeom>
          <a:noFill/>
          <a:ln/>
        </p:spPr>
        <p:txBody>
          <a:bodyPr wrap="square" lIns="0" tIns="0" rIns="0" bIns="0" rtlCol="0" anchor="ctr"/>
          <a:lstStyle/>
          <a:p>
            <a:pPr indent="0" marL="0">
              <a:buNone/>
            </a:pPr>
            <a:r>
              <a:rPr lang="en-US" sz="1300" b="1" dirty="0">
                <a:solidFill>
                  <a:srgbClr val="082A54"/>
                </a:solidFill>
                <a:latin typeface="Calibri" pitchFamily="34" charset="0"/>
                <a:ea typeface="Calibri" pitchFamily="34" charset="-122"/>
                <a:cs typeface="Calibri" pitchFamily="34" charset="-120"/>
              </a:rPr>
              <a:t>A twenty-step process, every step right first time at…</a:t>
            </a:r>
            <a:endParaRPr lang="en-US" sz="1300" dirty="0"/>
          </a:p>
        </p:txBody>
      </p:sp>
      <p:graphicFrame>
        <p:nvGraphicFramePr>
          <p:cNvPr id="6" name="Chart 0" descr=""/>
          <p:cNvGraphicFramePr/>
          <p:nvPr/>
        </p:nvGraphicFramePr>
        <p:xfrm>
          <a:off x="7589520" y="1417320"/>
          <a:ext cx="4142232" cy="30175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457200" y="4663440"/>
            <a:ext cx="11277295" cy="1600200"/>
          </a:xfrm>
          <a:prstGeom prst="roundRect">
            <a:avLst>
              <a:gd name="adj" fmla="val 6857"/>
            </a:avLst>
          </a:prstGeom>
          <a:solidFill>
            <a:srgbClr val="FBF3E0"/>
          </a:solidFill>
          <a:ln w="15875">
            <a:solidFill>
              <a:srgbClr val="C59221"/>
            </a:solidFill>
            <a:prstDash val="solid"/>
          </a:ln>
        </p:spPr>
      </p:sp>
      <p:sp>
        <p:nvSpPr>
          <p:cNvPr id="8" name="Text 4"/>
          <p:cNvSpPr txBox="1"/>
          <p:nvPr/>
        </p:nvSpPr>
        <p:spPr>
          <a:xfrm>
            <a:off x="658368" y="4754880"/>
            <a:ext cx="10874959" cy="14173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Quality is argued at the step and experienced across the chain. “Our quality is already good” is usually true at the step and false at the outcome. It also explains why removing steps is a quality intervention and not only a cost one: every handoff you delete is a term removed from that product.</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THE TWO HALVES NEED EACH OTHER</a:t>
            </a:r>
            <a:endParaRPr lang="en-US" sz="2200" dirty="0"/>
          </a:p>
        </p:txBody>
      </p:sp>
      <p:sp>
        <p:nvSpPr>
          <p:cNvPr id="3" name="Shape 1"/>
          <p:cNvSpPr/>
          <p:nvPr/>
        </p:nvSpPr>
        <p:spPr>
          <a:xfrm>
            <a:off x="457200" y="1005840"/>
            <a:ext cx="5532120" cy="1737360"/>
          </a:xfrm>
          <a:prstGeom prst="roundRect">
            <a:avLst>
              <a:gd name="adj" fmla="val 6316"/>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Lean without Six Sigma</a:t>
            </a:r>
            <a:endParaRPr lang="en-US" sz="1700" dirty="0"/>
          </a:p>
        </p:txBody>
      </p:sp>
      <p:sp>
        <p:nvSpPr>
          <p:cNvPr id="5" name="Text 3"/>
          <p:cNvSpPr txBox="1"/>
          <p:nvPr/>
        </p:nvSpPr>
        <p:spPr>
          <a:xfrm>
            <a:off x="658368" y="1591056"/>
            <a:ext cx="5129784" cy="10149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Removes steps and queues and then cannot hold the gain, because the variation that generated the queues is still there and rebuilds them as buffers.</a:t>
            </a:r>
            <a:endParaRPr lang="en-US" sz="1400" dirty="0"/>
          </a:p>
        </p:txBody>
      </p:sp>
      <p:sp>
        <p:nvSpPr>
          <p:cNvPr id="6" name="Shape 4"/>
          <p:cNvSpPr/>
          <p:nvPr/>
        </p:nvSpPr>
        <p:spPr>
          <a:xfrm>
            <a:off x="6217920" y="1005840"/>
            <a:ext cx="5532120" cy="1737360"/>
          </a:xfrm>
          <a:prstGeom prst="roundRect">
            <a:avLst>
              <a:gd name="adj" fmla="val 6316"/>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Six Sigma without Lean</a:t>
            </a:r>
            <a:endParaRPr lang="en-US" sz="1700" dirty="0"/>
          </a:p>
        </p:txBody>
      </p:sp>
      <p:sp>
        <p:nvSpPr>
          <p:cNvPr id="8" name="Text 6"/>
          <p:cNvSpPr txBox="1"/>
          <p:nvPr/>
        </p:nvSpPr>
        <p:spPr>
          <a:xfrm>
            <a:off x="6419088" y="1591056"/>
            <a:ext cx="5129784" cy="10149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Produces beautifully capable steps inside a process whose elapsed time is still ninety per cent waiting — a stable process delivering slowly and predictably.</a:t>
            </a:r>
            <a:endParaRPr lang="en-US" sz="1400" dirty="0"/>
          </a:p>
        </p:txBody>
      </p:sp>
      <p:sp>
        <p:nvSpPr>
          <p:cNvPr id="9" name="Shape 7"/>
          <p:cNvSpPr/>
          <p:nvPr/>
        </p:nvSpPr>
        <p:spPr>
          <a:xfrm>
            <a:off x="457200" y="2880360"/>
            <a:ext cx="11277295" cy="777240"/>
          </a:xfrm>
          <a:prstGeom prst="roundRect">
            <a:avLst>
              <a:gd name="adj" fmla="val 14118"/>
            </a:avLst>
          </a:prstGeom>
          <a:solidFill>
            <a:srgbClr val="FBF3E0"/>
          </a:solidFill>
          <a:ln w="15875">
            <a:solidFill>
              <a:srgbClr val="C59221"/>
            </a:solidFill>
            <a:prstDash val="solid"/>
          </a:ln>
        </p:spPr>
      </p:sp>
      <p:sp>
        <p:nvSpPr>
          <p:cNvPr id="10" name="Text 8"/>
          <p:cNvSpPr txBox="1"/>
          <p:nvPr/>
        </p:nvSpPr>
        <p:spPr>
          <a:xfrm>
            <a:off x="658368" y="2971800"/>
            <a:ext cx="10874959" cy="59436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Reducing variation lowers cost through less rework (the SOC edge) and raises reliability and conformance (the WTP edge) — the double movement the value stick predicted, now with a measurable instrument attached.</a:t>
            </a:r>
            <a:endParaRPr lang="en-US" sz="1350" dirty="0"/>
          </a:p>
        </p:txBody>
      </p:sp>
      <p:sp>
        <p:nvSpPr>
          <p:cNvPr id="11" name="Shape 9"/>
          <p:cNvSpPr/>
          <p:nvPr/>
        </p:nvSpPr>
        <p:spPr>
          <a:xfrm>
            <a:off x="457200" y="3794760"/>
            <a:ext cx="11277295" cy="2514600"/>
          </a:xfrm>
          <a:prstGeom prst="roundRect">
            <a:avLst>
              <a:gd name="adj" fmla="val 4364"/>
            </a:avLst>
          </a:prstGeom>
          <a:solidFill>
            <a:srgbClr val="F3F6FA"/>
          </a:solidFill>
          <a:ln w="15875">
            <a:solidFill>
              <a:srgbClr val="4A7DBA"/>
            </a:solidFill>
            <a:prstDash val="solid"/>
          </a:ln>
        </p:spPr>
      </p:sp>
      <p:sp>
        <p:nvSpPr>
          <p:cNvPr id="12" name="Text 10"/>
          <p:cNvSpPr txBox="1"/>
          <p:nvPr/>
        </p:nvSpPr>
        <p:spPr>
          <a:xfrm>
            <a:off x="658368" y="392277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13" name="Text 11"/>
          <p:cNvSpPr txBox="1"/>
          <p:nvPr/>
        </p:nvSpPr>
        <p:spPr>
          <a:xfrm>
            <a:off x="658368" y="4233672"/>
            <a:ext cx="1188720" cy="366706"/>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14" name="Text 12"/>
          <p:cNvSpPr txBox="1"/>
          <p:nvPr/>
        </p:nvSpPr>
        <p:spPr>
          <a:xfrm>
            <a:off x="1874520" y="4233672"/>
            <a:ext cx="9631375" cy="366706"/>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Variability must be absorbed somewhere — inventory, capacity, or time. An organisation that has not chosen has chosen time.</a:t>
            </a:r>
            <a:endParaRPr lang="en-US" sz="1250" dirty="0"/>
          </a:p>
        </p:txBody>
      </p:sp>
      <p:sp>
        <p:nvSpPr>
          <p:cNvPr id="15" name="Text 13"/>
          <p:cNvSpPr txBox="1"/>
          <p:nvPr/>
        </p:nvSpPr>
        <p:spPr>
          <a:xfrm>
            <a:off x="658368" y="4673530"/>
            <a:ext cx="1188720" cy="877509"/>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6" name="Text 14"/>
          <p:cNvSpPr txBox="1"/>
          <p:nvPr/>
        </p:nvSpPr>
        <p:spPr>
          <a:xfrm>
            <a:off x="1874520" y="4673530"/>
            <a:ext cx="9631375" cy="877509"/>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The three buffers have exact equivalents: WIP and half-finished deliverables; overtime, contractors and reserve; schedule contingency. A plan that allocates people at 100% has decided that every illness, late approval and changed requirement will be absorbed by the schedule. The resulting delay is the planning assumption working as specified.</a:t>
            </a:r>
            <a:endParaRPr lang="en-US" sz="1250" dirty="0"/>
          </a:p>
        </p:txBody>
      </p:sp>
      <p:sp>
        <p:nvSpPr>
          <p:cNvPr id="17" name="Text 15"/>
          <p:cNvSpPr txBox="1"/>
          <p:nvPr/>
        </p:nvSpPr>
        <p:spPr>
          <a:xfrm>
            <a:off x="658368" y="5624191"/>
            <a:ext cx="1188720" cy="593729"/>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8" name="Text 16"/>
          <p:cNvSpPr txBox="1"/>
          <p:nvPr/>
        </p:nvSpPr>
        <p:spPr>
          <a:xfrm>
            <a:off x="1874520" y="5624191"/>
            <a:ext cx="9631375" cy="593729"/>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Open the resource plan and find the allocation assumption. If it is 100%, the schedule is the buffer. Then find where contingency lives: if it is in every task, nobody will ever see it spent.</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Five</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FIVE</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The Toyota Production System, as a system</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The TPS is conventionally drawn as a house, and the drawing is an argument: a roof needs pillars, pillars need a foundation, and removing any element collapses the rest.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HOUSE</a:t>
            </a:r>
            <a:endParaRPr lang="en-US" sz="2200" dirty="0"/>
          </a:p>
        </p:txBody>
      </p:sp>
      <p:sp>
        <p:nvSpPr>
          <p:cNvPr id="3" name="Shape 1"/>
          <p:cNvSpPr/>
          <p:nvPr/>
        </p:nvSpPr>
        <p:spPr>
          <a:xfrm>
            <a:off x="457200" y="960120"/>
            <a:ext cx="7315200" cy="685800"/>
          </a:xfrm>
          <a:prstGeom prst="rect">
            <a:avLst/>
          </a:prstGeom>
          <a:solidFill>
            <a:srgbClr val="082A54"/>
          </a:solidFill>
          <a:ln w="12700">
            <a:solidFill>
              <a:srgbClr val="082A54"/>
            </a:solidFill>
            <a:prstDash val="solid"/>
          </a:ln>
        </p:spPr>
      </p:sp>
      <p:sp>
        <p:nvSpPr>
          <p:cNvPr id="4" name="Text 2"/>
          <p:cNvSpPr txBox="1"/>
          <p:nvPr/>
        </p:nvSpPr>
        <p:spPr>
          <a:xfrm>
            <a:off x="457200" y="960120"/>
            <a:ext cx="73152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Goals — highest quality · lowest cost · shortest lead time · best safety · high morale</a:t>
            </a:r>
            <a:endParaRPr lang="en-US" sz="1400" dirty="0"/>
          </a:p>
        </p:txBody>
      </p:sp>
      <p:sp>
        <p:nvSpPr>
          <p:cNvPr id="5" name="Shape 3"/>
          <p:cNvSpPr/>
          <p:nvPr/>
        </p:nvSpPr>
        <p:spPr>
          <a:xfrm>
            <a:off x="457200" y="1645920"/>
            <a:ext cx="2438400" cy="2468880"/>
          </a:xfrm>
          <a:prstGeom prst="rect">
            <a:avLst/>
          </a:prstGeom>
          <a:solidFill>
            <a:srgbClr val="FFFFFF"/>
          </a:solidFill>
          <a:ln w="12700">
            <a:solidFill>
              <a:srgbClr val="4A7DBA"/>
            </a:solidFill>
            <a:prstDash val="solid"/>
          </a:ln>
        </p:spPr>
      </p:sp>
      <p:sp>
        <p:nvSpPr>
          <p:cNvPr id="6" name="Text 4"/>
          <p:cNvSpPr txBox="1"/>
          <p:nvPr/>
        </p:nvSpPr>
        <p:spPr>
          <a:xfrm>
            <a:off x="594360" y="1783080"/>
            <a:ext cx="2164080" cy="2194560"/>
          </a:xfrm>
          <a:prstGeom prst="rect">
            <a:avLst/>
          </a:prstGeom>
          <a:noFill/>
          <a:ln/>
        </p:spPr>
        <p:txBody>
          <a:bodyPr wrap="square" lIns="0" tIns="0" rIns="0" bIns="0" rtlCol="0" anchor="t"/>
          <a:lstStyle/>
          <a:p>
            <a:pPr indent="0" marL="0">
              <a:lnSpc>
                <a:spcPct val="115000"/>
              </a:lnSpc>
              <a:buNone/>
            </a:pPr>
            <a:r>
              <a:rPr lang="en-US" sz="1500" b="1" dirty="0">
                <a:solidFill>
                  <a:srgbClr val="082A54"/>
                </a:solidFill>
                <a:latin typeface="Calibri" pitchFamily="34" charset="0"/>
                <a:ea typeface="Calibri" pitchFamily="34" charset="-122"/>
                <a:cs typeface="Calibri" pitchFamily="34" charset="-120"/>
              </a:rPr>
              <a:t>Just-In-Time</a:t>
            </a:r>
            <a:endParaRPr lang="en-US" sz="1500" dirty="0"/>
          </a:p>
          <a:p>
            <a:pPr indent="0" marL="0">
              <a:lnSpc>
                <a:spcPct val="115000"/>
              </a:lnSpc>
              <a:buNone/>
            </a:pPr>
            <a:r>
              <a:rPr lang="en-US" sz="1250" dirty="0">
                <a:solidFill>
                  <a:srgbClr val="1A1A1A"/>
                </a:solidFill>
                <a:latin typeface="Calibri" pitchFamily="34" charset="0"/>
                <a:ea typeface="Calibri" pitchFamily="34" charset="-122"/>
                <a:cs typeface="Calibri" pitchFamily="34" charset="-120"/>
              </a:rPr>
              <a:t>Takt time · continuous flow · pull and WIP limits · SMED</a:t>
            </a:r>
            <a:endParaRPr lang="en-US" sz="1500" dirty="0"/>
          </a:p>
        </p:txBody>
      </p:sp>
      <p:sp>
        <p:nvSpPr>
          <p:cNvPr id="7" name="Shape 5"/>
          <p:cNvSpPr/>
          <p:nvPr/>
        </p:nvSpPr>
        <p:spPr>
          <a:xfrm>
            <a:off x="2895600" y="1645920"/>
            <a:ext cx="2438400" cy="2468880"/>
          </a:xfrm>
          <a:prstGeom prst="rect">
            <a:avLst/>
          </a:prstGeom>
          <a:solidFill>
            <a:srgbClr val="FBF3E0"/>
          </a:solidFill>
          <a:ln w="12700">
            <a:solidFill>
              <a:srgbClr val="4A7DBA"/>
            </a:solidFill>
            <a:prstDash val="solid"/>
          </a:ln>
        </p:spPr>
      </p:sp>
      <p:sp>
        <p:nvSpPr>
          <p:cNvPr id="8" name="Text 6"/>
          <p:cNvSpPr txBox="1"/>
          <p:nvPr/>
        </p:nvSpPr>
        <p:spPr>
          <a:xfrm>
            <a:off x="3032760" y="1783080"/>
            <a:ext cx="2164080" cy="2194560"/>
          </a:xfrm>
          <a:prstGeom prst="rect">
            <a:avLst/>
          </a:prstGeom>
          <a:noFill/>
          <a:ln/>
        </p:spPr>
        <p:txBody>
          <a:bodyPr wrap="square" lIns="0" tIns="0" rIns="0" bIns="0" rtlCol="0" anchor="t"/>
          <a:lstStyle/>
          <a:p>
            <a:pPr indent="0" marL="0">
              <a:lnSpc>
                <a:spcPct val="115000"/>
              </a:lnSpc>
              <a:buNone/>
            </a:pPr>
            <a:r>
              <a:rPr lang="en-US" sz="1500" b="1" dirty="0">
                <a:solidFill>
                  <a:srgbClr val="082A54"/>
                </a:solidFill>
                <a:latin typeface="Calibri" pitchFamily="34" charset="0"/>
                <a:ea typeface="Calibri" pitchFamily="34" charset="-122"/>
                <a:cs typeface="Calibri" pitchFamily="34" charset="-120"/>
              </a:rPr>
              <a:t>People and teamwork</a:t>
            </a:r>
            <a:endParaRPr lang="en-US" sz="1500" dirty="0"/>
          </a:p>
          <a:p>
            <a:pPr indent="0" marL="0">
              <a:lnSpc>
                <a:spcPct val="115000"/>
              </a:lnSpc>
              <a:buNone/>
            </a:pPr>
            <a:r>
              <a:rPr lang="en-US" sz="1250" dirty="0">
                <a:solidFill>
                  <a:srgbClr val="1A1A1A"/>
                </a:solidFill>
                <a:latin typeface="Calibri" pitchFamily="34" charset="0"/>
                <a:ea typeface="Calibri" pitchFamily="34" charset="-122"/>
                <a:cs typeface="Calibri" pitchFamily="34" charset="-120"/>
              </a:rPr>
              <a:t>Kaizen · genchi genbutsu · structured problem solving.</a:t>
            </a:r>
            <a:endParaRPr lang="en-US" sz="1500" dirty="0"/>
          </a:p>
          <a:p>
            <a:pPr indent="0" marL="0">
              <a:lnSpc>
                <a:spcPct val="115000"/>
              </a:lnSpc>
              <a:buNone/>
            </a:pPr>
            <a:r>
              <a:rPr lang="en-US" sz="1250" dirty="0">
                <a:solidFill>
                  <a:srgbClr val="1A1A1A"/>
                </a:solidFill>
                <a:latin typeface="Calibri" pitchFamily="34" charset="0"/>
                <a:ea typeface="Calibri" pitchFamily="34" charset="-122"/>
                <a:cs typeface="Calibri" pitchFamily="34" charset="-120"/>
              </a:rPr>
              <a:t>The centre of the house, and the multiplier.</a:t>
            </a:r>
            <a:endParaRPr lang="en-US" sz="1500" dirty="0"/>
          </a:p>
        </p:txBody>
      </p:sp>
      <p:sp>
        <p:nvSpPr>
          <p:cNvPr id="9" name="Shape 7"/>
          <p:cNvSpPr/>
          <p:nvPr/>
        </p:nvSpPr>
        <p:spPr>
          <a:xfrm>
            <a:off x="5334000" y="1645920"/>
            <a:ext cx="2438400" cy="2468880"/>
          </a:xfrm>
          <a:prstGeom prst="rect">
            <a:avLst/>
          </a:prstGeom>
          <a:solidFill>
            <a:srgbClr val="FFFFFF"/>
          </a:solidFill>
          <a:ln w="12700">
            <a:solidFill>
              <a:srgbClr val="4A7DBA"/>
            </a:solidFill>
            <a:prstDash val="solid"/>
          </a:ln>
        </p:spPr>
      </p:sp>
      <p:sp>
        <p:nvSpPr>
          <p:cNvPr id="10" name="Text 8"/>
          <p:cNvSpPr txBox="1"/>
          <p:nvPr/>
        </p:nvSpPr>
        <p:spPr>
          <a:xfrm>
            <a:off x="5471160" y="1783080"/>
            <a:ext cx="2164080" cy="2194560"/>
          </a:xfrm>
          <a:prstGeom prst="rect">
            <a:avLst/>
          </a:prstGeom>
          <a:noFill/>
          <a:ln/>
        </p:spPr>
        <p:txBody>
          <a:bodyPr wrap="square" lIns="0" tIns="0" rIns="0" bIns="0" rtlCol="0" anchor="t"/>
          <a:lstStyle/>
          <a:p>
            <a:pPr indent="0" marL="0">
              <a:lnSpc>
                <a:spcPct val="115000"/>
              </a:lnSpc>
              <a:buNone/>
            </a:pPr>
            <a:r>
              <a:rPr lang="en-US" sz="1500" b="1" dirty="0">
                <a:solidFill>
                  <a:srgbClr val="082A54"/>
                </a:solidFill>
                <a:latin typeface="Calibri" pitchFamily="34" charset="0"/>
                <a:ea typeface="Calibri" pitchFamily="34" charset="-122"/>
                <a:cs typeface="Calibri" pitchFamily="34" charset="-120"/>
              </a:rPr>
              <a:t>Jidoka</a:t>
            </a:r>
            <a:endParaRPr lang="en-US" sz="1500" dirty="0"/>
          </a:p>
          <a:p>
            <a:pPr indent="0" marL="0">
              <a:lnSpc>
                <a:spcPct val="115000"/>
              </a:lnSpc>
              <a:buNone/>
            </a:pPr>
            <a:r>
              <a:rPr lang="en-US" sz="1250" dirty="0">
                <a:solidFill>
                  <a:srgbClr val="1A1A1A"/>
                </a:solidFill>
                <a:latin typeface="Calibri" pitchFamily="34" charset="0"/>
                <a:ea typeface="Calibri" pitchFamily="34" charset="-122"/>
                <a:cs typeface="Calibri" pitchFamily="34" charset="-120"/>
              </a:rPr>
              <a:t>Autonomation · stop-and-fix · andon · poka-yoke</a:t>
            </a:r>
            <a:endParaRPr lang="en-US" sz="1500" dirty="0"/>
          </a:p>
        </p:txBody>
      </p:sp>
      <p:sp>
        <p:nvSpPr>
          <p:cNvPr id="11" name="Shape 9"/>
          <p:cNvSpPr/>
          <p:nvPr/>
        </p:nvSpPr>
        <p:spPr>
          <a:xfrm>
            <a:off x="457200" y="4114800"/>
            <a:ext cx="7315200" cy="685800"/>
          </a:xfrm>
          <a:prstGeom prst="rect">
            <a:avLst/>
          </a:prstGeom>
          <a:solidFill>
            <a:srgbClr val="F3F6FA"/>
          </a:solidFill>
          <a:ln w="12700">
            <a:solidFill>
              <a:srgbClr val="4A7DBA"/>
            </a:solidFill>
            <a:prstDash val="solid"/>
          </a:ln>
        </p:spPr>
      </p:sp>
      <p:sp>
        <p:nvSpPr>
          <p:cNvPr id="12" name="Text 10"/>
          <p:cNvSpPr txBox="1"/>
          <p:nvPr/>
        </p:nvSpPr>
        <p:spPr>
          <a:xfrm>
            <a:off x="457200" y="4114800"/>
            <a:ext cx="7315200" cy="685800"/>
          </a:xfrm>
          <a:prstGeom prst="rect">
            <a:avLst/>
          </a:prstGeom>
          <a:noFill/>
          <a:ln/>
        </p:spPr>
        <p:txBody>
          <a:bodyPr wrap="square" lIns="0" tIns="0" rIns="0" bIns="0" rtlCol="0" anchor="ctr"/>
          <a:lstStyle/>
          <a:p>
            <a:pPr algn="ctr" indent="0" marL="0">
              <a:buNone/>
            </a:pPr>
            <a:r>
              <a:rPr lang="en-US" sz="1350" dirty="0">
                <a:solidFill>
                  <a:srgbClr val="082A54"/>
                </a:solidFill>
                <a:latin typeface="Calibri" pitchFamily="34" charset="0"/>
                <a:ea typeface="Calibri" pitchFamily="34" charset="-122"/>
                <a:cs typeface="Calibri" pitchFamily="34" charset="-120"/>
              </a:rPr>
              <a:t>Stability — heijunka (levelling) · standardised work · 4M stability</a:t>
            </a:r>
            <a:endParaRPr lang="en-US" sz="1350" dirty="0"/>
          </a:p>
        </p:txBody>
      </p:sp>
      <p:sp>
        <p:nvSpPr>
          <p:cNvPr id="13" name="Shape 11"/>
          <p:cNvSpPr/>
          <p:nvPr/>
        </p:nvSpPr>
        <p:spPr>
          <a:xfrm>
            <a:off x="457200" y="4983480"/>
            <a:ext cx="7315200" cy="1280160"/>
          </a:xfrm>
          <a:prstGeom prst="roundRect">
            <a:avLst>
              <a:gd name="adj" fmla="val 8571"/>
            </a:avLst>
          </a:prstGeom>
          <a:solidFill>
            <a:srgbClr val="FBF3E0"/>
          </a:solidFill>
          <a:ln w="15875">
            <a:solidFill>
              <a:srgbClr val="C59221"/>
            </a:solidFill>
            <a:prstDash val="solid"/>
          </a:ln>
        </p:spPr>
      </p:sp>
      <p:sp>
        <p:nvSpPr>
          <p:cNvPr id="14" name="Text 12"/>
          <p:cNvSpPr txBox="1"/>
          <p:nvPr/>
        </p:nvSpPr>
        <p:spPr>
          <a:xfrm>
            <a:off x="658368" y="5074920"/>
            <a:ext cx="6912864" cy="109728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The sequence is physics, not preference. Pull cannot function on an unstable, unlevelled base: it either starves or floods. Organisations that install kanban boards onto chaotic processes get chaos with better visualisation.</a:t>
            </a:r>
            <a:endParaRPr lang="en-US" sz="1300" dirty="0"/>
          </a:p>
        </p:txBody>
      </p:sp>
      <p:sp>
        <p:nvSpPr>
          <p:cNvPr id="15" name="Shape 13"/>
          <p:cNvSpPr/>
          <p:nvPr/>
        </p:nvSpPr>
        <p:spPr>
          <a:xfrm>
            <a:off x="8046720" y="960120"/>
            <a:ext cx="3685032" cy="5303520"/>
          </a:xfrm>
          <a:prstGeom prst="roundRect">
            <a:avLst>
              <a:gd name="adj" fmla="val 2978"/>
            </a:avLst>
          </a:prstGeom>
          <a:solidFill>
            <a:srgbClr val="FFFFFF"/>
          </a:solidFill>
          <a:ln w="15875">
            <a:solidFill>
              <a:srgbClr val="4A7DBA"/>
            </a:solidFill>
            <a:prstDash val="solid"/>
          </a:ln>
        </p:spPr>
      </p:sp>
      <p:sp>
        <p:nvSpPr>
          <p:cNvPr id="16" name="Text 14"/>
          <p:cNvSpPr txBox="1"/>
          <p:nvPr/>
        </p:nvSpPr>
        <p:spPr>
          <a:xfrm>
            <a:off x="8247888" y="1124712"/>
            <a:ext cx="328269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terms, one line each</a:t>
            </a:r>
            <a:endParaRPr lang="en-US" sz="1600" dirty="0"/>
          </a:p>
        </p:txBody>
      </p:sp>
      <p:sp>
        <p:nvSpPr>
          <p:cNvPr id="17" name="Text 15"/>
          <p:cNvSpPr txBox="1"/>
          <p:nvPr/>
        </p:nvSpPr>
        <p:spPr>
          <a:xfrm>
            <a:off x="8247888" y="1545336"/>
            <a:ext cx="3282696" cy="458114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Takt time — the pace of customer demand</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SMED — changeovers fast enough that small batches become economical</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Genchi genbutsu — go and see, where the work happens</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Autonomation — a machine that stops itself when something goes wrong</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Andon — the signal by which anyone halts the line on a problem</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Poka-yoke — a device that makes the error physically impossible</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Heijunka — levelling volume and mix</a:t>
            </a:r>
            <a:endParaRPr lang="en-US" sz="1150" dirty="0"/>
          </a:p>
          <a:p>
            <a:pPr marL="342900" indent="-342900">
              <a:lnSpc>
                <a:spcPct val="112000"/>
              </a:lnSpc>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4M — man, machine, material, method: the four sources of variation to stabilise first</a:t>
            </a:r>
            <a:endParaRPr lang="en-US" sz="11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TWO PILLARS</a:t>
            </a:r>
            <a:endParaRPr lang="en-US" sz="2200" dirty="0"/>
          </a:p>
        </p:txBody>
      </p:sp>
      <p:sp>
        <p:nvSpPr>
          <p:cNvPr id="3" name="Shape 1"/>
          <p:cNvSpPr/>
          <p:nvPr/>
        </p:nvSpPr>
        <p:spPr>
          <a:xfrm>
            <a:off x="457200" y="1005840"/>
            <a:ext cx="5532120" cy="3108960"/>
          </a:xfrm>
          <a:prstGeom prst="roundRect">
            <a:avLst>
              <a:gd name="adj" fmla="val 3529"/>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Left pillar — Just-In-Time</a:t>
            </a:r>
            <a:endParaRPr lang="en-US" sz="1700" dirty="0"/>
          </a:p>
        </p:txBody>
      </p:sp>
      <p:sp>
        <p:nvSpPr>
          <p:cNvPr id="5" name="Text 3"/>
          <p:cNvSpPr txBox="1"/>
          <p:nvPr/>
        </p:nvSpPr>
        <p:spPr>
          <a:xfrm>
            <a:off x="658368" y="1591056"/>
            <a:ext cx="5129784" cy="238658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Continuous flow — remove the interruptions, batching and breakdowns that convert value-adding time into elapsed time</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Pull — produce nothing until a downstream signal indicates demand. The signal is what stops overproduction</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SMED — kill the changeover and the economic batch size collapses towards one</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Underneath all three sits heijunka: a schedule level enough for the pull signal to be worth following</a:t>
            </a:r>
            <a:endParaRPr lang="en-US" sz="1300" dirty="0"/>
          </a:p>
        </p:txBody>
      </p:sp>
      <p:sp>
        <p:nvSpPr>
          <p:cNvPr id="6" name="Shape 4"/>
          <p:cNvSpPr/>
          <p:nvPr/>
        </p:nvSpPr>
        <p:spPr>
          <a:xfrm>
            <a:off x="6217920" y="1005840"/>
            <a:ext cx="5532120" cy="3108960"/>
          </a:xfrm>
          <a:prstGeom prst="roundRect">
            <a:avLst>
              <a:gd name="adj" fmla="val 3529"/>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700" b="1" dirty="0">
                <a:solidFill>
                  <a:srgbClr val="082A54"/>
                </a:solidFill>
                <a:latin typeface="Calibri" pitchFamily="34" charset="0"/>
                <a:ea typeface="Calibri" pitchFamily="34" charset="-122"/>
                <a:cs typeface="Calibri" pitchFamily="34" charset="-120"/>
              </a:rPr>
              <a:t>Right pillar — Jidoka</a:t>
            </a:r>
            <a:endParaRPr lang="en-US" sz="1700" dirty="0"/>
          </a:p>
        </p:txBody>
      </p:sp>
      <p:sp>
        <p:nvSpPr>
          <p:cNvPr id="8" name="Text 6"/>
          <p:cNvSpPr txBox="1"/>
          <p:nvPr/>
        </p:nvSpPr>
        <p:spPr>
          <a:xfrm>
            <a:off x="6419088" y="1591056"/>
            <a:ext cx="5129784" cy="238658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Quality built in at the source, through three mechanisms of increasing cost and decreasing frequency:</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Poka-yoke — design the process so the mistake cannot be made</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Andon — signal the abnormality the instant it occurs, not at the end of the shift</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Stop-and-fix — halt the line so the defect never travels downstream</a:t>
            </a:r>
            <a:endParaRPr lang="en-US" sz="1300" dirty="0"/>
          </a:p>
        </p:txBody>
      </p:sp>
      <p:sp>
        <p:nvSpPr>
          <p:cNvPr id="9" name="Shape 7"/>
          <p:cNvSpPr/>
          <p:nvPr/>
        </p:nvSpPr>
        <p:spPr>
          <a:xfrm>
            <a:off x="457200" y="4297680"/>
            <a:ext cx="5532120" cy="1965960"/>
          </a:xfrm>
          <a:prstGeom prst="roundRect">
            <a:avLst>
              <a:gd name="adj" fmla="val 5581"/>
            </a:avLst>
          </a:prstGeom>
          <a:solidFill>
            <a:srgbClr val="FBF3E0"/>
          </a:solidFill>
          <a:ln w="15875">
            <a:solidFill>
              <a:srgbClr val="C59221"/>
            </a:solidFill>
            <a:prstDash val="solid"/>
          </a:ln>
        </p:spPr>
      </p:sp>
      <p:sp>
        <p:nvSpPr>
          <p:cNvPr id="10" name="Text 8"/>
          <p:cNvSpPr txBox="1"/>
          <p:nvPr/>
        </p:nvSpPr>
        <p:spPr>
          <a:xfrm>
            <a:off x="658368" y="4389120"/>
            <a:ext cx="5129784" cy="178308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Pull is not JIT, and neither is kanban. A pull system is a system that explicitly limits work in process — that is the definition. Kanban is one mechanism for limiting WIP; CONWIP is another. Treating the cards as the essence of the system is the most common conceptual error in the boardroom (Hopp &amp; Spearman, 2004).</a:t>
            </a:r>
            <a:endParaRPr lang="en-US" sz="1300" dirty="0"/>
          </a:p>
        </p:txBody>
      </p:sp>
      <p:sp>
        <p:nvSpPr>
          <p:cNvPr id="11" name="Shape 9"/>
          <p:cNvSpPr/>
          <p:nvPr/>
        </p:nvSpPr>
        <p:spPr>
          <a:xfrm>
            <a:off x="6217920" y="4297680"/>
            <a:ext cx="5532120" cy="1965960"/>
          </a:xfrm>
          <a:prstGeom prst="roundRect">
            <a:avLst>
              <a:gd name="adj" fmla="val 5581"/>
            </a:avLst>
          </a:prstGeom>
          <a:solidFill>
            <a:srgbClr val="F3F6FA"/>
          </a:solidFill>
          <a:ln w="15875">
            <a:solidFill>
              <a:srgbClr val="4A7DBA"/>
            </a:solidFill>
            <a:prstDash val="solid"/>
          </a:ln>
        </p:spPr>
      </p:sp>
      <p:sp>
        <p:nvSpPr>
          <p:cNvPr id="12" name="Text 10"/>
          <p:cNvSpPr txBox="1"/>
          <p:nvPr/>
        </p:nvSpPr>
        <p:spPr>
          <a:xfrm>
            <a:off x="6419088" y="4389120"/>
            <a:ext cx="5129784" cy="178308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Stopping the line looks like the most expensive thing a factory can do, and that reading misses the trade. A problem that stops the line gets solved; a problem that is worked around does not. The cost of stopping is visible and immediate; the cost of working around is invisible and permanent.</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THE SYSTEM BEATS THE TOOLS</a:t>
            </a:r>
            <a:endParaRPr lang="en-US" sz="2200" dirty="0"/>
          </a:p>
        </p:txBody>
      </p:sp>
      <p:sp>
        <p:nvSpPr>
          <p:cNvPr id="3" name="Text 1"/>
          <p:cNvSpPr txBox="1"/>
          <p:nvPr/>
        </p:nvSpPr>
        <p:spPr>
          <a:xfrm>
            <a:off x="457200" y="1005840"/>
            <a:ext cx="11277295" cy="457200"/>
          </a:xfrm>
          <a:prstGeom prst="rect">
            <a:avLst/>
          </a:prstGeom>
          <a:noFill/>
          <a:ln/>
        </p:spPr>
        <p:txBody>
          <a:bodyPr wrap="square" lIns="0" tIns="0" rIns="0" bIns="0" rtlCol="0" anchor="t"/>
          <a:lstStyle/>
          <a:p>
            <a:pPr algn="l" indent="0" marL="0">
              <a:lnSpc>
                <a:spcPct val="115000"/>
              </a:lnSpc>
              <a:buNone/>
            </a:pPr>
            <a:r>
              <a:rPr lang="en-US" sz="1450" dirty="0">
                <a:solidFill>
                  <a:srgbClr val="1A1A1A"/>
                </a:solidFill>
                <a:latin typeface="Calibri" pitchFamily="34" charset="0"/>
                <a:ea typeface="Calibri" pitchFamily="34" charset="-122"/>
                <a:cs typeface="Calibri" pitchFamily="34" charset="-120"/>
              </a:rPr>
              <a:t>The best-evidenced claim in the field, and the reason the house is drawn as a house rather than as a menu.</a:t>
            </a:r>
            <a:endParaRPr lang="en-US" sz="14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7295" cy="914400"/>
        </p:xfrm>
        <a:graphic>
          <a:graphicData uri="http://schemas.openxmlformats.org/drawingml/2006/table">
            <a:tbl>
              <a:tblPr/>
              <a:tblGrid>
                <a:gridCol w="2743200"/>
                <a:gridCol w="853135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Milgrom &amp; Roberts (1990)</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Modern manufacturing is a system of complementarities: the return to any one practice rises with the adoption of the others. Partial adoption yields near-zero or negative returns.</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MacDuffie (1995)</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Bundles of mutually reinforcing practices explain performance — not individual practices.</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Shah &amp; Ward (2007)</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Built the field's measurement instruments for lean exclusively on bundle logic.</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4206240"/>
            <a:ext cx="11277295" cy="1005840"/>
          </a:xfrm>
          <a:prstGeom prst="roundRect">
            <a:avLst>
              <a:gd name="adj" fmla="val 10909"/>
            </a:avLst>
          </a:prstGeom>
          <a:solidFill>
            <a:srgbClr val="FBF3E0"/>
          </a:solidFill>
          <a:ln w="15875">
            <a:solidFill>
              <a:srgbClr val="C59221"/>
            </a:solidFill>
            <a:prstDash val="solid"/>
          </a:ln>
        </p:spPr>
      </p:sp>
      <p:sp>
        <p:nvSpPr>
          <p:cNvPr id="6" name="Text 3"/>
          <p:cNvSpPr txBox="1"/>
          <p:nvPr/>
        </p:nvSpPr>
        <p:spPr>
          <a:xfrm>
            <a:off x="658368" y="4297680"/>
            <a:ext cx="10874959" cy="822960"/>
          </a:xfrm>
          <a:prstGeom prst="rect">
            <a:avLst/>
          </a:prstGeom>
          <a:noFill/>
          <a:ln/>
        </p:spPr>
        <p:txBody>
          <a:bodyPr wrap="square" lIns="0" tIns="0" rIns="0" bIns="0" rtlCol="0" anchor="ctr"/>
          <a:lstStyle/>
          <a:p>
            <a:pPr indent="0" marL="0">
              <a:lnSpc>
                <a:spcPct val="112000"/>
              </a:lnSpc>
              <a:buNone/>
            </a:pPr>
            <a:r>
              <a:rPr lang="en-US" sz="1400" b="1" dirty="0">
                <a:solidFill>
                  <a:srgbClr val="082A54"/>
                </a:solidFill>
                <a:latin typeface="Calibri" pitchFamily="34" charset="0"/>
                <a:ea typeface="Calibri" pitchFamily="34" charset="-122"/>
                <a:cs typeface="Calibri" pitchFamily="34" charset="-120"/>
              </a:rPr>
              <a:t>A partial implementation can leave an organisation worse off than no implementation: a practice adopted without its complements imposes its costs without delivering its returns. This is the strongest available explanation for the failure rate of tool-led lean programmes.</a:t>
            </a:r>
            <a:endParaRPr lang="en-US" sz="1400" dirty="0"/>
          </a:p>
        </p:txBody>
      </p:sp>
      <p:sp>
        <p:nvSpPr>
          <p:cNvPr id="7" name="Shape 4"/>
          <p:cNvSpPr/>
          <p:nvPr/>
        </p:nvSpPr>
        <p:spPr>
          <a:xfrm>
            <a:off x="457200" y="5349240"/>
            <a:ext cx="11277295" cy="960120"/>
          </a:xfrm>
          <a:prstGeom prst="roundRect">
            <a:avLst>
              <a:gd name="adj" fmla="val 11429"/>
            </a:avLst>
          </a:prstGeom>
          <a:solidFill>
            <a:srgbClr val="F3F6FA"/>
          </a:solidFill>
          <a:ln w="15875">
            <a:solidFill>
              <a:srgbClr val="4A7DBA"/>
            </a:solidFill>
            <a:prstDash val="solid"/>
          </a:ln>
        </p:spPr>
      </p:sp>
      <p:sp>
        <p:nvSpPr>
          <p:cNvPr id="8" name="Text 5"/>
          <p:cNvSpPr txBox="1"/>
          <p:nvPr/>
        </p:nvSpPr>
        <p:spPr>
          <a:xfrm>
            <a:off x="658368" y="547725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9" name="Text 6"/>
          <p:cNvSpPr txBox="1"/>
          <p:nvPr/>
        </p:nvSpPr>
        <p:spPr>
          <a:xfrm>
            <a:off x="658368" y="5788152"/>
            <a:ext cx="1188720" cy="429768"/>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0" name="Text 7"/>
          <p:cNvSpPr txBox="1"/>
          <p:nvPr/>
        </p:nvSpPr>
        <p:spPr>
          <a:xfrm>
            <a:off x="1874520" y="5788152"/>
            <a:ext cx="9631375" cy="429768"/>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Measure one lag: from the moment a problem is first known to someone on the team to the moment it reaches someone who can act. Then ask what happened, last time, to the person who reported red early. That is your andon policy, whatever the governance document says.</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HOUSE, IN A PROJECT ORGANISATION</a:t>
            </a:r>
            <a:endParaRPr lang="en-US" sz="2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7295" cy="914400"/>
        </p:xfrm>
        <a:graphic>
          <a:graphicData uri="http://schemas.openxmlformats.org/drawingml/2006/table">
            <a:tbl>
              <a:tblPr/>
              <a:tblGrid>
                <a:gridCol w="2194560"/>
                <a:gridCol w="4206240"/>
                <a:gridCol w="487375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Toyota element</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Project equivalent</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Comment</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Heijunka</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Resource levelling</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Exists — rarely done to the pull signal</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Standardised work</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Methodology, templates, checklists the PMO maintains</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Exists</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Poka-yoke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The mandatory field that will not let the form be submitted incomplete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Exists</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Andon cord</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 comfortable equivalent</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Monthly status reporting is its opposite: it aggregates upward on a cycle, and a red status costs the reporter more than it costs the organisation</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457200" y="4023360"/>
            <a:ext cx="11277295" cy="1005840"/>
          </a:xfrm>
          <a:prstGeom prst="roundRect">
            <a:avLst>
              <a:gd name="adj" fmla="val 10909"/>
            </a:avLst>
          </a:prstGeom>
          <a:solidFill>
            <a:srgbClr val="FBF3E0"/>
          </a:solidFill>
          <a:ln w="15875">
            <a:solidFill>
              <a:srgbClr val="C59221"/>
            </a:solidFill>
            <a:prstDash val="solid"/>
          </a:ln>
        </p:spPr>
      </p:sp>
      <p:sp>
        <p:nvSpPr>
          <p:cNvPr id="5" name="Text 2"/>
          <p:cNvSpPr txBox="1"/>
          <p:nvPr/>
        </p:nvSpPr>
        <p:spPr>
          <a:xfrm>
            <a:off x="658368" y="4114800"/>
            <a:ext cx="10874959" cy="822960"/>
          </a:xfrm>
          <a:prstGeom prst="rect">
            <a:avLst/>
          </a:prstGeom>
          <a:noFill/>
          <a:ln/>
        </p:spPr>
        <p:txBody>
          <a:bodyPr wrap="square" lIns="0" tIns="0" rIns="0" bIns="0" rtlCol="0" anchor="ctr"/>
          <a:lstStyle/>
          <a:p>
            <a:pPr indent="0" marL="0">
              <a:lnSpc>
                <a:spcPct val="112000"/>
              </a:lnSpc>
              <a:buNone/>
            </a:pPr>
            <a:r>
              <a:rPr lang="en-US" sz="1450" b="1" dirty="0">
                <a:solidFill>
                  <a:srgbClr val="082A54"/>
                </a:solidFill>
                <a:latin typeface="Calibri" pitchFamily="34" charset="0"/>
                <a:ea typeface="Calibri" pitchFamily="34" charset="-122"/>
                <a:cs typeface="Calibri" pitchFamily="34" charset="-120"/>
              </a:rPr>
              <a:t>Most of the Toyota house already exists in a project organisation under other names. One element does not, and it is the one that matters most: a system designed to signal abnormalities early and loudly.</a:t>
            </a:r>
            <a:endParaRPr lang="en-US" sz="14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Six</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SIX</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Lean in the language of capital</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Operational improvement that cannot be stated in financial terms does not survive the budget cycle. Fortunately, the translation is an identity rather than an argument.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LITTLE'S LAW</a:t>
            </a:r>
            <a:endParaRPr lang="en-US" sz="2200" dirty="0"/>
          </a:p>
        </p:txBody>
      </p:sp>
      <p:sp>
        <p:nvSpPr>
          <p:cNvPr id="3" name="Shape 1"/>
          <p:cNvSpPr/>
          <p:nvPr/>
        </p:nvSpPr>
        <p:spPr>
          <a:xfrm>
            <a:off x="457200" y="960120"/>
            <a:ext cx="4846320" cy="1234440"/>
          </a:xfrm>
          <a:prstGeom prst="roundRect">
            <a:avLst>
              <a:gd name="adj" fmla="val 8889"/>
            </a:avLst>
          </a:prstGeom>
          <a:solidFill>
            <a:srgbClr val="082A54"/>
          </a:solidFill>
          <a:ln w="12700">
            <a:solidFill>
              <a:srgbClr val="082A54"/>
            </a:solidFill>
            <a:prstDash val="solid"/>
          </a:ln>
        </p:spPr>
      </p:sp>
      <p:sp>
        <p:nvSpPr>
          <p:cNvPr id="4" name="Text 2"/>
          <p:cNvSpPr txBox="1"/>
          <p:nvPr/>
        </p:nvSpPr>
        <p:spPr>
          <a:xfrm>
            <a:off x="640080" y="1069848"/>
            <a:ext cx="4480560" cy="715975"/>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WIP = Throughput × Lead Time</a:t>
            </a:r>
            <a:endParaRPr lang="en-US" sz="2400" dirty="0"/>
          </a:p>
        </p:txBody>
      </p:sp>
      <p:sp>
        <p:nvSpPr>
          <p:cNvPr id="5" name="Text 3"/>
          <p:cNvSpPr txBox="1"/>
          <p:nvPr/>
        </p:nvSpPr>
        <p:spPr>
          <a:xfrm>
            <a:off x="640080" y="1725473"/>
            <a:ext cx="4480560" cy="419710"/>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Little (1961) — an identity, not a model</a:t>
            </a:r>
            <a:endParaRPr lang="en-US" sz="1200" dirty="0"/>
          </a:p>
        </p:txBody>
      </p:sp>
      <p:sp>
        <p:nvSpPr>
          <p:cNvPr id="6" name="Text 4"/>
          <p:cNvSpPr txBox="1"/>
          <p:nvPr/>
        </p:nvSpPr>
        <p:spPr>
          <a:xfrm>
            <a:off x="457200" y="2331720"/>
            <a:ext cx="4846320" cy="502920"/>
          </a:xfrm>
          <a:prstGeom prst="rect">
            <a:avLst/>
          </a:prstGeom>
          <a:noFill/>
          <a:ln/>
        </p:spPr>
        <p:txBody>
          <a:bodyPr wrap="square" lIns="0" tIns="0" rIns="0" bIns="0" rtlCol="0" anchor="ctr"/>
          <a:lstStyle/>
          <a:p>
            <a:pPr algn="ctr" indent="0" marL="0">
              <a:buNone/>
            </a:pPr>
            <a:r>
              <a:rPr lang="en-US" sz="1300" b="1" dirty="0">
                <a:solidFill>
                  <a:srgbClr val="082A54"/>
                </a:solidFill>
                <a:latin typeface="Calibri" pitchFamily="34" charset="0"/>
                <a:ea typeface="Calibri" pitchFamily="34" charset="-122"/>
                <a:cs typeface="Calibri" pitchFamily="34" charset="-120"/>
              </a:rPr>
              <a:t>lead time ↓ → WIP ↓ → inventory ↓ → invested capital ↓ → ROIC ↑</a:t>
            </a:r>
            <a:endParaRPr lang="en-US" sz="1300" dirty="0"/>
          </a:p>
        </p:txBody>
      </p:sp>
      <p:sp>
        <p:nvSpPr>
          <p:cNvPr id="7" name="Text 5"/>
          <p:cNvSpPr txBox="1"/>
          <p:nvPr/>
        </p:nvSpPr>
        <p:spPr>
          <a:xfrm>
            <a:off x="457200" y="2926080"/>
            <a:ext cx="4846320" cy="146304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Hold throughput constant and the identity says something immediate: cutting lead time cuts work in process proportionally. And work in process is inventory, and inventory is invested capital. Flow improvement is a balance-sheet intervention that merely happens to take place on a shop floor.</a:t>
            </a:r>
            <a:endParaRPr lang="en-US" sz="1350" dirty="0"/>
          </a:p>
        </p:txBody>
      </p:sp>
      <p:sp>
        <p:nvSpPr>
          <p:cNvPr id="8" name="Shape 6"/>
          <p:cNvSpPr/>
          <p:nvPr/>
        </p:nvSpPr>
        <p:spPr>
          <a:xfrm>
            <a:off x="457200" y="4526280"/>
            <a:ext cx="4846320" cy="1188720"/>
          </a:xfrm>
          <a:prstGeom prst="roundRect">
            <a:avLst>
              <a:gd name="adj" fmla="val 9231"/>
            </a:avLst>
          </a:prstGeom>
          <a:solidFill>
            <a:srgbClr val="082A54"/>
          </a:solidFill>
          <a:ln w="12700">
            <a:solidFill>
              <a:srgbClr val="082A54"/>
            </a:solidFill>
            <a:prstDash val="solid"/>
          </a:ln>
        </p:spPr>
      </p:sp>
      <p:sp>
        <p:nvSpPr>
          <p:cNvPr id="9" name="Text 7"/>
          <p:cNvSpPr txBox="1"/>
          <p:nvPr/>
        </p:nvSpPr>
        <p:spPr>
          <a:xfrm>
            <a:off x="640080" y="4636008"/>
            <a:ext cx="4480560" cy="68945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lead time = in flight ÷ completed per year</a:t>
            </a:r>
            <a:endParaRPr lang="en-US" sz="1700" dirty="0"/>
          </a:p>
        </p:txBody>
      </p:sp>
      <p:sp>
        <p:nvSpPr>
          <p:cNvPr id="10" name="Text 8"/>
          <p:cNvSpPr txBox="1"/>
          <p:nvPr/>
        </p:nvSpPr>
        <p:spPr>
          <a:xfrm>
            <a:off x="640080" y="5263286"/>
            <a:ext cx="4480560" cy="404165"/>
          </a:xfrm>
          <a:prstGeom prst="rect">
            <a:avLst/>
          </a:prstGeom>
          <a:noFill/>
          <a:ln/>
        </p:spPr>
        <p:txBody>
          <a:bodyPr wrap="square" lIns="0" tIns="0" rIns="0" bIns="0" rtlCol="0" anchor="t"/>
          <a:lstStyle/>
          <a:p>
            <a:pPr algn="ctr" indent="0" marL="0">
              <a:buNone/>
            </a:pPr>
            <a:r>
              <a:rPr lang="en-US" sz="1200" dirty="0">
                <a:solidFill>
                  <a:srgbClr val="F2DFB4"/>
                </a:solidFill>
                <a:latin typeface="Calibri" pitchFamily="34" charset="0"/>
                <a:ea typeface="Calibri" pitchFamily="34" charset="-122"/>
                <a:cs typeface="Calibri" pitchFamily="34" charset="-120"/>
              </a:rPr>
              <a:t>the portfolio form</a:t>
            </a:r>
            <a:endParaRPr lang="en-US" sz="1200" dirty="0"/>
          </a:p>
        </p:txBody>
      </p:sp>
      <p:pic>
        <p:nvPicPr>
          <p:cNvPr id="11" name="Image 0" descr="/tmp/claude-0/-home-claude/53ac155d-5147-5504-9aa7-9159f9d0a9f7/scratchpad/deck/figs/s1-fig5.png">    </p:cNvPr>
          <p:cNvPicPr>
            <a:picLocks noChangeAspect="1"/>
          </p:cNvPicPr>
          <p:nvPr/>
        </p:nvPicPr>
        <p:blipFill>
          <a:blip r:embed="rId1"/>
          <a:stretch>
            <a:fillRect/>
          </a:stretch>
        </p:blipFill>
        <p:spPr>
          <a:xfrm>
            <a:off x="5577840" y="960120"/>
            <a:ext cx="6153912" cy="2715434"/>
          </a:xfrm>
          <a:prstGeom prst="rect">
            <a:avLst/>
          </a:prstGeom>
        </p:spPr>
      </p:pic>
      <p:sp>
        <p:nvSpPr>
          <p:cNvPr id="12" name="Text 9"/>
          <p:cNvSpPr txBox="1"/>
          <p:nvPr/>
        </p:nvSpPr>
        <p:spPr>
          <a:xfrm>
            <a:off x="5577840" y="3748706"/>
            <a:ext cx="6153912" cy="457200"/>
          </a:xfrm>
          <a:prstGeom prst="rect">
            <a:avLst/>
          </a:prstGeom>
          <a:noFill/>
          <a:ln/>
        </p:spPr>
        <p:txBody>
          <a:bodyPr wrap="square" lIns="0" tIns="0" rIns="0" bIns="0" rtlCol="0" anchor="t"/>
          <a:lstStyle/>
          <a:p>
            <a:pPr indent="0" marL="0">
              <a:buNone/>
            </a:pPr>
            <a:r>
              <a:rPr lang="en-US" sz="1100" i="1" dirty="0">
                <a:solidFill>
                  <a:srgbClr val="5A6675"/>
                </a:solidFill>
                <a:latin typeface="Calibri" pitchFamily="34" charset="0"/>
                <a:ea typeface="Calibri" pitchFamily="34" charset="-122"/>
                <a:cs typeface="Calibri" pitchFamily="34" charset="-120"/>
              </a:rPr>
              <a:t>Figure 5. For a given rate of completion, the time a project stays open grows in a straight line with the number in flight. The dot is your organisation.</a:t>
            </a:r>
            <a:endParaRPr lang="en-US" sz="1100" dirty="0"/>
          </a:p>
        </p:txBody>
      </p:sp>
      <p:sp>
        <p:nvSpPr>
          <p:cNvPr id="13" name="Shape 10"/>
          <p:cNvSpPr/>
          <p:nvPr/>
        </p:nvSpPr>
        <p:spPr>
          <a:xfrm>
            <a:off x="5577840" y="4251960"/>
            <a:ext cx="6153912" cy="2011680"/>
          </a:xfrm>
          <a:prstGeom prst="roundRect">
            <a:avLst>
              <a:gd name="adj" fmla="val 5455"/>
            </a:avLst>
          </a:prstGeom>
          <a:solidFill>
            <a:srgbClr val="FFFFFF"/>
          </a:solidFill>
          <a:ln w="15875">
            <a:solidFill>
              <a:srgbClr val="4A7DBA"/>
            </a:solidFill>
            <a:prstDash val="solid"/>
          </a:ln>
        </p:spPr>
      </p:sp>
      <p:sp>
        <p:nvSpPr>
          <p:cNvPr id="14" name="Text 11"/>
          <p:cNvSpPr txBox="1"/>
          <p:nvPr/>
        </p:nvSpPr>
        <p:spPr>
          <a:xfrm>
            <a:off x="5779008" y="4416552"/>
            <a:ext cx="575157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Starting less finishes more</a:t>
            </a:r>
            <a:endParaRPr lang="en-US" sz="1600" dirty="0"/>
          </a:p>
        </p:txBody>
      </p:sp>
      <p:sp>
        <p:nvSpPr>
          <p:cNvPr id="15" name="Text 12"/>
          <p:cNvSpPr txBox="1"/>
          <p:nvPr/>
        </p:nvSpPr>
        <p:spPr>
          <a:xfrm>
            <a:off x="5779008" y="4837176"/>
            <a:ext cx="5751576" cy="128930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Twenty projects in flight, ten finished a year: a two-year average lead time, whatever the schedules say. Halve the number in flight and the lead time halves, with the same people and the same budget — and throughput usually rises, because the context switching that consumed the difference disappears.</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WE DO THIS CALCULATION LIVE</a:t>
            </a:r>
            <a:endParaRPr lang="en-US" sz="2200" dirty="0"/>
          </a:p>
        </p:txBody>
      </p:sp>
      <p:sp>
        <p:nvSpPr>
          <p:cNvPr id="3" name="Shape 1"/>
          <p:cNvSpPr/>
          <p:nvPr/>
        </p:nvSpPr>
        <p:spPr>
          <a:xfrm>
            <a:off x="457200" y="1005840"/>
            <a:ext cx="3566160" cy="2194560"/>
          </a:xfrm>
          <a:prstGeom prst="roundRect">
            <a:avLst>
              <a:gd name="adj" fmla="val 5000"/>
            </a:avLst>
          </a:prstGeom>
          <a:solidFill>
            <a:srgbClr val="F3F6FA"/>
          </a:solidFill>
          <a:ln w="12700">
            <a:solidFill>
              <a:srgbClr val="C9D3DE"/>
            </a:solidFill>
            <a:prstDash val="solid"/>
          </a:ln>
        </p:spPr>
      </p:sp>
      <p:sp>
        <p:nvSpPr>
          <p:cNvPr id="4" name="Text 2"/>
          <p:cNvSpPr txBox="1"/>
          <p:nvPr/>
        </p:nvSpPr>
        <p:spPr>
          <a:xfrm>
            <a:off x="594360" y="1115568"/>
            <a:ext cx="3291840" cy="1097280"/>
          </a:xfrm>
          <a:prstGeom prst="rect">
            <a:avLst/>
          </a:prstGeom>
          <a:noFill/>
          <a:ln/>
        </p:spPr>
        <p:txBody>
          <a:bodyPr wrap="square" lIns="0" tIns="0" rIns="0" bIns="0" rtlCol="0" anchor="ctr"/>
          <a:lstStyle/>
          <a:p>
            <a:pPr algn="ctr" indent="0" marL="0">
              <a:buNone/>
            </a:pPr>
            <a:r>
              <a:rPr lang="en-US" sz="4400" b="1" dirty="0">
                <a:solidFill>
                  <a:srgbClr val="082A54"/>
                </a:solidFill>
                <a:latin typeface="Cambria" pitchFamily="34" charset="0"/>
                <a:ea typeface="Cambria" pitchFamily="34" charset="-122"/>
                <a:cs typeface="Cambria" pitchFamily="34" charset="-120"/>
              </a:rPr>
              <a:t>A</a:t>
            </a:r>
            <a:endParaRPr lang="en-US" sz="4400" dirty="0"/>
          </a:p>
        </p:txBody>
      </p:sp>
      <p:sp>
        <p:nvSpPr>
          <p:cNvPr id="5" name="Text 3"/>
          <p:cNvSpPr txBox="1"/>
          <p:nvPr/>
        </p:nvSpPr>
        <p:spPr>
          <a:xfrm>
            <a:off x="594360" y="2322576"/>
            <a:ext cx="3291840" cy="833933"/>
          </a:xfrm>
          <a:prstGeom prst="rect">
            <a:avLst/>
          </a:prstGeom>
          <a:noFill/>
          <a:ln/>
        </p:spPr>
        <p:txBody>
          <a:bodyPr wrap="square" lIns="0" tIns="0" rIns="0" bIns="0" rtlCol="0" anchor="t"/>
          <a:lstStyle/>
          <a:p>
            <a:pPr algn="ctr" indent="0" marL="0">
              <a:buNone/>
            </a:pPr>
            <a:r>
              <a:rPr lang="en-US" sz="1250" dirty="0">
                <a:solidFill>
                  <a:srgbClr val="5A6675"/>
                </a:solidFill>
                <a:latin typeface="Calibri" pitchFamily="34" charset="0"/>
                <a:ea typeface="Calibri" pitchFamily="34" charset="-122"/>
                <a:cs typeface="Calibri" pitchFamily="34" charset="-120"/>
              </a:rPr>
              <a:t>Projects currently in flight in your unit — everything authorised and not yet closed, including the ones nobody touched this month. Those count: they are WIP.</a:t>
            </a:r>
            <a:endParaRPr lang="en-US" sz="1250" dirty="0"/>
          </a:p>
        </p:txBody>
      </p:sp>
      <p:sp>
        <p:nvSpPr>
          <p:cNvPr id="6" name="Shape 4"/>
          <p:cNvSpPr/>
          <p:nvPr/>
        </p:nvSpPr>
        <p:spPr>
          <a:xfrm>
            <a:off x="4315968" y="1005840"/>
            <a:ext cx="3566160" cy="2194560"/>
          </a:xfrm>
          <a:prstGeom prst="roundRect">
            <a:avLst>
              <a:gd name="adj" fmla="val 5000"/>
            </a:avLst>
          </a:prstGeom>
          <a:solidFill>
            <a:srgbClr val="F3F6FA"/>
          </a:solidFill>
          <a:ln w="12700">
            <a:solidFill>
              <a:srgbClr val="C9D3DE"/>
            </a:solidFill>
            <a:prstDash val="solid"/>
          </a:ln>
        </p:spPr>
      </p:sp>
      <p:sp>
        <p:nvSpPr>
          <p:cNvPr id="7" name="Text 5"/>
          <p:cNvSpPr txBox="1"/>
          <p:nvPr/>
        </p:nvSpPr>
        <p:spPr>
          <a:xfrm>
            <a:off x="4453128" y="1115568"/>
            <a:ext cx="3291840" cy="1097280"/>
          </a:xfrm>
          <a:prstGeom prst="rect">
            <a:avLst/>
          </a:prstGeom>
          <a:noFill/>
          <a:ln/>
        </p:spPr>
        <p:txBody>
          <a:bodyPr wrap="square" lIns="0" tIns="0" rIns="0" bIns="0" rtlCol="0" anchor="ctr"/>
          <a:lstStyle/>
          <a:p>
            <a:pPr algn="ctr" indent="0" marL="0">
              <a:buNone/>
            </a:pPr>
            <a:r>
              <a:rPr lang="en-US" sz="4400" b="1" dirty="0">
                <a:solidFill>
                  <a:srgbClr val="082A54"/>
                </a:solidFill>
                <a:latin typeface="Cambria" pitchFamily="34" charset="0"/>
                <a:ea typeface="Cambria" pitchFamily="34" charset="-122"/>
                <a:cs typeface="Cambria" pitchFamily="34" charset="-120"/>
              </a:rPr>
              <a:t>B</a:t>
            </a:r>
            <a:endParaRPr lang="en-US" sz="4400" dirty="0"/>
          </a:p>
        </p:txBody>
      </p:sp>
      <p:sp>
        <p:nvSpPr>
          <p:cNvPr id="8" name="Text 6"/>
          <p:cNvSpPr txBox="1"/>
          <p:nvPr/>
        </p:nvSpPr>
        <p:spPr>
          <a:xfrm>
            <a:off x="4453128" y="2322576"/>
            <a:ext cx="3291840" cy="833933"/>
          </a:xfrm>
          <a:prstGeom prst="rect">
            <a:avLst/>
          </a:prstGeom>
          <a:noFill/>
          <a:ln/>
        </p:spPr>
        <p:txBody>
          <a:bodyPr wrap="square" lIns="0" tIns="0" rIns="0" bIns="0" rtlCol="0" anchor="t"/>
          <a:lstStyle/>
          <a:p>
            <a:pPr algn="ctr" indent="0" marL="0">
              <a:buNone/>
            </a:pPr>
            <a:r>
              <a:rPr lang="en-US" sz="1250" dirty="0">
                <a:solidFill>
                  <a:srgbClr val="5A6675"/>
                </a:solidFill>
                <a:latin typeface="Calibri" pitchFamily="34" charset="0"/>
                <a:ea typeface="Calibri" pitchFamily="34" charset="-122"/>
                <a:cs typeface="Calibri" pitchFamily="34" charset="-120"/>
              </a:rPr>
              <a:t>Projects completed and closed in the last twelve months.</a:t>
            </a:r>
            <a:endParaRPr lang="en-US" sz="1250" dirty="0"/>
          </a:p>
        </p:txBody>
      </p:sp>
      <p:sp>
        <p:nvSpPr>
          <p:cNvPr id="9" name="Shape 7"/>
          <p:cNvSpPr/>
          <p:nvPr/>
        </p:nvSpPr>
        <p:spPr>
          <a:xfrm>
            <a:off x="8165592" y="1005840"/>
            <a:ext cx="3566160" cy="2194560"/>
          </a:xfrm>
          <a:prstGeom prst="roundRect">
            <a:avLst>
              <a:gd name="adj" fmla="val 5000"/>
            </a:avLst>
          </a:prstGeom>
          <a:solidFill>
            <a:srgbClr val="F3F6FA"/>
          </a:solidFill>
          <a:ln w="12700">
            <a:solidFill>
              <a:srgbClr val="C9D3DE"/>
            </a:solidFill>
            <a:prstDash val="solid"/>
          </a:ln>
        </p:spPr>
      </p:sp>
      <p:sp>
        <p:nvSpPr>
          <p:cNvPr id="10" name="Text 8"/>
          <p:cNvSpPr txBox="1"/>
          <p:nvPr/>
        </p:nvSpPr>
        <p:spPr>
          <a:xfrm>
            <a:off x="8302752" y="1115568"/>
            <a:ext cx="3291840" cy="1097280"/>
          </a:xfrm>
          <a:prstGeom prst="rect">
            <a:avLst/>
          </a:prstGeom>
          <a:noFill/>
          <a:ln/>
        </p:spPr>
        <p:txBody>
          <a:bodyPr wrap="square" lIns="0" tIns="0" rIns="0" bIns="0" rtlCol="0" anchor="ctr"/>
          <a:lstStyle/>
          <a:p>
            <a:pPr algn="ctr" indent="0" marL="0">
              <a:buNone/>
            </a:pPr>
            <a:r>
              <a:rPr lang="en-US" sz="4000" b="1" dirty="0">
                <a:solidFill>
                  <a:srgbClr val="C59221"/>
                </a:solidFill>
                <a:latin typeface="Cambria" pitchFamily="34" charset="0"/>
                <a:ea typeface="Cambria" pitchFamily="34" charset="-122"/>
                <a:cs typeface="Cambria" pitchFamily="34" charset="-120"/>
              </a:rPr>
              <a:t>A ÷ B</a:t>
            </a:r>
            <a:endParaRPr lang="en-US" sz="4000" dirty="0"/>
          </a:p>
        </p:txBody>
      </p:sp>
      <p:sp>
        <p:nvSpPr>
          <p:cNvPr id="11" name="Text 9"/>
          <p:cNvSpPr txBox="1"/>
          <p:nvPr/>
        </p:nvSpPr>
        <p:spPr>
          <a:xfrm>
            <a:off x="8302752" y="2322576"/>
            <a:ext cx="3291840" cy="833933"/>
          </a:xfrm>
          <a:prstGeom prst="rect">
            <a:avLst/>
          </a:prstGeom>
          <a:noFill/>
          <a:ln/>
        </p:spPr>
        <p:txBody>
          <a:bodyPr wrap="square" lIns="0" tIns="0" rIns="0" bIns="0" rtlCol="0" anchor="t"/>
          <a:lstStyle/>
          <a:p>
            <a:pPr algn="ctr" indent="0" marL="0">
              <a:buNone/>
            </a:pPr>
            <a:r>
              <a:rPr lang="en-US" sz="1300" dirty="0">
                <a:solidFill>
                  <a:srgbClr val="5A6675"/>
                </a:solidFill>
                <a:latin typeface="Calibri" pitchFamily="34" charset="0"/>
                <a:ea typeface="Calibri" pitchFamily="34" charset="-122"/>
                <a:cs typeface="Calibri" pitchFamily="34" charset="-120"/>
              </a:rPr>
              <a:t>your real average project lead time, in years</a:t>
            </a:r>
            <a:endParaRPr lang="en-US" sz="1300" dirty="0"/>
          </a:p>
        </p:txBody>
      </p:sp>
      <p:sp>
        <p:nvSpPr>
          <p:cNvPr id="12" name="Shape 10"/>
          <p:cNvSpPr/>
          <p:nvPr/>
        </p:nvSpPr>
        <p:spPr>
          <a:xfrm>
            <a:off x="457200" y="3429000"/>
            <a:ext cx="11277295" cy="1097280"/>
          </a:xfrm>
          <a:prstGeom prst="roundRect">
            <a:avLst>
              <a:gd name="adj" fmla="val 10000"/>
            </a:avLst>
          </a:prstGeom>
          <a:solidFill>
            <a:srgbClr val="FBF3E0"/>
          </a:solidFill>
          <a:ln w="15875">
            <a:solidFill>
              <a:srgbClr val="C59221"/>
            </a:solidFill>
            <a:prstDash val="solid"/>
          </a:ln>
        </p:spPr>
      </p:sp>
      <p:sp>
        <p:nvSpPr>
          <p:cNvPr id="13" name="Text 11"/>
          <p:cNvSpPr txBox="1"/>
          <p:nvPr/>
        </p:nvSpPr>
        <p:spPr>
          <a:xfrm>
            <a:off x="658368" y="3520440"/>
            <a:ext cx="10874959" cy="914400"/>
          </a:xfrm>
          <a:prstGeom prst="rect">
            <a:avLst/>
          </a:prstGeom>
          <a:noFill/>
          <a:ln/>
        </p:spPr>
        <p:txBody>
          <a:bodyPr wrap="square" lIns="0" tIns="0" rIns="0" bIns="0" rtlCol="0" anchor="ctr"/>
          <a:lstStyle/>
          <a:p>
            <a:pPr indent="0" marL="0">
              <a:lnSpc>
                <a:spcPct val="112000"/>
              </a:lnSpc>
              <a:buNone/>
            </a:pPr>
            <a:r>
              <a:rPr lang="en-US" sz="1500" b="1" dirty="0">
                <a:solidFill>
                  <a:srgbClr val="082A54"/>
                </a:solidFill>
                <a:latin typeface="Calibri" pitchFamily="34" charset="0"/>
                <a:ea typeface="Calibri" pitchFamily="34" charset="-122"/>
                <a:cs typeface="Calibri" pitchFamily="34" charset="-120"/>
              </a:rPr>
              <a:t>Approximate figures are enough. The interesting number is not the result — it is the gap between that result and the lead time your organisation believes it has.</a:t>
            </a:r>
            <a:endParaRPr lang="en-US" sz="1500" dirty="0"/>
          </a:p>
        </p:txBody>
      </p:sp>
      <p:sp>
        <p:nvSpPr>
          <p:cNvPr id="14" name="Shape 12"/>
          <p:cNvSpPr/>
          <p:nvPr/>
        </p:nvSpPr>
        <p:spPr>
          <a:xfrm>
            <a:off x="457200" y="4709160"/>
            <a:ext cx="5532120" cy="1554480"/>
          </a:xfrm>
          <a:prstGeom prst="roundRect">
            <a:avLst>
              <a:gd name="adj" fmla="val 7059"/>
            </a:avLst>
          </a:prstGeom>
          <a:solidFill>
            <a:srgbClr val="FFFFFF"/>
          </a:solidFill>
          <a:ln w="15875">
            <a:solidFill>
              <a:srgbClr val="4A7DBA"/>
            </a:solidFill>
            <a:prstDash val="solid"/>
          </a:ln>
        </p:spPr>
      </p:sp>
      <p:sp>
        <p:nvSpPr>
          <p:cNvPr id="15" name="Text 13"/>
          <p:cNvSpPr txBox="1"/>
          <p:nvPr/>
        </p:nvSpPr>
        <p:spPr>
          <a:xfrm>
            <a:off x="658368" y="487375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Two levers, one that works</a:t>
            </a:r>
            <a:endParaRPr lang="en-US" sz="1600" dirty="0"/>
          </a:p>
        </p:txBody>
      </p:sp>
      <p:sp>
        <p:nvSpPr>
          <p:cNvPr id="16" name="Text 14"/>
          <p:cNvSpPr txBox="1"/>
          <p:nvPr/>
        </p:nvSpPr>
        <p:spPr>
          <a:xfrm>
            <a:off x="658368" y="5294376"/>
            <a:ext cx="5129784" cy="83210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Start less (36 → 22 in flight: 18 months → 11) or finish more (+20% capacity: 18 → 14.9). The second is the one everybody reaches for and the first is the one that works — because the first is a decision and the second is a budget.</a:t>
            </a:r>
            <a:endParaRPr lang="en-US" sz="1250" dirty="0"/>
          </a:p>
        </p:txBody>
      </p:sp>
      <p:sp>
        <p:nvSpPr>
          <p:cNvPr id="17" name="Shape 15"/>
          <p:cNvSpPr/>
          <p:nvPr/>
        </p:nvSpPr>
        <p:spPr>
          <a:xfrm>
            <a:off x="6217920" y="4709160"/>
            <a:ext cx="5532120" cy="1554480"/>
          </a:xfrm>
          <a:prstGeom prst="roundRect">
            <a:avLst>
              <a:gd name="adj" fmla="val 7059"/>
            </a:avLst>
          </a:prstGeom>
          <a:solidFill>
            <a:srgbClr val="F3F6FA"/>
          </a:solidFill>
          <a:ln w="15875">
            <a:solidFill>
              <a:srgbClr val="4A7DBA"/>
            </a:solidFill>
            <a:prstDash val="solid"/>
          </a:ln>
        </p:spPr>
      </p:sp>
      <p:sp>
        <p:nvSpPr>
          <p:cNvPr id="18" name="Text 16"/>
          <p:cNvSpPr txBox="1"/>
          <p:nvPr/>
        </p:nvSpPr>
        <p:spPr>
          <a:xfrm>
            <a:off x="6419088" y="487375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Reading it honestly</a:t>
            </a:r>
            <a:endParaRPr lang="en-US" sz="1600" dirty="0"/>
          </a:p>
        </p:txBody>
      </p:sp>
      <p:sp>
        <p:nvSpPr>
          <p:cNvPr id="19" name="Text 17"/>
          <p:cNvSpPr txBox="1"/>
          <p:nvPr/>
        </p:nvSpPr>
        <p:spPr>
          <a:xfrm>
            <a:off x="6419088" y="5294376"/>
            <a:ext cx="5129784" cy="83210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 law holds on averages, for a stable system in which what starts eventually finishes. A portfolio that quietly abandons a third of what it begins is not described by the line — and the first useful thing it can do is count the abandonments.</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WHERE LEAN SHOWS UP IN RETURN ON INVESTED CAPITAL</a:t>
            </a:r>
            <a:endParaRPr lang="en-US" sz="2200" dirty="0"/>
          </a:p>
        </p:txBody>
      </p:sp>
      <p:pic>
        <p:nvPicPr>
          <p:cNvPr id="3" name="Image 0" descr="/tmp/claude-0/-home-claude/53ac155d-5147-5504-9aa7-9159f9d0a9f7/scratchpad/deck/figs/s1-fig6.png">    </p:cNvPr>
          <p:cNvPicPr>
            <a:picLocks noChangeAspect="1"/>
          </p:cNvPicPr>
          <p:nvPr/>
        </p:nvPicPr>
        <p:blipFill>
          <a:blip r:embed="rId1"/>
          <a:stretch>
            <a:fillRect/>
          </a:stretch>
        </p:blipFill>
        <p:spPr>
          <a:xfrm>
            <a:off x="457200" y="914400"/>
            <a:ext cx="7406640" cy="3007135"/>
          </a:xfrm>
          <a:prstGeom prst="rect">
            <a:avLst/>
          </a:prstGeom>
        </p:spPr>
      </p:pic>
      <p:sp>
        <p:nvSpPr>
          <p:cNvPr id="4" name="Text 1"/>
          <p:cNvSpPr txBox="1"/>
          <p:nvPr/>
        </p:nvSpPr>
        <p:spPr>
          <a:xfrm>
            <a:off x="457200" y="3994687"/>
            <a:ext cx="7406640" cy="457200"/>
          </a:xfrm>
          <a:prstGeom prst="rect">
            <a:avLst/>
          </a:prstGeom>
          <a:noFill/>
          <a:ln/>
        </p:spPr>
        <p:txBody>
          <a:bodyPr wrap="square" lIns="0" tIns="0" rIns="0" bIns="0" rtlCol="0" anchor="t"/>
          <a:lstStyle/>
          <a:p>
            <a:pPr indent="0" marL="0">
              <a:buNone/>
            </a:pPr>
            <a:r>
              <a:rPr lang="en-US" sz="1100" i="1" dirty="0">
                <a:solidFill>
                  <a:srgbClr val="5A6675"/>
                </a:solidFill>
                <a:latin typeface="Calibri" pitchFamily="34" charset="0"/>
                <a:ea typeface="Calibri" pitchFamily="34" charset="-122"/>
                <a:cs typeface="Calibri" pitchFamily="34" charset="-120"/>
              </a:rPr>
              <a:t>Figure 6. ROIC decomposed. Removing defects and expediting lifts the left branch; removing lead time lifts the right one by taking capital out of the denominator.</a:t>
            </a:r>
            <a:endParaRPr lang="en-US" sz="1100" dirty="0"/>
          </a:p>
        </p:txBody>
      </p:sp>
      <p:sp>
        <p:nvSpPr>
          <p:cNvPr id="5" name="Shape 2"/>
          <p:cNvSpPr/>
          <p:nvPr/>
        </p:nvSpPr>
        <p:spPr>
          <a:xfrm>
            <a:off x="8138160" y="914400"/>
            <a:ext cx="3593592" cy="1737360"/>
          </a:xfrm>
          <a:prstGeom prst="roundRect">
            <a:avLst>
              <a:gd name="adj" fmla="val 6316"/>
            </a:avLst>
          </a:prstGeom>
          <a:solidFill>
            <a:srgbClr val="FFFFFF"/>
          </a:solidFill>
          <a:ln w="15875">
            <a:solidFill>
              <a:srgbClr val="4A7DBA"/>
            </a:solidFill>
            <a:prstDash val="solid"/>
          </a:ln>
        </p:spPr>
      </p:sp>
      <p:sp>
        <p:nvSpPr>
          <p:cNvPr id="6" name="Text 3"/>
          <p:cNvSpPr txBox="1"/>
          <p:nvPr/>
        </p:nvSpPr>
        <p:spPr>
          <a:xfrm>
            <a:off x="8339328" y="1078992"/>
            <a:ext cx="31912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Margin — the numerator</a:t>
            </a:r>
            <a:endParaRPr lang="en-US" sz="1600" dirty="0"/>
          </a:p>
        </p:txBody>
      </p:sp>
      <p:sp>
        <p:nvSpPr>
          <p:cNvPr id="7" name="Text 4"/>
          <p:cNvSpPr txBox="1"/>
          <p:nvPr/>
        </p:nvSpPr>
        <p:spPr>
          <a:xfrm>
            <a:off x="8339328" y="1499616"/>
            <a:ext cx="3191256" cy="1014984"/>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A1A1A"/>
                </a:solidFill>
                <a:latin typeface="Calibri" pitchFamily="34" charset="0"/>
                <a:ea typeface="Calibri" pitchFamily="34" charset="-122"/>
                <a:cs typeface="Calibri" pitchFamily="34" charset="-120"/>
              </a:rPr>
              <a:t>NOPAT ÷ revenue. Lean moves it through scrap, rework, yield and equipment effectiveness. Where every standard lean business case is written.</a:t>
            </a:r>
            <a:endParaRPr lang="en-US" sz="1150" dirty="0"/>
          </a:p>
        </p:txBody>
      </p:sp>
      <p:sp>
        <p:nvSpPr>
          <p:cNvPr id="8" name="Shape 5"/>
          <p:cNvSpPr/>
          <p:nvPr/>
        </p:nvSpPr>
        <p:spPr>
          <a:xfrm>
            <a:off x="8138160" y="2788920"/>
            <a:ext cx="3593592" cy="1737360"/>
          </a:xfrm>
          <a:prstGeom prst="roundRect">
            <a:avLst>
              <a:gd name="adj" fmla="val 6316"/>
            </a:avLst>
          </a:prstGeom>
          <a:solidFill>
            <a:srgbClr val="F3F6FA"/>
          </a:solidFill>
          <a:ln w="15875">
            <a:solidFill>
              <a:srgbClr val="4A7DBA"/>
            </a:solidFill>
            <a:prstDash val="solid"/>
          </a:ln>
        </p:spPr>
      </p:sp>
      <p:sp>
        <p:nvSpPr>
          <p:cNvPr id="9" name="Text 6"/>
          <p:cNvSpPr txBox="1"/>
          <p:nvPr/>
        </p:nvSpPr>
        <p:spPr>
          <a:xfrm>
            <a:off x="8339328" y="2953512"/>
            <a:ext cx="31912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Capital turnover — the denominator</a:t>
            </a:r>
            <a:endParaRPr lang="en-US" sz="1600" dirty="0"/>
          </a:p>
        </p:txBody>
      </p:sp>
      <p:sp>
        <p:nvSpPr>
          <p:cNvPr id="10" name="Text 7"/>
          <p:cNvSpPr txBox="1"/>
          <p:nvPr/>
        </p:nvSpPr>
        <p:spPr>
          <a:xfrm>
            <a:off x="8339328" y="3374136"/>
            <a:ext cx="3191256" cy="1014984"/>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A1A1A"/>
                </a:solidFill>
                <a:latin typeface="Calibri" pitchFamily="34" charset="0"/>
                <a:ea typeface="Calibri" pitchFamily="34" charset="-122"/>
                <a:cs typeface="Calibri" pitchFamily="34" charset="-120"/>
              </a:rPr>
              <a:t>Revenue ÷ invested capital. Lean moves it through inventory, footprint, capacity buffers and the cash cycle. Where nobody in the operations meeting is looking.</a:t>
            </a:r>
            <a:endParaRPr lang="en-US" sz="1150" dirty="0"/>
          </a:p>
        </p:txBody>
      </p:sp>
      <p:sp>
        <p:nvSpPr>
          <p:cNvPr id="11" name="Shape 8"/>
          <p:cNvSpPr/>
          <p:nvPr/>
        </p:nvSpPr>
        <p:spPr>
          <a:xfrm>
            <a:off x="457200" y="4709160"/>
            <a:ext cx="11277295" cy="1554480"/>
          </a:xfrm>
          <a:prstGeom prst="roundRect">
            <a:avLst>
              <a:gd name="adj" fmla="val 7059"/>
            </a:avLst>
          </a:prstGeom>
          <a:solidFill>
            <a:srgbClr val="FBF3E0"/>
          </a:solidFill>
          <a:ln w="15875">
            <a:solidFill>
              <a:srgbClr val="C59221"/>
            </a:solidFill>
            <a:prstDash val="solid"/>
          </a:ln>
        </p:spPr>
      </p:sp>
      <p:sp>
        <p:nvSpPr>
          <p:cNvPr id="12" name="Text 9"/>
          <p:cNvSpPr txBox="1"/>
          <p:nvPr/>
        </p:nvSpPr>
        <p:spPr>
          <a:xfrm>
            <a:off x="658368" y="4800600"/>
            <a:ext cx="10874959" cy="1371600"/>
          </a:xfrm>
          <a:prstGeom prst="rect">
            <a:avLst/>
          </a:prstGeom>
          <a:noFill/>
          <a:ln/>
        </p:spPr>
        <p:txBody>
          <a:bodyPr wrap="square" lIns="0" tIns="0" rIns="0" bIns="0" rtlCol="0" anchor="ctr"/>
          <a:lstStyle/>
          <a:p>
            <a:pPr indent="0" marL="0">
              <a:lnSpc>
                <a:spcPct val="112000"/>
              </a:lnSpc>
              <a:buNone/>
            </a:pPr>
            <a:r>
              <a:rPr lang="en-US" sz="2000" b="1" dirty="0">
                <a:solidFill>
                  <a:srgbClr val="082A54"/>
                </a:solidFill>
                <a:latin typeface="Calibri" pitchFamily="34" charset="0"/>
                <a:ea typeface="Calibri" pitchFamily="34" charset="-122"/>
                <a:cs typeface="Calibri" pitchFamily="34" charset="-120"/>
              </a:rPr>
              <a:t>A programme argued only as cost saving is claiming half of what it does.</a:t>
            </a:r>
            <a:endParaRPr lang="en-US" sz="20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 WORKED SCENARIO — THE DENOMINATOR DOES MORE WORK</a:t>
            </a:r>
            <a:endParaRPr lang="en-US" sz="2200" dirty="0"/>
          </a:p>
        </p:txBody>
      </p:sp>
      <p:sp>
        <p:nvSpPr>
          <p:cNvPr id="3" name="Text 1"/>
          <p:cNvSpPr txBox="1"/>
          <p:nvPr/>
        </p:nvSpPr>
        <p:spPr>
          <a:xfrm>
            <a:off x="457200" y="960120"/>
            <a:ext cx="11277295" cy="64008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Revenue 1,000 a year; fixed assets 500; each day of lead time ties up 15 of inventory; WACC 10%. Lead time is cut from 20 days to 8, and defect reduction lifts the margin from 8% to 10%.</a:t>
            </a:r>
            <a:endParaRPr lang="en-US" sz="13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6035040" cy="914400"/>
        </p:xfrm>
        <a:graphic>
          <a:graphicData uri="http://schemas.openxmlformats.org/drawingml/2006/table">
            <a:tbl>
              <a:tblPr/>
              <a:tblGrid>
                <a:gridCol w="1280160"/>
                <a:gridCol w="1005840"/>
                <a:gridCol w="822960"/>
                <a:gridCol w="1188720"/>
                <a:gridCol w="822960"/>
                <a:gridCol w="91440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Lead time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Margin</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Invested capital</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ROIC</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Economic profit</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20 days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800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Flow only</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8 days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620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12.9%</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+18</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Cost only</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20 days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800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12.5%</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Both</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8 days</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620</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16.1%</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+38</a:t>
                      </a:r>
                      <a:endParaRPr lang="en-US" sz="12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graphicFrame>
        <p:nvGraphicFramePr>
          <p:cNvPr id="5" name="Chart 0" descr=""/>
          <p:cNvGraphicFramePr/>
          <p:nvPr/>
        </p:nvGraphicFramePr>
        <p:xfrm>
          <a:off x="6766560" y="914400"/>
          <a:ext cx="4965192" cy="35661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457200" y="3794760"/>
            <a:ext cx="6035040" cy="2468880"/>
          </a:xfrm>
          <a:prstGeom prst="roundRect">
            <a:avLst>
              <a:gd name="adj" fmla="val 4444"/>
            </a:avLst>
          </a:prstGeom>
          <a:solidFill>
            <a:srgbClr val="FBF3E0"/>
          </a:solidFill>
          <a:ln w="15875">
            <a:solidFill>
              <a:srgbClr val="C59221"/>
            </a:solidFill>
            <a:prstDash val="solid"/>
          </a:ln>
        </p:spPr>
      </p:sp>
      <p:sp>
        <p:nvSpPr>
          <p:cNvPr id="7" name="Text 3"/>
          <p:cNvSpPr txBox="1"/>
          <p:nvPr/>
        </p:nvSpPr>
        <p:spPr>
          <a:xfrm>
            <a:off x="658368" y="3886200"/>
            <a:ext cx="5632704" cy="2286000"/>
          </a:xfrm>
          <a:prstGeom prst="rect">
            <a:avLst/>
          </a:prstGeom>
          <a:noFill/>
          <a:ln/>
        </p:spPr>
        <p:txBody>
          <a:bodyPr wrap="square" lIns="0" tIns="0" rIns="0" bIns="0" rtlCol="0" anchor="ctr"/>
          <a:lstStyle/>
          <a:p>
            <a:pPr indent="0" marL="0">
              <a:lnSpc>
                <a:spcPct val="112000"/>
              </a:lnSpc>
              <a:buNone/>
            </a:pPr>
            <a:r>
              <a:rPr lang="en-US" sz="1250" dirty="0">
                <a:solidFill>
                  <a:srgbClr val="1A1A1A"/>
                </a:solidFill>
                <a:latin typeface="Calibri" pitchFamily="34" charset="0"/>
                <a:ea typeface="Calibri" pitchFamily="34" charset="-122"/>
                <a:cs typeface="Calibri" pitchFamily="34" charset="-120"/>
              </a:rPr>
              <a:t>Margin improved by 25%. Capital turnover improved by 29%. The denominator did more work than the numerator — and the denominator is the half of the equation that operational business cases almost never mention. A firm exactly earning its cost of capital is now creating economic profit, without one additional unit of revenue. Note that the two levers together add more than the two gains added together: the higher margin is earned on a smaller base.</a:t>
            </a:r>
            <a:endParaRPr lang="en-US" sz="1250" dirty="0"/>
          </a:p>
        </p:txBody>
      </p:sp>
      <p:sp>
        <p:nvSpPr>
          <p:cNvPr id="8" name="Shape 4"/>
          <p:cNvSpPr/>
          <p:nvPr/>
        </p:nvSpPr>
        <p:spPr>
          <a:xfrm>
            <a:off x="6766560" y="4663440"/>
            <a:ext cx="4965192" cy="1600200"/>
          </a:xfrm>
          <a:prstGeom prst="roundRect">
            <a:avLst>
              <a:gd name="adj" fmla="val 6857"/>
            </a:avLst>
          </a:prstGeom>
          <a:solidFill>
            <a:srgbClr val="F3F6FA"/>
          </a:solidFill>
          <a:ln w="15875">
            <a:solidFill>
              <a:srgbClr val="4A7DBA"/>
            </a:solidFill>
            <a:prstDash val="solid"/>
          </a:ln>
        </p:spPr>
      </p:sp>
      <p:sp>
        <p:nvSpPr>
          <p:cNvPr id="9" name="Text 5"/>
          <p:cNvSpPr txBox="1"/>
          <p:nvPr/>
        </p:nvSpPr>
        <p:spPr>
          <a:xfrm>
            <a:off x="6967728" y="4828032"/>
            <a:ext cx="4562856"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Try it with an unhelpful setting</a:t>
            </a:r>
            <a:endParaRPr lang="en-US" sz="1600" dirty="0"/>
          </a:p>
        </p:txBody>
      </p:sp>
      <p:sp>
        <p:nvSpPr>
          <p:cNvPr id="10" name="Text 6"/>
          <p:cNvSpPr txBox="1"/>
          <p:nvPr/>
        </p:nvSpPr>
        <p:spPr>
          <a:xfrm>
            <a:off x="6967728" y="5248656"/>
            <a:ext cx="4562856" cy="877824"/>
          </a:xfrm>
          <a:prstGeom prst="rect">
            <a:avLst/>
          </a:prstGeom>
          <a:noFill/>
          <a:ln/>
        </p:spPr>
        <p:txBody>
          <a:bodyPr wrap="square" lIns="0" tIns="0" rIns="0" bIns="0" rtlCol="0" anchor="t"/>
          <a:lstStyle/>
          <a:p>
            <a:pPr indent="0" marL="0">
              <a:lnSpc>
                <a:spcPct val="112000"/>
              </a:lnSpc>
              <a:spcAft>
                <a:spcPts val="600"/>
              </a:spcAft>
              <a:buNone/>
            </a:pPr>
            <a:r>
              <a:rPr lang="en-US" sz="1150" dirty="0">
                <a:solidFill>
                  <a:srgbClr val="1A1A1A"/>
                </a:solidFill>
                <a:latin typeface="Calibri" pitchFamily="34" charset="0"/>
                <a:ea typeface="Calibri" pitchFamily="34" charset="-122"/>
                <a:cs typeface="Calibri" pitchFamily="34" charset="-120"/>
              </a:rPr>
              <a:t>Raise the margin as far as it goes and leave lead time at thirty days — and watch how much of the improvement the denominator eats. That is the shape of a cost-reduction programme that never touched flow.</a:t>
            </a:r>
            <a:endParaRPr lang="en-US" sz="11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BOTH PILLARS MOVE BOTH EDGES OF VALUE</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7295" cy="914400"/>
        </p:xfrm>
        <a:graphic>
          <a:graphicData uri="http://schemas.openxmlformats.org/drawingml/2006/table">
            <a:tbl>
              <a:tblPr/>
              <a:tblGrid>
                <a:gridCol w="2194560"/>
                <a:gridCol w="907999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Jidoka → cost</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Defects removed at source; the cost of poor quality collapses. The classic business case.</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Jidoka → WTP</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Zero-defect delivery lets a B2B customer eliminate incoming inspection and cut safety stock. A willingness-to-pay argument with a hard number attached.</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JIT → cost</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Less inventory, handling, expediting and obsolescence; a smaller footprint.</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JIT → WTP</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Customers pay for speed and predictability, because short lead times cut their own forecasting risk.</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457200" y="4206240"/>
            <a:ext cx="11277295" cy="914400"/>
          </a:xfrm>
          <a:prstGeom prst="roundRect">
            <a:avLst>
              <a:gd name="adj" fmla="val 12000"/>
            </a:avLst>
          </a:prstGeom>
          <a:solidFill>
            <a:srgbClr val="FBF3E0"/>
          </a:solidFill>
          <a:ln w="15875">
            <a:solidFill>
              <a:srgbClr val="C59221"/>
            </a:solidFill>
            <a:prstDash val="solid"/>
          </a:ln>
        </p:spPr>
      </p:sp>
      <p:sp>
        <p:nvSpPr>
          <p:cNvPr id="5" name="Text 2"/>
          <p:cNvSpPr txBox="1"/>
          <p:nvPr/>
        </p:nvSpPr>
        <p:spPr>
          <a:xfrm>
            <a:off x="658368" y="4297680"/>
            <a:ext cx="10874959" cy="731520"/>
          </a:xfrm>
          <a:prstGeom prst="rect">
            <a:avLst/>
          </a:prstGeom>
          <a:noFill/>
          <a:ln/>
        </p:spPr>
        <p:txBody>
          <a:bodyPr wrap="square" lIns="0" tIns="0" rIns="0" bIns="0" rtlCol="0" anchor="ctr"/>
          <a:lstStyle/>
          <a:p>
            <a:pPr indent="0" marL="0">
              <a:lnSpc>
                <a:spcPct val="112000"/>
              </a:lnSpc>
              <a:buNone/>
            </a:pPr>
            <a:r>
              <a:rPr lang="en-US" sz="1400" b="1" dirty="0">
                <a:solidFill>
                  <a:srgbClr val="082A54"/>
                </a:solidFill>
                <a:latin typeface="Calibri" pitchFamily="34" charset="0"/>
                <a:ea typeface="Calibri" pitchFamily="34" charset="-122"/>
                <a:cs typeface="Calibri" pitchFamily="34" charset="-120"/>
              </a:rPr>
              <a:t>The value stick said there are two ways to create value. The house delivers both at once — which is why a lean business case written only on cost is undersold twice: once on the WTP edge, once on the denominator.</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Seven</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SEVEN</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DMAIC — conducting improvement, analysing problems</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Everything so far describes what good looks like. DMAIC is the method for getting there from where you are — above all, for analysing a problem before paying to solve it.</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FAILURE MODE IT EXISTS TO PREVENT</a:t>
            </a:r>
            <a:endParaRPr lang="en-US" sz="2200" dirty="0"/>
          </a:p>
        </p:txBody>
      </p:sp>
      <p:sp>
        <p:nvSpPr>
          <p:cNvPr id="3" name="Shape 1"/>
          <p:cNvSpPr/>
          <p:nvPr/>
        </p:nvSpPr>
        <p:spPr>
          <a:xfrm>
            <a:off x="457200" y="1005840"/>
            <a:ext cx="5532120" cy="2743200"/>
          </a:xfrm>
          <a:prstGeom prst="roundRect">
            <a:avLst>
              <a:gd name="adj" fmla="val 4000"/>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What everyone remembers</a:t>
            </a:r>
            <a:endParaRPr lang="en-US" sz="1600" dirty="0"/>
          </a:p>
        </p:txBody>
      </p:sp>
      <p:sp>
        <p:nvSpPr>
          <p:cNvPr id="5" name="Text 3"/>
          <p:cNvSpPr txBox="1"/>
          <p:nvPr/>
        </p:nvSpPr>
        <p:spPr>
          <a:xfrm>
            <a:off x="658368" y="1591056"/>
            <a:ext cx="5129784" cy="202082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Six Sigma, Motorola, the 1980s; a process so consistent that specification limits sit six standard deviations from the mean — 3.4 defects per million opportunities. The statistical ambition is the part everyone remembers. It is not the part that matters most to a senior manager.</a:t>
            </a:r>
            <a:endParaRPr lang="en-US" sz="1350" dirty="0"/>
          </a:p>
        </p:txBody>
      </p:sp>
      <p:sp>
        <p:nvSpPr>
          <p:cNvPr id="6" name="Shape 4"/>
          <p:cNvSpPr/>
          <p:nvPr/>
        </p:nvSpPr>
        <p:spPr>
          <a:xfrm>
            <a:off x="6217920" y="1005840"/>
            <a:ext cx="5532120" cy="2743200"/>
          </a:xfrm>
          <a:prstGeom prst="roundRect">
            <a:avLst>
              <a:gd name="adj" fmla="val 4000"/>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What matters</a:t>
            </a:r>
            <a:endParaRPr lang="en-US" sz="1600" dirty="0"/>
          </a:p>
        </p:txBody>
      </p:sp>
      <p:sp>
        <p:nvSpPr>
          <p:cNvPr id="8" name="Text 6"/>
          <p:cNvSpPr txBox="1"/>
          <p:nvPr/>
        </p:nvSpPr>
        <p:spPr>
          <a:xfrm>
            <a:off x="6419088" y="1591056"/>
            <a:ext cx="5129784" cy="202082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An experienced manager recognises a problem in seconds and already knows what to do. That recognition is pattern-matching: fast, frequently right, and entirely unverified. When it is wrong, the organisation finds out after it has paid — and because the supposed cause was never written down, the error teaches nothing.</a:t>
            </a:r>
            <a:endParaRPr lang="en-US" sz="1350" dirty="0"/>
          </a:p>
        </p:txBody>
      </p:sp>
      <p:sp>
        <p:nvSpPr>
          <p:cNvPr id="9" name="Shape 7"/>
          <p:cNvSpPr/>
          <p:nvPr/>
        </p:nvSpPr>
        <p:spPr>
          <a:xfrm>
            <a:off x="457200" y="3977640"/>
            <a:ext cx="11277295" cy="1188720"/>
          </a:xfrm>
          <a:prstGeom prst="roundRect">
            <a:avLst>
              <a:gd name="adj" fmla="val 9231"/>
            </a:avLst>
          </a:prstGeom>
          <a:solidFill>
            <a:srgbClr val="FBF3E0"/>
          </a:solidFill>
          <a:ln w="15875">
            <a:solidFill>
              <a:srgbClr val="C59221"/>
            </a:solidFill>
            <a:prstDash val="solid"/>
          </a:ln>
        </p:spPr>
      </p:sp>
      <p:sp>
        <p:nvSpPr>
          <p:cNvPr id="10" name="Text 8"/>
          <p:cNvSpPr txBox="1"/>
          <p:nvPr/>
        </p:nvSpPr>
        <p:spPr>
          <a:xfrm>
            <a:off x="658368" y="4069080"/>
            <a:ext cx="10874959" cy="1005840"/>
          </a:xfrm>
          <a:prstGeom prst="rect">
            <a:avLst/>
          </a:prstGeom>
          <a:noFill/>
          <a:ln/>
        </p:spPr>
        <p:txBody>
          <a:bodyPr wrap="square" lIns="0" tIns="0" rIns="0" bIns="0" rtlCol="0" anchor="ctr"/>
          <a:lstStyle/>
          <a:p>
            <a:pPr indent="0" marL="0">
              <a:lnSpc>
                <a:spcPct val="112000"/>
              </a:lnSpc>
              <a:buNone/>
            </a:pPr>
            <a:r>
              <a:rPr lang="en-US" sz="1600" b="1" dirty="0">
                <a:solidFill>
                  <a:srgbClr val="082A54"/>
                </a:solidFill>
                <a:latin typeface="Calibri" pitchFamily="34" charset="0"/>
                <a:ea typeface="Calibri" pitchFamily="34" charset="-122"/>
                <a:cs typeface="Calibri" pitchFamily="34" charset="-120"/>
              </a:rPr>
              <a:t>DMAIC does not exist to distrust experience. It exists so that the experienced manager's hypothesis is written down before it is funded — and can therefore be refuted while refutation is still cheap.</a:t>
            </a:r>
            <a:endParaRPr lang="en-US" sz="1600" dirty="0"/>
          </a:p>
        </p:txBody>
      </p:sp>
      <p:sp>
        <p:nvSpPr>
          <p:cNvPr id="11" name="Shape 9"/>
          <p:cNvSpPr/>
          <p:nvPr/>
        </p:nvSpPr>
        <p:spPr>
          <a:xfrm>
            <a:off x="457200" y="5349240"/>
            <a:ext cx="11277295" cy="914400"/>
          </a:xfrm>
          <a:prstGeom prst="roundRect">
            <a:avLst>
              <a:gd name="adj" fmla="val 12000"/>
            </a:avLst>
          </a:prstGeom>
          <a:solidFill>
            <a:srgbClr val="F3F6FA"/>
          </a:solidFill>
          <a:ln w="15875">
            <a:solidFill>
              <a:srgbClr val="4A7DBA"/>
            </a:solidFill>
            <a:prstDash val="solid"/>
          </a:ln>
        </p:spPr>
      </p:sp>
      <p:sp>
        <p:nvSpPr>
          <p:cNvPr id="12" name="Text 10"/>
          <p:cNvSpPr txBox="1"/>
          <p:nvPr/>
        </p:nvSpPr>
        <p:spPr>
          <a:xfrm>
            <a:off x="658368" y="5440680"/>
            <a:ext cx="10874959" cy="731520"/>
          </a:xfrm>
          <a:prstGeom prst="rect">
            <a:avLst/>
          </a:prstGeom>
          <a:noFill/>
          <a:ln/>
        </p:spPr>
        <p:txBody>
          <a:bodyPr wrap="square" lIns="0" tIns="0" rIns="0" bIns="0" rtlCol="0" anchor="ctr"/>
          <a:lstStyle/>
          <a:p>
            <a:pPr indent="0" marL="0">
              <a:lnSpc>
                <a:spcPct val="112000"/>
              </a:lnSpc>
              <a:buNone/>
            </a:pPr>
            <a:r>
              <a:rPr lang="en-US" sz="1400" i="1" dirty="0">
                <a:solidFill>
                  <a:srgbClr val="1A1A1A"/>
                </a:solidFill>
                <a:latin typeface="Calibri" pitchFamily="34" charset="0"/>
                <a:ea typeface="Calibri" pitchFamily="34" charset="-122"/>
                <a:cs typeface="Calibri" pitchFamily="34" charset="-120"/>
              </a:rPr>
              <a:t>Bridge from Part Two: C is the repeated ability to improve P. DMAIC is how that improvement is conducted.</a:t>
            </a:r>
            <a:endParaRPr lang="en-US" sz="14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FIVE PHASES</a:t>
            </a:r>
            <a:endParaRPr lang="en-US" sz="2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77295" cy="914400"/>
        </p:xfrm>
        <a:graphic>
          <a:graphicData uri="http://schemas.openxmlformats.org/drawingml/2006/table">
            <a:tbl>
              <a:tblPr/>
              <a:tblGrid>
                <a:gridCol w="1371600"/>
                <a:gridCol w="6035040"/>
                <a:gridCol w="38679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question it answers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Representative tools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Define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What is the problem, whose is it, what does it cost, and where does the scope end?</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Project charter · SIPOC · voice of the customer</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What is today's performance, measured in a way anyone would trust?</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Operational definitions · measurement system analysis</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Analyze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What is the cause — verified, not assumed?</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Five whys · Ishikawa · Pareto · hypothesis testing</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Improve</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Does the solution work in a pilot, before it is scaled?</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Controlled pilot · poka-yoke · design of experiments</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Does the gain survive the dissolution of the project team?</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Control charts · control plan · standardised work</a:t>
                      </a:r>
                      <a:endParaRPr lang="en-US" sz="13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4343400"/>
            <a:ext cx="5532120" cy="1920240"/>
          </a:xfrm>
          <a:prstGeom prst="roundRect">
            <a:avLst>
              <a:gd name="adj" fmla="val 5714"/>
            </a:avLst>
          </a:prstGeom>
          <a:solidFill>
            <a:srgbClr val="FFFFFF"/>
          </a:solidFill>
          <a:ln w="15875">
            <a:solidFill>
              <a:srgbClr val="4A7DBA"/>
            </a:solidFill>
            <a:prstDash val="solid"/>
          </a:ln>
        </p:spPr>
      </p:sp>
      <p:sp>
        <p:nvSpPr>
          <p:cNvPr id="5" name="Text 2"/>
          <p:cNvSpPr txBox="1"/>
          <p:nvPr/>
        </p:nvSpPr>
        <p:spPr>
          <a:xfrm>
            <a:off x="658368" y="45079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Define and Measure are half the work</a:t>
            </a:r>
            <a:endParaRPr lang="en-US" sz="1600" dirty="0"/>
          </a:p>
        </p:txBody>
      </p:sp>
      <p:sp>
        <p:nvSpPr>
          <p:cNvPr id="6" name="Text 3"/>
          <p:cNvSpPr txBox="1"/>
          <p:nvPr/>
        </p:nvSpPr>
        <p:spPr>
          <a:xfrm>
            <a:off x="658368" y="4928616"/>
            <a:ext cx="5129784" cy="119786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They look like bureaucracy. A badly defined problem has no verifiable solution, and a measure nobody trusts ends every discussion in opinion. A phase is complete when its question has an answer somebody would stake a decision on.</a:t>
            </a:r>
            <a:endParaRPr lang="en-US" sz="1250" dirty="0"/>
          </a:p>
        </p:txBody>
      </p:sp>
      <p:sp>
        <p:nvSpPr>
          <p:cNvPr id="7" name="Shape 4"/>
          <p:cNvSpPr/>
          <p:nvPr/>
        </p:nvSpPr>
        <p:spPr>
          <a:xfrm>
            <a:off x="6217920" y="4343400"/>
            <a:ext cx="5532120" cy="1920240"/>
          </a:xfrm>
          <a:prstGeom prst="roundRect">
            <a:avLst>
              <a:gd name="adj" fmla="val 5714"/>
            </a:avLst>
          </a:prstGeom>
          <a:solidFill>
            <a:srgbClr val="F3F6FA"/>
          </a:solidFill>
          <a:ln w="15875">
            <a:solidFill>
              <a:srgbClr val="4A7DBA"/>
            </a:solidFill>
            <a:prstDash val="solid"/>
          </a:ln>
        </p:spPr>
      </p:sp>
      <p:sp>
        <p:nvSpPr>
          <p:cNvPr id="8" name="Text 5"/>
          <p:cNvSpPr txBox="1"/>
          <p:nvPr/>
        </p:nvSpPr>
        <p:spPr>
          <a:xfrm>
            <a:off x="6419088" y="45079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Not rival systems</a:t>
            </a:r>
            <a:endParaRPr lang="en-US" sz="1600" dirty="0"/>
          </a:p>
        </p:txBody>
      </p:sp>
      <p:sp>
        <p:nvSpPr>
          <p:cNvPr id="9" name="Text 6"/>
          <p:cNvSpPr txBox="1"/>
          <p:nvPr/>
        </p:nvSpPr>
        <p:spPr>
          <a:xfrm>
            <a:off x="6419088" y="4928616"/>
            <a:ext cx="5129784" cy="119786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Poka-yoke appears here and in the Jidoka pillar. Lean and Six Sigma share mechanisms and attack different enemies — flow and waste on one side, variation and defects on the other. The tools are named, not examined.</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ANALYZE, IN PRACTICE — AND WHERE INITIATIVES DIE</a:t>
            </a:r>
            <a:endParaRPr lang="en-US" sz="2200" dirty="0"/>
          </a:p>
        </p:txBody>
      </p:sp>
      <p:sp>
        <p:nvSpPr>
          <p:cNvPr id="3" name="Shape 1"/>
          <p:cNvSpPr/>
          <p:nvPr/>
        </p:nvSpPr>
        <p:spPr>
          <a:xfrm>
            <a:off x="457200" y="1005840"/>
            <a:ext cx="5532120" cy="2880360"/>
          </a:xfrm>
          <a:prstGeom prst="roundRect">
            <a:avLst>
              <a:gd name="adj" fmla="val 3810"/>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Five whys — two rules</a:t>
            </a:r>
            <a:endParaRPr lang="en-US" sz="1600" dirty="0"/>
          </a:p>
        </p:txBody>
      </p:sp>
      <p:sp>
        <p:nvSpPr>
          <p:cNvPr id="5" name="Text 3"/>
          <p:cNvSpPr txBox="1"/>
          <p:nvPr/>
        </p:nvSpPr>
        <p:spPr>
          <a:xfrm>
            <a:off x="658368" y="1591056"/>
            <a:ext cx="5129784" cy="2157984"/>
          </a:xfrm>
          <a:prstGeom prst="rect">
            <a:avLst/>
          </a:prstGeom>
          <a:noFill/>
          <a:ln/>
        </p:spPr>
        <p:txBody>
          <a:bodyPr wrap="square" lIns="0" tIns="0" rIns="0" bIns="0" rtlCol="0" anchor="t"/>
          <a:lstStyle/>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A cause attributed to a person is not a process cause. “Because he did not deliver on time” restates the symptom. The next question is always: what in the process allows that to happen without anyone noticing?</a:t>
            </a:r>
            <a:endParaRPr lang="en-US" sz="1300" dirty="0"/>
          </a:p>
          <a:p>
            <a:pPr marL="342900" indent="-342900">
              <a:lnSpc>
                <a:spcPct val="112000"/>
              </a:lnSpc>
              <a:spcAft>
                <a:spcPts val="400"/>
              </a:spcAft>
              <a:buSzPct val="100000"/>
              <a:buChar char="•"/>
            </a:pPr>
            <a:r>
              <a:rPr lang="en-US" sz="1300" dirty="0">
                <a:solidFill>
                  <a:srgbClr val="1A1A1A"/>
                </a:solidFill>
                <a:latin typeface="Calibri" pitchFamily="34" charset="0"/>
                <a:ea typeface="Calibri" pitchFamily="34" charset="-122"/>
                <a:cs typeface="Calibri" pitchFamily="34" charset="-120"/>
              </a:rPr>
              <a:t>Stop when you reach something somebody controls. “Because the market is volatile” has gone one step too far; a chain that stops at the second link has not gone far enough.</a:t>
            </a:r>
            <a:endParaRPr lang="en-US" sz="1300" dirty="0"/>
          </a:p>
        </p:txBody>
      </p:sp>
      <p:sp>
        <p:nvSpPr>
          <p:cNvPr id="6" name="Shape 4"/>
          <p:cNvSpPr/>
          <p:nvPr/>
        </p:nvSpPr>
        <p:spPr>
          <a:xfrm>
            <a:off x="6217920" y="1005840"/>
            <a:ext cx="5532120" cy="2880360"/>
          </a:xfrm>
          <a:prstGeom prst="roundRect">
            <a:avLst>
              <a:gd name="adj" fmla="val 3810"/>
            </a:avLst>
          </a:prstGeom>
          <a:solidFill>
            <a:srgbClr val="FBF3E0"/>
          </a:solidFill>
          <a:ln w="15875">
            <a:solidFill>
              <a:srgbClr val="C59221"/>
            </a:solidFill>
            <a:prstDash val="solid"/>
          </a:ln>
        </p:spPr>
      </p:sp>
      <p:sp>
        <p:nvSpPr>
          <p:cNvPr id="7" name="Text 5"/>
          <p:cNvSpPr txBox="1"/>
          <p:nvPr/>
        </p:nvSpPr>
        <p:spPr>
          <a:xfrm>
            <a:off x="6419088" y="1097280"/>
            <a:ext cx="5129784" cy="269748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What the technique reliably demonstrates: the cause people name first is usually the third or fourth link in the chain — still a symptom. Pareto then answers a different question: of the many verified causes, which few account for most of the effect.</a:t>
            </a:r>
            <a:endParaRPr lang="en-US" sz="1300" dirty="0"/>
          </a:p>
          <a:p>
            <a:pPr indent="0" marL="0">
              <a:lnSpc>
                <a:spcPct val="112000"/>
              </a:lnSpc>
              <a:buNone/>
            </a:pPr>
            <a:endParaRPr lang="en-US" sz="1300" dirty="0"/>
          </a:p>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We do this live, on the queue your value stream sketch reveals in the group activity.</a:t>
            </a:r>
            <a:endParaRPr lang="en-US" sz="1300" dirty="0"/>
          </a:p>
        </p:txBody>
      </p:sp>
      <p:sp>
        <p:nvSpPr>
          <p:cNvPr id="8" name="Shape 6"/>
          <p:cNvSpPr/>
          <p:nvPr/>
        </p:nvSpPr>
        <p:spPr>
          <a:xfrm>
            <a:off x="457200" y="4069080"/>
            <a:ext cx="3657600" cy="2194560"/>
          </a:xfrm>
          <a:prstGeom prst="roundRect">
            <a:avLst>
              <a:gd name="adj" fmla="val 5000"/>
            </a:avLst>
          </a:prstGeom>
          <a:solidFill>
            <a:srgbClr val="FFFFFF"/>
          </a:solidFill>
          <a:ln w="15875">
            <a:solidFill>
              <a:srgbClr val="4A7DBA"/>
            </a:solidFill>
            <a:prstDash val="solid"/>
          </a:ln>
        </p:spPr>
      </p:sp>
      <p:sp>
        <p:nvSpPr>
          <p:cNvPr id="9" name="Text 7"/>
          <p:cNvSpPr txBox="1"/>
          <p:nvPr/>
        </p:nvSpPr>
        <p:spPr>
          <a:xfrm>
            <a:off x="658368" y="4233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In Analyze</a:t>
            </a:r>
            <a:endParaRPr lang="en-US" sz="1600" dirty="0"/>
          </a:p>
        </p:txBody>
      </p:sp>
      <p:sp>
        <p:nvSpPr>
          <p:cNvPr id="10" name="Text 8"/>
          <p:cNvSpPr txBox="1"/>
          <p:nvPr/>
        </p:nvSpPr>
        <p:spPr>
          <a:xfrm>
            <a:off x="658368" y="4654296"/>
            <a:ext cx="3255264" cy="147218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 team arrives with its preferred solution and uses the phase to justify it. Symptom: the root cause turns out to be whatever someone already wanted to buy.</a:t>
            </a:r>
            <a:endParaRPr lang="en-US" sz="1250" dirty="0"/>
          </a:p>
        </p:txBody>
      </p:sp>
      <p:sp>
        <p:nvSpPr>
          <p:cNvPr id="11" name="Shape 9"/>
          <p:cNvSpPr/>
          <p:nvPr/>
        </p:nvSpPr>
        <p:spPr>
          <a:xfrm>
            <a:off x="4270248" y="4069080"/>
            <a:ext cx="3657600" cy="2194560"/>
          </a:xfrm>
          <a:prstGeom prst="roundRect">
            <a:avLst>
              <a:gd name="adj" fmla="val 5000"/>
            </a:avLst>
          </a:prstGeom>
          <a:solidFill>
            <a:srgbClr val="FFFFFF"/>
          </a:solidFill>
          <a:ln w="15875">
            <a:solidFill>
              <a:srgbClr val="4A7DBA"/>
            </a:solidFill>
            <a:prstDash val="solid"/>
          </a:ln>
        </p:spPr>
      </p:sp>
      <p:sp>
        <p:nvSpPr>
          <p:cNvPr id="12" name="Text 10"/>
          <p:cNvSpPr txBox="1"/>
          <p:nvPr/>
        </p:nvSpPr>
        <p:spPr>
          <a:xfrm>
            <a:off x="4471416" y="4233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In Control</a:t>
            </a:r>
            <a:endParaRPr lang="en-US" sz="1600" dirty="0"/>
          </a:p>
        </p:txBody>
      </p:sp>
      <p:sp>
        <p:nvSpPr>
          <p:cNvPr id="13" name="Text 11"/>
          <p:cNvSpPr txBox="1"/>
          <p:nvPr/>
        </p:nvSpPr>
        <p:spPr>
          <a:xfrm>
            <a:off x="4471416" y="4654296"/>
            <a:ext cx="3255264" cy="147218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The gain exists for as long as the team exists. Once it disperses the process regresses within months, because nobody inherited the standard.</a:t>
            </a:r>
            <a:endParaRPr lang="en-US" sz="1250" dirty="0"/>
          </a:p>
        </p:txBody>
      </p:sp>
      <p:sp>
        <p:nvSpPr>
          <p:cNvPr id="14" name="Shape 12"/>
          <p:cNvSpPr/>
          <p:nvPr/>
        </p:nvSpPr>
        <p:spPr>
          <a:xfrm>
            <a:off x="8074152" y="4069080"/>
            <a:ext cx="3657600" cy="2194560"/>
          </a:xfrm>
          <a:prstGeom prst="roundRect">
            <a:avLst>
              <a:gd name="adj" fmla="val 5000"/>
            </a:avLst>
          </a:prstGeom>
          <a:solidFill>
            <a:srgbClr val="F3F6FA"/>
          </a:solidFill>
          <a:ln w="15875">
            <a:solidFill>
              <a:srgbClr val="4A7DBA"/>
            </a:solidFill>
            <a:prstDash val="solid"/>
          </a:ln>
        </p:spPr>
      </p:sp>
      <p:sp>
        <p:nvSpPr>
          <p:cNvPr id="15" name="Text 13"/>
          <p:cNvSpPr txBox="1"/>
          <p:nvPr/>
        </p:nvSpPr>
        <p:spPr>
          <a:xfrm>
            <a:off x="8275320" y="4233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The cheapest safeguard</a:t>
            </a:r>
            <a:endParaRPr lang="en-US" sz="1600" dirty="0"/>
          </a:p>
        </p:txBody>
      </p:sp>
      <p:sp>
        <p:nvSpPr>
          <p:cNvPr id="16" name="Text 14"/>
          <p:cNvSpPr txBox="1"/>
          <p:nvPr/>
        </p:nvSpPr>
        <p:spPr>
          <a:xfrm>
            <a:off x="8275320" y="4654296"/>
            <a:ext cx="3255264" cy="147218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A tollgate at the end of each phase, chaired by the executive sponsor who owns the business result — not by the specialist running the project. Whoever conducts the work is not whoever approves it.</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DMAIC AS A PROJECT — AND WHERE IT DOES NOT APPLY</a:t>
            </a:r>
            <a:endParaRPr lang="en-US" sz="2200" dirty="0"/>
          </a:p>
        </p:txBody>
      </p:sp>
      <p:sp>
        <p:nvSpPr>
          <p:cNvPr id="3" name="Shape 1"/>
          <p:cNvSpPr/>
          <p:nvPr/>
        </p:nvSpPr>
        <p:spPr>
          <a:xfrm>
            <a:off x="457200" y="1005840"/>
            <a:ext cx="11277295" cy="3108960"/>
          </a:xfrm>
          <a:prstGeom prst="roundRect">
            <a:avLst>
              <a:gd name="adj" fmla="val 3529"/>
            </a:avLst>
          </a:prstGeom>
          <a:solidFill>
            <a:srgbClr val="F3F6FA"/>
          </a:solidFill>
          <a:ln w="15875">
            <a:solidFill>
              <a:srgbClr val="4A7DBA"/>
            </a:solidFill>
            <a:prstDash val="solid"/>
          </a:ln>
        </p:spPr>
      </p:sp>
      <p:sp>
        <p:nvSpPr>
          <p:cNvPr id="4" name="Text 2"/>
          <p:cNvSpPr txBox="1"/>
          <p:nvPr/>
        </p:nvSpPr>
        <p:spPr>
          <a:xfrm>
            <a:off x="658368" y="113385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5" name="Text 3"/>
          <p:cNvSpPr txBox="1"/>
          <p:nvPr/>
        </p:nvSpPr>
        <p:spPr>
          <a:xfrm>
            <a:off x="658368" y="1444752"/>
            <a:ext cx="1188720" cy="700964"/>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6" name="Text 4"/>
          <p:cNvSpPr txBox="1"/>
          <p:nvPr/>
        </p:nvSpPr>
        <p:spPr>
          <a:xfrm>
            <a:off x="1874520" y="1444752"/>
            <a:ext cx="9631375" cy="700964"/>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DMAIC is a project with the weight in a different place: a conventional plan commits to a solution at authorisation; DMAIC forbids naming one until a cause has been verified.</a:t>
            </a:r>
            <a:endParaRPr lang="en-US" sz="1250" dirty="0"/>
          </a:p>
        </p:txBody>
      </p:sp>
      <p:sp>
        <p:nvSpPr>
          <p:cNvPr id="7" name="Text 5"/>
          <p:cNvSpPr txBox="1"/>
          <p:nvPr/>
        </p:nvSpPr>
        <p:spPr>
          <a:xfrm>
            <a:off x="658368" y="2218868"/>
            <a:ext cx="1188720" cy="1030375"/>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8" name="Text 6"/>
          <p:cNvSpPr txBox="1"/>
          <p:nvPr/>
        </p:nvSpPr>
        <p:spPr>
          <a:xfrm>
            <a:off x="1874520" y="2218868"/>
            <a:ext cx="9631375" cy="1030375"/>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The vocabulary overlaps almost exactly — charter, tollgates as stage gates, sponsor. The gate between Analyze and Improve is the one with no equivalent in most governance frameworks, and it is the one that does the work. Control maps onto benefits realisation and handover to operations — the phase every methodology describes and few organisations perform.</a:t>
            </a:r>
            <a:endParaRPr lang="en-US" sz="1250" dirty="0"/>
          </a:p>
        </p:txBody>
      </p:sp>
      <p:sp>
        <p:nvSpPr>
          <p:cNvPr id="9" name="Text 7"/>
          <p:cNvSpPr txBox="1"/>
          <p:nvPr/>
        </p:nvSpPr>
        <p:spPr>
          <a:xfrm>
            <a:off x="658368" y="3322396"/>
            <a:ext cx="1188720" cy="700964"/>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0" name="Text 8"/>
          <p:cNvSpPr txBox="1"/>
          <p:nvPr/>
        </p:nvSpPr>
        <p:spPr>
          <a:xfrm>
            <a:off x="1874520" y="3322396"/>
            <a:ext cx="9631375" cy="700964"/>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At the next approval, ask what the verified cause is. If the answer is a solution — “we need a new system”, “we need more people” — the project is at Define, whatever the gate it is passing through says.</a:t>
            </a:r>
            <a:endParaRPr lang="en-US" sz="1250" dirty="0"/>
          </a:p>
        </p:txBody>
      </p:sp>
      <p:sp>
        <p:nvSpPr>
          <p:cNvPr id="11" name="Shape 9"/>
          <p:cNvSpPr/>
          <p:nvPr/>
        </p:nvSpPr>
        <p:spPr>
          <a:xfrm>
            <a:off x="457200" y="4343400"/>
            <a:ext cx="11277295" cy="1920240"/>
          </a:xfrm>
          <a:prstGeom prst="roundRect">
            <a:avLst>
              <a:gd name="adj" fmla="val 5714"/>
            </a:avLst>
          </a:prstGeom>
          <a:solidFill>
            <a:srgbClr val="FBF3E0"/>
          </a:solidFill>
          <a:ln w="15875">
            <a:solidFill>
              <a:srgbClr val="C59221"/>
            </a:solidFill>
            <a:prstDash val="solid"/>
          </a:ln>
        </p:spPr>
      </p:sp>
      <p:sp>
        <p:nvSpPr>
          <p:cNvPr id="12" name="Text 10"/>
          <p:cNvSpPr txBox="1"/>
          <p:nvPr/>
        </p:nvSpPr>
        <p:spPr>
          <a:xfrm>
            <a:off x="658368" y="4434840"/>
            <a:ext cx="10874959" cy="173736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Where the method does not apply. DMAIC assumes a repeatable process with a definable defect. Applied to the exploratory front end — research, invention, early-stage product discovery — it suppresses precisely the variation that discovery depends on. The organisation needs two regimes, one for exploring and one for exploiting, and clarity about which process is in which. The afternoon returns to this with Cynefin.</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Eight</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EIGHT</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The third equation</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The identity was stated in Part Two before there was anything to test it against. Everything since has been that test. This part puts the three terms back together — and answers the puzzle.</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 = C × (A + P)</a:t>
            </a:r>
            <a:endParaRPr lang="en-US" sz="2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7295" cy="914400"/>
        </p:xfrm>
        <a:graphic>
          <a:graphicData uri="http://schemas.openxmlformats.org/drawingml/2006/table">
            <a:tbl>
              <a:tblPr/>
              <a:tblGrid>
                <a:gridCol w="2194560"/>
                <a:gridCol w="5852160"/>
                <a:gridCol w="322783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Visibility</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 — Assets</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Plants, machines, systems. What the pillars stand on.</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Visible and purchasable</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 — Processes</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How work flows across the assets. The pillars and the foundation.</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Partly visible, imitable with effort</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 — Capability</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The repeated ability to improve P. The centre of the house.</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Barely visible, rarely imitable</a:t>
                      </a:r>
                      <a:endParaRPr lang="en-US" sz="140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3200400"/>
            <a:ext cx="11277295" cy="914400"/>
          </a:xfrm>
          <a:prstGeom prst="roundRect">
            <a:avLst>
              <a:gd name="adj" fmla="val 12000"/>
            </a:avLst>
          </a:prstGeom>
          <a:solidFill>
            <a:srgbClr val="FBF3E0"/>
          </a:solidFill>
          <a:ln w="15875">
            <a:solidFill>
              <a:srgbClr val="C59221"/>
            </a:solidFill>
            <a:prstDash val="solid"/>
          </a:ln>
        </p:spPr>
      </p:sp>
      <p:sp>
        <p:nvSpPr>
          <p:cNvPr id="5" name="Text 2"/>
          <p:cNvSpPr txBox="1"/>
          <p:nvPr/>
        </p:nvSpPr>
        <p:spPr>
          <a:xfrm>
            <a:off x="658368" y="3291840"/>
            <a:ext cx="10874959" cy="731520"/>
          </a:xfrm>
          <a:prstGeom prst="rect">
            <a:avLst/>
          </a:prstGeom>
          <a:noFill/>
          <a:ln/>
        </p:spPr>
        <p:txBody>
          <a:bodyPr wrap="square" lIns="0" tIns="0" rIns="0" bIns="0" rtlCol="0" anchor="ctr"/>
          <a:lstStyle/>
          <a:p>
            <a:pPr indent="0" marL="0">
              <a:lnSpc>
                <a:spcPct val="112000"/>
              </a:lnSpc>
              <a:buNone/>
            </a:pPr>
            <a:r>
              <a:rPr lang="en-US" sz="1450" b="1" dirty="0">
                <a:solidFill>
                  <a:srgbClr val="082A54"/>
                </a:solidFill>
                <a:latin typeface="Calibri" pitchFamily="34" charset="0"/>
                <a:ea typeface="Calibri" pitchFamily="34" charset="-122"/>
                <a:cs typeface="Calibri" pitchFamily="34" charset="-120"/>
              </a:rPr>
              <a:t>You can buy a plant, license a platform, hire a consultant to redraw a process. You cannot buy the organisation's repeated ability to improve. And if C approaches zero, V approaches zero regardless of what A and P are worth.</a:t>
            </a:r>
            <a:endParaRPr lang="en-US" sz="1450" dirty="0"/>
          </a:p>
        </p:txBody>
      </p:sp>
      <p:sp>
        <p:nvSpPr>
          <p:cNvPr id="6" name="Shape 3"/>
          <p:cNvSpPr/>
          <p:nvPr/>
        </p:nvSpPr>
        <p:spPr>
          <a:xfrm>
            <a:off x="457200" y="4251960"/>
            <a:ext cx="11277295" cy="2057400"/>
          </a:xfrm>
          <a:prstGeom prst="roundRect">
            <a:avLst>
              <a:gd name="adj" fmla="val 5333"/>
            </a:avLst>
          </a:prstGeom>
          <a:solidFill>
            <a:srgbClr val="F3F6FA"/>
          </a:solidFill>
          <a:ln w="15875">
            <a:solidFill>
              <a:srgbClr val="4A7DBA"/>
            </a:solidFill>
            <a:prstDash val="solid"/>
          </a:ln>
        </p:spPr>
      </p:sp>
      <p:sp>
        <p:nvSpPr>
          <p:cNvPr id="7" name="Text 4"/>
          <p:cNvSpPr txBox="1"/>
          <p:nvPr/>
        </p:nvSpPr>
        <p:spPr>
          <a:xfrm>
            <a:off x="658368" y="437997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8" name="Text 5"/>
          <p:cNvSpPr txBox="1"/>
          <p:nvPr/>
        </p:nvSpPr>
        <p:spPr>
          <a:xfrm>
            <a:off x="658368" y="4690872"/>
            <a:ext cx="1188720" cy="268960"/>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THE IDEA</a:t>
            </a:r>
            <a:endParaRPr lang="en-US" sz="1050" dirty="0"/>
          </a:p>
        </p:txBody>
      </p:sp>
      <p:sp>
        <p:nvSpPr>
          <p:cNvPr id="9" name="Text 6"/>
          <p:cNvSpPr txBox="1"/>
          <p:nvPr/>
        </p:nvSpPr>
        <p:spPr>
          <a:xfrm>
            <a:off x="1874520" y="4690872"/>
            <a:ext cx="9631375" cy="268960"/>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Sort what a PMO owns by the three terms, and most of it lands in the bracket.</a:t>
            </a:r>
            <a:endParaRPr lang="en-US" sz="1250" dirty="0"/>
          </a:p>
        </p:txBody>
      </p:sp>
      <p:sp>
        <p:nvSpPr>
          <p:cNvPr id="10" name="Text 7"/>
          <p:cNvSpPr txBox="1"/>
          <p:nvPr/>
        </p:nvSpPr>
        <p:spPr>
          <a:xfrm>
            <a:off x="658368" y="5032984"/>
            <a:ext cx="1188720" cy="666251"/>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1" name="Text 8"/>
          <p:cNvSpPr txBox="1"/>
          <p:nvPr/>
        </p:nvSpPr>
        <p:spPr>
          <a:xfrm>
            <a:off x="1874520" y="5032984"/>
            <a:ext cx="9631375" cy="666251"/>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Scheduling tool, portfolio platform, dashboards: A. Methodology, templates, gate model, certified staff: P. Both purchasable by every competitor at roughly the same price. C is what is left — whether this organisation reliably gets better at delivering, and whether that survives the people who drove it.</a:t>
            </a:r>
            <a:endParaRPr lang="en-US" sz="1250" dirty="0"/>
          </a:p>
        </p:txBody>
      </p:sp>
      <p:sp>
        <p:nvSpPr>
          <p:cNvPr id="12" name="Text 9"/>
          <p:cNvSpPr txBox="1"/>
          <p:nvPr/>
        </p:nvSpPr>
        <p:spPr>
          <a:xfrm>
            <a:off x="658368" y="5772386"/>
            <a:ext cx="1188720" cy="445534"/>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3" name="Text 10"/>
          <p:cNvSpPr txBox="1"/>
          <p:nvPr/>
        </p:nvSpPr>
        <p:spPr>
          <a:xfrm>
            <a:off x="1874520" y="5772386"/>
            <a:ext cx="9631375" cy="445534"/>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Three questions for the PMO: what do we deliver better this year than last, and how do we know? Which improvement survived its author leaving? What would remain if the tool were replaced tomorrow?</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PUZZLE, ANSWERED</a:t>
            </a:r>
            <a:endParaRPr lang="en-US" sz="2200" dirty="0"/>
          </a:p>
        </p:txBody>
      </p:sp>
      <p:sp>
        <p:nvSpPr>
          <p:cNvPr id="3" name="Shape 1"/>
          <p:cNvSpPr/>
          <p:nvPr/>
        </p:nvSpPr>
        <p:spPr>
          <a:xfrm>
            <a:off x="457200" y="1005840"/>
            <a:ext cx="5532120" cy="3291840"/>
          </a:xfrm>
          <a:prstGeom prst="roundRect">
            <a:avLst>
              <a:gd name="adj" fmla="val 3333"/>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What changed at Fremont — and where does it appear?</a:t>
            </a:r>
            <a:endParaRPr lang="en-US" sz="1600" dirty="0"/>
          </a:p>
        </p:txBody>
      </p:sp>
      <p:sp>
        <p:nvSpPr>
          <p:cNvPr id="5" name="Text 3"/>
          <p:cNvSpPr txBox="1"/>
          <p:nvPr/>
        </p:nvSpPr>
        <p:spPr>
          <a:xfrm>
            <a:off x="658368" y="1591056"/>
            <a:ext cx="5129784" cy="256946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Not A: same building, same equipment. Not only P: the processes changed, but GM photographed and copied those for twenty years without the result. What changed was C — the organisation's repeated ability to find and fix its own problems, with the same people who had been unable to the year before. On the balance sheet it appears nowhere, which is the point. It shows up only in its consequences: quality, the inventory no longer needed, a return on capital no line item explains.</a:t>
            </a:r>
            <a:endParaRPr lang="en-US" sz="1300" dirty="0"/>
          </a:p>
        </p:txBody>
      </p:sp>
      <p:sp>
        <p:nvSpPr>
          <p:cNvPr id="6" name="Shape 4"/>
          <p:cNvSpPr/>
          <p:nvPr/>
        </p:nvSpPr>
        <p:spPr>
          <a:xfrm>
            <a:off x="6217920" y="1005840"/>
            <a:ext cx="5532120" cy="3291840"/>
          </a:xfrm>
          <a:prstGeom prst="roundRect">
            <a:avLst>
              <a:gd name="adj" fmla="val 3333"/>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Why was it never replicated across GM?</a:t>
            </a:r>
            <a:endParaRPr lang="en-US" sz="1600" dirty="0"/>
          </a:p>
        </p:txBody>
      </p:sp>
      <p:sp>
        <p:nvSpPr>
          <p:cNvPr id="8" name="Text 6"/>
          <p:cNvSpPr txBox="1"/>
          <p:nvPr/>
        </p:nvSpPr>
        <p:spPr>
          <a:xfrm>
            <a:off x="6419088" y="1591056"/>
            <a:ext cx="5129784" cy="256946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Because what GM could observe was the bracket, and what produced the result was the coefficient. Kanban boards, andon cords, standardised work sheets were visible and copied. The rules-in-use that made them work — how problems are surfaced, who may stop the line, how an improvement is run as an experiment — were not written down anywhere, because at Toyota nobody needed to write them down.</a:t>
            </a:r>
            <a:endParaRPr lang="en-US" sz="1300" dirty="0"/>
          </a:p>
        </p:txBody>
      </p:sp>
      <p:sp>
        <p:nvSpPr>
          <p:cNvPr id="9" name="Shape 7"/>
          <p:cNvSpPr/>
          <p:nvPr/>
        </p:nvSpPr>
        <p:spPr>
          <a:xfrm>
            <a:off x="457200" y="4480560"/>
            <a:ext cx="11277295" cy="914400"/>
          </a:xfrm>
          <a:prstGeom prst="roundRect">
            <a:avLst>
              <a:gd name="adj" fmla="val 12000"/>
            </a:avLst>
          </a:prstGeom>
          <a:solidFill>
            <a:srgbClr val="FBF3E0"/>
          </a:solidFill>
          <a:ln w="15875">
            <a:solidFill>
              <a:srgbClr val="C59221"/>
            </a:solidFill>
            <a:prstDash val="solid"/>
          </a:ln>
        </p:spPr>
      </p:sp>
      <p:sp>
        <p:nvSpPr>
          <p:cNvPr id="10" name="Text 8"/>
          <p:cNvSpPr txBox="1"/>
          <p:nvPr/>
        </p:nvSpPr>
        <p:spPr>
          <a:xfrm>
            <a:off x="658368" y="4572000"/>
            <a:ext cx="10874959" cy="731520"/>
          </a:xfrm>
          <a:prstGeom prst="rect">
            <a:avLst/>
          </a:prstGeom>
          <a:noFill/>
          <a:ln/>
        </p:spPr>
        <p:txBody>
          <a:bodyPr wrap="square" lIns="0" tIns="0" rIns="0" bIns="0" rtlCol="0" anchor="ctr"/>
          <a:lstStyle/>
          <a:p>
            <a:pPr indent="0" marL="0">
              <a:lnSpc>
                <a:spcPct val="112000"/>
              </a:lnSpc>
              <a:buNone/>
            </a:pPr>
            <a:r>
              <a:rPr lang="en-US" sz="1600" b="1" dirty="0">
                <a:solidFill>
                  <a:srgbClr val="082A54"/>
                </a:solidFill>
                <a:latin typeface="Calibri" pitchFamily="34" charset="0"/>
                <a:ea typeface="Calibri" pitchFamily="34" charset="-122"/>
                <a:cs typeface="Calibri" pitchFamily="34" charset="-120"/>
              </a:rPr>
              <a:t>Now grade the line you wrote at 09:10. Did it name the bracket, or the coefficient?</a:t>
            </a:r>
            <a:endParaRPr lang="en-US" sz="1600" dirty="0"/>
          </a:p>
        </p:txBody>
      </p:sp>
      <p:sp>
        <p:nvSpPr>
          <p:cNvPr id="11" name="Shape 9"/>
          <p:cNvSpPr/>
          <p:nvPr/>
        </p:nvSpPr>
        <p:spPr>
          <a:xfrm>
            <a:off x="457200" y="5532120"/>
            <a:ext cx="11277295" cy="731520"/>
          </a:xfrm>
          <a:prstGeom prst="roundRect">
            <a:avLst>
              <a:gd name="adj" fmla="val 15000"/>
            </a:avLst>
          </a:prstGeom>
          <a:solidFill>
            <a:srgbClr val="F3F6FA"/>
          </a:solidFill>
          <a:ln w="15875">
            <a:solidFill>
              <a:srgbClr val="4A7DBA"/>
            </a:solidFill>
            <a:prstDash val="solid"/>
          </a:ln>
        </p:spPr>
      </p:sp>
      <p:sp>
        <p:nvSpPr>
          <p:cNvPr id="12" name="Text 10"/>
          <p:cNvSpPr txBox="1"/>
          <p:nvPr/>
        </p:nvSpPr>
        <p:spPr>
          <a:xfrm>
            <a:off x="658368" y="5623560"/>
            <a:ext cx="10874959" cy="548640"/>
          </a:xfrm>
          <a:prstGeom prst="rect">
            <a:avLst/>
          </a:prstGeom>
          <a:noFill/>
          <a:ln/>
        </p:spPr>
        <p:txBody>
          <a:bodyPr wrap="square" lIns="0" tIns="0" rIns="0" bIns="0" rtlCol="0" anchor="ctr"/>
          <a:lstStyle/>
          <a:p>
            <a:pPr indent="0" marL="0">
              <a:lnSpc>
                <a:spcPct val="112000"/>
              </a:lnSpc>
              <a:buNone/>
            </a:pPr>
            <a:r>
              <a:rPr lang="en-US" sz="1300" i="1" dirty="0">
                <a:solidFill>
                  <a:srgbClr val="1A1A1A"/>
                </a:solidFill>
                <a:latin typeface="Calibri" pitchFamily="34" charset="0"/>
                <a:ea typeface="Calibri" pitchFamily="34" charset="-122"/>
                <a:cs typeface="Calibri" pitchFamily="34" charset="-120"/>
              </a:rPr>
              <a:t>That is the whole of the afternoon's argument about benchmarking — and why the day ends on how C is built rather than on where it can be bought.</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EQUATIONS, IN ONE PLACE</a:t>
            </a:r>
            <a:endParaRPr lang="en-US" sz="2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77295" cy="914400"/>
        </p:xfrm>
        <a:graphic>
          <a:graphicData uri="http://schemas.openxmlformats.org/drawingml/2006/table">
            <a:tbl>
              <a:tblPr/>
              <a:tblGrid>
                <a:gridCol w="4206240"/>
                <a:gridCol w="70683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establishes</a:t>
                      </a:r>
                      <a:endParaRPr lang="en-US" sz="1200" dirty="0">
                        <a:latin typeface="Calibri" charset="0"/>
                        <a:ea typeface="Calibri" charset="0"/>
                        <a:cs typeface="Calibri" charset="0"/>
                      </a:endParaRPr>
                    </a:p>
                  </a:txBody>
                  <a:tcPr marL="91440" marR="91440" marT="54864" marB="54864"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82A54"/>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Value stick — WTP − SOC</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Lean pushes both edges outward at once: Jidoka and JIT each lower cost and raise willingness to pay.</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Competitive advantage — VC = (WTPA − CA) − (WTPB − CB)</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Creating value is necessary; creating more of it than the rival is what the firm is paid for. When an improvement is copyable, the two brackets converge and VC returns to zero.</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Economic profit — ROIC vs. WACC</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Lean lifts the numerator and cuts the denominator, moving return above the cost of capital.</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A1A1A"/>
                          </a:solidFill>
                          <a:latin typeface="Calibri" pitchFamily="34" charset="0"/>
                          <a:ea typeface="Calibri" pitchFamily="34" charset="-122"/>
                          <a:cs typeface="Calibri" pitchFamily="34" charset="-120"/>
                        </a:rPr>
                        <a:t>VCAP — V = C × (A + P)</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c>
                  <a:txBody>
                    <a:bodyPr/>
                    <a:lstStyle/>
                    <a:p>
                      <a:pPr indent="0" marL="0">
                        <a:buNone/>
                      </a:pPr>
                      <a:r>
                        <a:rPr lang="en-US" sz="1350" dirty="0">
                          <a:solidFill>
                            <a:srgbClr val="1A1A1A"/>
                          </a:solidFill>
                          <a:latin typeface="Calibri" pitchFamily="34" charset="0"/>
                          <a:ea typeface="Calibri" pitchFamily="34" charset="-122"/>
                          <a:cs typeface="Calibri" pitchFamily="34" charset="-120"/>
                        </a:rPr>
                        <a:t>It does so only for organisations that build the multiplier rather than buying the bracket.</a:t>
                      </a:r>
                      <a:endParaRPr lang="en-US" sz="1350" dirty="0">
                        <a:latin typeface="Calibri" charset="0"/>
                        <a:ea typeface="Calibri" charset="0"/>
                        <a:cs typeface="Calibri" charset="0"/>
                      </a:endParaRPr>
                    </a:p>
                  </a:txBody>
                  <a:tcPr marL="91440" marR="91440"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F3F6FA"/>
                    </a:solidFill>
                  </a:tcPr>
                </a:tc>
              </a:tr>
            </a:tbl>
          </a:graphicData>
        </a:graphic>
      </p:graphicFrame>
      <p:sp>
        <p:nvSpPr>
          <p:cNvPr id="4" name="Shape 1"/>
          <p:cNvSpPr/>
          <p:nvPr/>
        </p:nvSpPr>
        <p:spPr>
          <a:xfrm>
            <a:off x="457200" y="4343400"/>
            <a:ext cx="5532120" cy="1920240"/>
          </a:xfrm>
          <a:prstGeom prst="roundRect">
            <a:avLst>
              <a:gd name="adj" fmla="val 5714"/>
            </a:avLst>
          </a:prstGeom>
          <a:solidFill>
            <a:srgbClr val="FFFFFF"/>
          </a:solidFill>
          <a:ln w="15875">
            <a:solidFill>
              <a:srgbClr val="4A7DBA"/>
            </a:solidFill>
            <a:prstDash val="solid"/>
          </a:ln>
        </p:spPr>
      </p:sp>
      <p:sp>
        <p:nvSpPr>
          <p:cNvPr id="5" name="Text 2"/>
          <p:cNvSpPr txBox="1"/>
          <p:nvPr/>
        </p:nvSpPr>
        <p:spPr>
          <a:xfrm>
            <a:off x="658368" y="45079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Porter's objection</a:t>
            </a:r>
            <a:endParaRPr lang="en-US" sz="1600" dirty="0"/>
          </a:p>
        </p:txBody>
      </p:sp>
      <p:sp>
        <p:nvSpPr>
          <p:cNvPr id="6" name="Text 3"/>
          <p:cNvSpPr txBox="1"/>
          <p:nvPr/>
        </p:nvSpPr>
        <p:spPr>
          <a:xfrm>
            <a:off x="658368" y="4928616"/>
            <a:ext cx="5129784" cy="119786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Operational effectiveness is imitable, so its gains compete away; strategy-grade advantage must live somewhere harder to copy. Where, exactly — and what does that imply for a programme whose entire output is better processes?</a:t>
            </a:r>
            <a:endParaRPr lang="en-US" sz="1250" dirty="0"/>
          </a:p>
        </p:txBody>
      </p:sp>
      <p:sp>
        <p:nvSpPr>
          <p:cNvPr id="7" name="Shape 4"/>
          <p:cNvSpPr/>
          <p:nvPr/>
        </p:nvSpPr>
        <p:spPr>
          <a:xfrm>
            <a:off x="6217920" y="4343400"/>
            <a:ext cx="5532120" cy="1920240"/>
          </a:xfrm>
          <a:prstGeom prst="roundRect">
            <a:avLst>
              <a:gd name="adj" fmla="val 5714"/>
            </a:avLst>
          </a:prstGeom>
          <a:solidFill>
            <a:srgbClr val="F3F6FA"/>
          </a:solidFill>
          <a:ln w="15875">
            <a:solidFill>
              <a:srgbClr val="4A7DBA"/>
            </a:solidFill>
            <a:prstDash val="solid"/>
          </a:ln>
        </p:spPr>
      </p:sp>
      <p:sp>
        <p:nvSpPr>
          <p:cNvPr id="8" name="Text 5"/>
          <p:cNvSpPr txBox="1"/>
          <p:nvPr/>
        </p:nvSpPr>
        <p:spPr>
          <a:xfrm>
            <a:off x="6419088" y="4507992"/>
            <a:ext cx="512978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Spear &amp; Bowen's finding</a:t>
            </a:r>
            <a:endParaRPr lang="en-US" sz="1600" dirty="0"/>
          </a:p>
        </p:txBody>
      </p:sp>
      <p:sp>
        <p:nvSpPr>
          <p:cNvPr id="9" name="Text 6"/>
          <p:cNvSpPr txBox="1"/>
          <p:nvPr/>
        </p:nvSpPr>
        <p:spPr>
          <a:xfrm>
            <a:off x="6419088" y="4928616"/>
            <a:ext cx="5129784" cy="1197864"/>
          </a:xfrm>
          <a:prstGeom prst="rect">
            <a:avLst/>
          </a:prstGeom>
          <a:noFill/>
          <a:ln/>
        </p:spPr>
        <p:txBody>
          <a:bodyPr wrap="square" lIns="0" tIns="0" rIns="0" bIns="0" rtlCol="0" anchor="t"/>
          <a:lstStyle/>
          <a:p>
            <a:pPr indent="0" marL="0">
              <a:lnSpc>
                <a:spcPct val="112000"/>
              </a:lnSpc>
              <a:spcAft>
                <a:spcPts val="600"/>
              </a:spcAft>
              <a:buNone/>
            </a:pPr>
            <a:r>
              <a:rPr lang="en-US" sz="1250" dirty="0">
                <a:solidFill>
                  <a:srgbClr val="1A1A1A"/>
                </a:solidFill>
                <a:latin typeface="Calibri" pitchFamily="34" charset="0"/>
                <a:ea typeface="Calibri" pitchFamily="34" charset="-122"/>
                <a:cs typeface="Calibri" pitchFamily="34" charset="-120"/>
              </a:rPr>
              <a:t>What distinguishes Toyota is not its tools but its rules-in-use: tacit rules governing how flow paths are specified and how every improvement is run as a controlled experiment. Tacit rules can be observed and still not transferred.</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Nine</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NINE</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Group activity — the Value Case</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One real project, appraised through the three lenses built this morning: where it moves willingness to pay, where it removes waste, and what it actually builds. Groups of three or four; one scribe on the fillable canvas; one spokesperson.</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WHY THIS APPRAISAL DIFFERS FROM A BUSINESS CASE</a:t>
            </a:r>
            <a:endParaRPr lang="en-US" sz="2200" dirty="0"/>
          </a:p>
        </p:txBody>
      </p:sp>
      <p:sp>
        <p:nvSpPr>
          <p:cNvPr id="3" name="Text 1"/>
          <p:cNvSpPr txBox="1"/>
          <p:nvPr/>
        </p:nvSpPr>
        <p:spPr>
          <a:xfrm>
            <a:off x="457200" y="1005840"/>
            <a:ext cx="11277295" cy="640080"/>
          </a:xfrm>
          <a:prstGeom prst="rect">
            <a:avLst/>
          </a:prstGeom>
          <a:noFill/>
          <a:ln/>
        </p:spPr>
        <p:txBody>
          <a:bodyPr wrap="square" lIns="0" tIns="0" rIns="0" bIns="0" rtlCol="0" anchor="t"/>
          <a:lstStyle/>
          <a:p>
            <a:pPr algn="l" indent="0" marL="0">
              <a:lnSpc>
                <a:spcPct val="115000"/>
              </a:lnSpc>
              <a:buNone/>
            </a:pPr>
            <a:r>
              <a:rPr lang="en-US" sz="1450" dirty="0">
                <a:solidFill>
                  <a:srgbClr val="1A1A1A"/>
                </a:solidFill>
                <a:latin typeface="Calibri" pitchFamily="34" charset="0"/>
                <a:ea typeface="Calibri" pitchFamily="34" charset="-122"/>
                <a:cs typeface="Calibri" pitchFamily="34" charset="-120"/>
              </a:rPr>
              <a:t>A conventional business case answers one question — does the return exceed the cost? Necessary, and silent on the three things that decide whether the return survives.</a:t>
            </a:r>
            <a:endParaRPr lang="en-US" sz="1450" dirty="0"/>
          </a:p>
        </p:txBody>
      </p:sp>
      <p:sp>
        <p:nvSpPr>
          <p:cNvPr id="4" name="Shape 2"/>
          <p:cNvSpPr/>
          <p:nvPr/>
        </p:nvSpPr>
        <p:spPr>
          <a:xfrm>
            <a:off x="457200" y="1783080"/>
            <a:ext cx="3657600" cy="2377440"/>
          </a:xfrm>
          <a:prstGeom prst="roundRect">
            <a:avLst>
              <a:gd name="adj" fmla="val 4615"/>
            </a:avLst>
          </a:prstGeom>
          <a:solidFill>
            <a:srgbClr val="FFFFFF"/>
          </a:solidFill>
          <a:ln w="15875">
            <a:solidFill>
              <a:srgbClr val="4A7DBA"/>
            </a:solidFill>
            <a:prstDash val="solid"/>
          </a:ln>
        </p:spPr>
      </p:sp>
      <p:sp>
        <p:nvSpPr>
          <p:cNvPr id="5" name="Text 3"/>
          <p:cNvSpPr txBox="1"/>
          <p:nvPr/>
        </p:nvSpPr>
        <p:spPr>
          <a:xfrm>
            <a:off x="658368" y="1947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Which edge of value does this move?</a:t>
            </a:r>
            <a:endParaRPr lang="en-US" sz="1600" dirty="0"/>
          </a:p>
        </p:txBody>
      </p:sp>
      <p:sp>
        <p:nvSpPr>
          <p:cNvPr id="6" name="Text 4"/>
          <p:cNvSpPr txBox="1"/>
          <p:nvPr/>
        </p:nvSpPr>
        <p:spPr>
          <a:xfrm>
            <a:off x="658368" y="236829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A project that only lowers cost competes on the edge where every rival is also working. Raising willingness to pay is harder, rarer, and usually under-argued because the number is harder to produce.</a:t>
            </a:r>
            <a:endParaRPr lang="en-US" sz="1300" dirty="0"/>
          </a:p>
        </p:txBody>
      </p:sp>
      <p:sp>
        <p:nvSpPr>
          <p:cNvPr id="7" name="Shape 5"/>
          <p:cNvSpPr/>
          <p:nvPr/>
        </p:nvSpPr>
        <p:spPr>
          <a:xfrm>
            <a:off x="4270248" y="1783080"/>
            <a:ext cx="3657600" cy="2377440"/>
          </a:xfrm>
          <a:prstGeom prst="roundRect">
            <a:avLst>
              <a:gd name="adj" fmla="val 4615"/>
            </a:avLst>
          </a:prstGeom>
          <a:solidFill>
            <a:srgbClr val="F3F6FA"/>
          </a:solidFill>
          <a:ln w="15875">
            <a:solidFill>
              <a:srgbClr val="4A7DBA"/>
            </a:solidFill>
            <a:prstDash val="solid"/>
          </a:ln>
        </p:spPr>
      </p:sp>
      <p:sp>
        <p:nvSpPr>
          <p:cNvPr id="8" name="Text 6"/>
          <p:cNvSpPr txBox="1"/>
          <p:nvPr/>
        </p:nvSpPr>
        <p:spPr>
          <a:xfrm>
            <a:off x="4471416" y="1947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Is the saving a named waste, or an aspiration?</a:t>
            </a:r>
            <a:endParaRPr lang="en-US" sz="1600" dirty="0"/>
          </a:p>
        </p:txBody>
      </p:sp>
      <p:sp>
        <p:nvSpPr>
          <p:cNvPr id="9" name="Text 7"/>
          <p:cNvSpPr txBox="1"/>
          <p:nvPr/>
        </p:nvSpPr>
        <p:spPr>
          <a:xfrm>
            <a:off x="4471416" y="236829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“Improves efficiency by 15%” is a target. “Eliminates the three re-approvals caused by incomplete submissions” is a waste with a name — and only the second can be verified afterwards.</a:t>
            </a:r>
            <a:endParaRPr lang="en-US" sz="1300" dirty="0"/>
          </a:p>
        </p:txBody>
      </p:sp>
      <p:sp>
        <p:nvSpPr>
          <p:cNvPr id="10" name="Shape 8"/>
          <p:cNvSpPr/>
          <p:nvPr/>
        </p:nvSpPr>
        <p:spPr>
          <a:xfrm>
            <a:off x="8074152" y="1783080"/>
            <a:ext cx="3657600" cy="2377440"/>
          </a:xfrm>
          <a:prstGeom prst="roundRect">
            <a:avLst>
              <a:gd name="adj" fmla="val 4615"/>
            </a:avLst>
          </a:prstGeom>
          <a:solidFill>
            <a:srgbClr val="FFFFFF"/>
          </a:solidFill>
          <a:ln w="15875">
            <a:solidFill>
              <a:srgbClr val="4A7DBA"/>
            </a:solidFill>
            <a:prstDash val="solid"/>
          </a:ln>
        </p:spPr>
      </p:sp>
      <p:sp>
        <p:nvSpPr>
          <p:cNvPr id="11" name="Text 9"/>
          <p:cNvSpPr txBox="1"/>
          <p:nvPr/>
        </p:nvSpPr>
        <p:spPr>
          <a:xfrm>
            <a:off x="8275320" y="194767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More capable, or only better equipped?</a:t>
            </a:r>
            <a:endParaRPr lang="en-US" sz="1600" dirty="0"/>
          </a:p>
        </p:txBody>
      </p:sp>
      <p:sp>
        <p:nvSpPr>
          <p:cNvPr id="12" name="Text 10"/>
          <p:cNvSpPr txBox="1"/>
          <p:nvPr/>
        </p:nvSpPr>
        <p:spPr>
          <a:xfrm>
            <a:off x="8275320" y="236829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00" dirty="0">
                <a:solidFill>
                  <a:srgbClr val="1A1A1A"/>
                </a:solidFill>
                <a:latin typeface="Calibri" pitchFamily="34" charset="0"/>
                <a:ea typeface="Calibri" pitchFamily="34" charset="-122"/>
                <a:cs typeface="Calibri" pitchFamily="34" charset="-120"/>
              </a:rPr>
              <a:t>Assets and processes can be replicated by any competitor willing to spend the same money. A project that leaves the organisation better at improving cannot.</a:t>
            </a:r>
            <a:endParaRPr lang="en-US" sz="1300" dirty="0"/>
          </a:p>
        </p:txBody>
      </p:sp>
      <p:sp>
        <p:nvSpPr>
          <p:cNvPr id="13" name="Shape 11"/>
          <p:cNvSpPr/>
          <p:nvPr/>
        </p:nvSpPr>
        <p:spPr>
          <a:xfrm>
            <a:off x="457200" y="4343400"/>
            <a:ext cx="11277295" cy="914400"/>
          </a:xfrm>
          <a:prstGeom prst="roundRect">
            <a:avLst>
              <a:gd name="adj" fmla="val 12000"/>
            </a:avLst>
          </a:prstGeom>
          <a:solidFill>
            <a:srgbClr val="FBF3E0"/>
          </a:solidFill>
          <a:ln w="15875">
            <a:solidFill>
              <a:srgbClr val="C59221"/>
            </a:solidFill>
            <a:prstDash val="solid"/>
          </a:ln>
        </p:spPr>
      </p:sp>
      <p:sp>
        <p:nvSpPr>
          <p:cNvPr id="14" name="Text 12"/>
          <p:cNvSpPr txBox="1"/>
          <p:nvPr/>
        </p:nvSpPr>
        <p:spPr>
          <a:xfrm>
            <a:off x="658368" y="4434840"/>
            <a:ext cx="10874959" cy="7315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Those three questions are one question in disguise, and VC states it: a project is worth defending to the extent that it widens the gap between (WTP − cost) for your firm and the same quantity for the competitor you are actually losing deals to.</a:t>
            </a:r>
            <a:endParaRPr lang="en-US" sz="1350" dirty="0"/>
          </a:p>
        </p:txBody>
      </p:sp>
      <p:sp>
        <p:nvSpPr>
          <p:cNvPr id="15" name="Shape 13"/>
          <p:cNvSpPr/>
          <p:nvPr/>
        </p:nvSpPr>
        <p:spPr>
          <a:xfrm>
            <a:off x="457200" y="5394960"/>
            <a:ext cx="11277295" cy="868680"/>
          </a:xfrm>
          <a:prstGeom prst="roundRect">
            <a:avLst>
              <a:gd name="adj" fmla="val 12632"/>
            </a:avLst>
          </a:prstGeom>
          <a:solidFill>
            <a:srgbClr val="F3F6FA"/>
          </a:solidFill>
          <a:ln w="15875">
            <a:solidFill>
              <a:srgbClr val="4A7DBA"/>
            </a:solidFill>
            <a:prstDash val="solid"/>
          </a:ln>
        </p:spPr>
      </p:sp>
      <p:sp>
        <p:nvSpPr>
          <p:cNvPr id="16" name="Text 14"/>
          <p:cNvSpPr txBox="1"/>
          <p:nvPr/>
        </p:nvSpPr>
        <p:spPr>
          <a:xfrm>
            <a:off x="658368" y="5486400"/>
            <a:ext cx="10874959" cy="68580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The raw material: one authorised project a member knows well enough to defend. Ninety seconds to choose — pick the one the group disagrees about, not the one with the best business case.</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VALUE CASE CANVAS — SIX STEPS</a:t>
            </a:r>
            <a:endParaRPr lang="en-US" sz="2200" dirty="0"/>
          </a:p>
        </p:txBody>
      </p:sp>
      <p:sp>
        <p:nvSpPr>
          <p:cNvPr id="3" name="Shape 1"/>
          <p:cNvSpPr/>
          <p:nvPr/>
        </p:nvSpPr>
        <p:spPr>
          <a:xfrm>
            <a:off x="457200" y="960120"/>
            <a:ext cx="3611880" cy="2148840"/>
          </a:xfrm>
          <a:prstGeom prst="roundRect">
            <a:avLst>
              <a:gd name="adj" fmla="val 5106"/>
            </a:avLst>
          </a:prstGeom>
          <a:solidFill>
            <a:srgbClr val="FFFFFF"/>
          </a:solidFill>
          <a:ln w="15875">
            <a:solidFill>
              <a:srgbClr val="4A7DBA"/>
            </a:solidFill>
            <a:prstDash val="solid"/>
          </a:ln>
        </p:spPr>
      </p:sp>
      <p:sp>
        <p:nvSpPr>
          <p:cNvPr id="4" name="Text 2"/>
          <p:cNvSpPr txBox="1"/>
          <p:nvPr/>
        </p:nvSpPr>
        <p:spPr>
          <a:xfrm>
            <a:off x="640080" y="1097280"/>
            <a:ext cx="548640" cy="548640"/>
          </a:xfrm>
          <a:prstGeom prst="rect">
            <a:avLst/>
          </a:prstGeom>
          <a:noFill/>
          <a:ln/>
        </p:spPr>
        <p:txBody>
          <a:bodyPr wrap="square" lIns="0" tIns="0" rIns="0" bIns="0" rtlCol="0" anchor="ctr"/>
          <a:lstStyle/>
          <a:p>
            <a:pPr indent="0" marL="0">
              <a:buNone/>
            </a:pPr>
            <a:r>
              <a:rPr lang="en-US" sz="3000" b="1" dirty="0">
                <a:solidFill>
                  <a:srgbClr val="C59221"/>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1234440" y="1161288"/>
            <a:ext cx="2743200" cy="457200"/>
          </a:xfrm>
          <a:prstGeom prst="rect">
            <a:avLst/>
          </a:prstGeom>
          <a:noFill/>
          <a:ln/>
        </p:spPr>
        <p:txBody>
          <a:bodyPr wrap="square" lIns="0" tIns="0" rIns="0" bIns="0" rtlCol="0" anchor="ctr"/>
          <a:lstStyle/>
          <a:p>
            <a:pPr indent="0" marL="0">
              <a:buNone/>
            </a:pPr>
            <a:r>
              <a:rPr lang="en-US" sz="1600" b="1" dirty="0">
                <a:solidFill>
                  <a:srgbClr val="082A54"/>
                </a:solidFill>
                <a:latin typeface="Calibri" pitchFamily="34" charset="0"/>
                <a:ea typeface="Calibri" pitchFamily="34" charset="-122"/>
                <a:cs typeface="Calibri" pitchFamily="34" charset="-120"/>
              </a:rPr>
              <a:t>The project</a:t>
            </a:r>
            <a:endParaRPr lang="en-US" sz="1600" dirty="0"/>
          </a:p>
        </p:txBody>
      </p:sp>
      <p:sp>
        <p:nvSpPr>
          <p:cNvPr id="6" name="Text 4"/>
          <p:cNvSpPr txBox="1"/>
          <p:nvPr/>
        </p:nvSpPr>
        <p:spPr>
          <a:xfrm>
            <a:off x="640080" y="1737360"/>
            <a:ext cx="3246120" cy="1280160"/>
          </a:xfrm>
          <a:prstGeom prst="rect">
            <a:avLst/>
          </a:prstGeom>
          <a:noFill/>
          <a:ln/>
        </p:spPr>
        <p:txBody>
          <a:bodyPr wrap="square" lIns="0" tIns="0" rIns="0" bIns="0" rtlCol="0" anchor="t"/>
          <a:lstStyle/>
          <a:p>
            <a:pPr indent="0" marL="0">
              <a:lnSpc>
                <a:spcPct val="110000"/>
              </a:lnSpc>
              <a:buNone/>
            </a:pPr>
            <a:r>
              <a:rPr lang="en-US" sz="1200" dirty="0">
                <a:solidFill>
                  <a:srgbClr val="1A1A1A"/>
                </a:solidFill>
                <a:latin typeface="Calibri" pitchFamily="34" charset="0"/>
                <a:ea typeface="Calibri" pitchFamily="34" charset="-122"/>
                <a:cs typeface="Calibri" pitchFamily="34" charset="-120"/>
              </a:rPr>
              <a:t>What it is, who sponsors it, what it was approved to achieve.</a:t>
            </a:r>
            <a:endParaRPr lang="en-US" sz="1200" dirty="0"/>
          </a:p>
        </p:txBody>
      </p:sp>
      <p:sp>
        <p:nvSpPr>
          <p:cNvPr id="7" name="Shape 5"/>
          <p:cNvSpPr/>
          <p:nvPr/>
        </p:nvSpPr>
        <p:spPr>
          <a:xfrm>
            <a:off x="4270248" y="960120"/>
            <a:ext cx="3611880" cy="2148840"/>
          </a:xfrm>
          <a:prstGeom prst="roundRect">
            <a:avLst>
              <a:gd name="adj" fmla="val 5106"/>
            </a:avLst>
          </a:prstGeom>
          <a:solidFill>
            <a:srgbClr val="FFFFFF"/>
          </a:solidFill>
          <a:ln w="15875">
            <a:solidFill>
              <a:srgbClr val="4A7DBA"/>
            </a:solidFill>
            <a:prstDash val="solid"/>
          </a:ln>
        </p:spPr>
      </p:sp>
      <p:sp>
        <p:nvSpPr>
          <p:cNvPr id="8" name="Text 6"/>
          <p:cNvSpPr txBox="1"/>
          <p:nvPr/>
        </p:nvSpPr>
        <p:spPr>
          <a:xfrm>
            <a:off x="4453128" y="1097280"/>
            <a:ext cx="548640" cy="548640"/>
          </a:xfrm>
          <a:prstGeom prst="rect">
            <a:avLst/>
          </a:prstGeom>
          <a:noFill/>
          <a:ln/>
        </p:spPr>
        <p:txBody>
          <a:bodyPr wrap="square" lIns="0" tIns="0" rIns="0" bIns="0" rtlCol="0" anchor="ctr"/>
          <a:lstStyle/>
          <a:p>
            <a:pPr indent="0" marL="0">
              <a:buNone/>
            </a:pPr>
            <a:r>
              <a:rPr lang="en-US" sz="3000" b="1" dirty="0">
                <a:solidFill>
                  <a:srgbClr val="C59221"/>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5047488" y="1161288"/>
            <a:ext cx="2743200" cy="457200"/>
          </a:xfrm>
          <a:prstGeom prst="rect">
            <a:avLst/>
          </a:prstGeom>
          <a:noFill/>
          <a:ln/>
        </p:spPr>
        <p:txBody>
          <a:bodyPr wrap="square" lIns="0" tIns="0" rIns="0" bIns="0" rtlCol="0" anchor="ctr"/>
          <a:lstStyle/>
          <a:p>
            <a:pPr indent="0" marL="0">
              <a:buNone/>
            </a:pPr>
            <a:r>
              <a:rPr lang="en-US" sz="1600" b="1" dirty="0">
                <a:solidFill>
                  <a:srgbClr val="082A54"/>
                </a:solidFill>
                <a:latin typeface="Calibri" pitchFamily="34" charset="0"/>
                <a:ea typeface="Calibri" pitchFamily="34" charset="-122"/>
                <a:cs typeface="Calibri" pitchFamily="34" charset="-120"/>
              </a:rPr>
              <a:t>The WTP edge</a:t>
            </a:r>
            <a:endParaRPr lang="en-US" sz="1600" dirty="0"/>
          </a:p>
        </p:txBody>
      </p:sp>
      <p:sp>
        <p:nvSpPr>
          <p:cNvPr id="10" name="Text 8"/>
          <p:cNvSpPr txBox="1"/>
          <p:nvPr/>
        </p:nvSpPr>
        <p:spPr>
          <a:xfrm>
            <a:off x="4453128" y="1737360"/>
            <a:ext cx="3246120" cy="1280160"/>
          </a:xfrm>
          <a:prstGeom prst="rect">
            <a:avLst/>
          </a:prstGeom>
          <a:noFill/>
          <a:ln/>
        </p:spPr>
        <p:txBody>
          <a:bodyPr wrap="square" lIns="0" tIns="0" rIns="0" bIns="0" rtlCol="0" anchor="t"/>
          <a:lstStyle/>
          <a:p>
            <a:pPr indent="0" marL="0">
              <a:lnSpc>
                <a:spcPct val="110000"/>
              </a:lnSpc>
              <a:buNone/>
            </a:pPr>
            <a:r>
              <a:rPr lang="en-US" sz="1200" dirty="0">
                <a:solidFill>
                  <a:srgbClr val="1A1A1A"/>
                </a:solidFill>
                <a:latin typeface="Calibri" pitchFamily="34" charset="0"/>
                <a:ea typeface="Calibri" pitchFamily="34" charset="-122"/>
                <a:cs typeface="Calibri" pitchFamily="34" charset="-120"/>
              </a:rPr>
              <a:t>Competitive priority moved; quality dimension; order winner or qualifier; who is the customer — and would they notice?</a:t>
            </a:r>
            <a:endParaRPr lang="en-US" sz="1200" dirty="0"/>
          </a:p>
        </p:txBody>
      </p:sp>
      <p:sp>
        <p:nvSpPr>
          <p:cNvPr id="11" name="Shape 9"/>
          <p:cNvSpPr/>
          <p:nvPr/>
        </p:nvSpPr>
        <p:spPr>
          <a:xfrm>
            <a:off x="8083296" y="960120"/>
            <a:ext cx="3611880" cy="2148840"/>
          </a:xfrm>
          <a:prstGeom prst="roundRect">
            <a:avLst>
              <a:gd name="adj" fmla="val 5106"/>
            </a:avLst>
          </a:prstGeom>
          <a:solidFill>
            <a:srgbClr val="FFFFFF"/>
          </a:solidFill>
          <a:ln w="15875">
            <a:solidFill>
              <a:srgbClr val="4A7DBA"/>
            </a:solidFill>
            <a:prstDash val="solid"/>
          </a:ln>
        </p:spPr>
      </p:sp>
      <p:sp>
        <p:nvSpPr>
          <p:cNvPr id="12" name="Text 10"/>
          <p:cNvSpPr txBox="1"/>
          <p:nvPr/>
        </p:nvSpPr>
        <p:spPr>
          <a:xfrm>
            <a:off x="8266176" y="1097280"/>
            <a:ext cx="548640" cy="548640"/>
          </a:xfrm>
          <a:prstGeom prst="rect">
            <a:avLst/>
          </a:prstGeom>
          <a:noFill/>
          <a:ln/>
        </p:spPr>
        <p:txBody>
          <a:bodyPr wrap="square" lIns="0" tIns="0" rIns="0" bIns="0" rtlCol="0" anchor="ctr"/>
          <a:lstStyle/>
          <a:p>
            <a:pPr indent="0" marL="0">
              <a:buNone/>
            </a:pPr>
            <a:r>
              <a:rPr lang="en-US" sz="3000" b="1" dirty="0">
                <a:solidFill>
                  <a:srgbClr val="C59221"/>
                </a:solidFill>
                <a:latin typeface="Cambria" pitchFamily="34" charset="0"/>
                <a:ea typeface="Cambria" pitchFamily="34" charset="-122"/>
                <a:cs typeface="Cambria" pitchFamily="34" charset="-120"/>
              </a:rPr>
              <a:t>3</a:t>
            </a:r>
            <a:endParaRPr lang="en-US" sz="3000" dirty="0"/>
          </a:p>
        </p:txBody>
      </p:sp>
      <p:sp>
        <p:nvSpPr>
          <p:cNvPr id="13" name="Text 11"/>
          <p:cNvSpPr txBox="1"/>
          <p:nvPr/>
        </p:nvSpPr>
        <p:spPr>
          <a:xfrm>
            <a:off x="8860536" y="1161288"/>
            <a:ext cx="2743200" cy="457200"/>
          </a:xfrm>
          <a:prstGeom prst="rect">
            <a:avLst/>
          </a:prstGeom>
          <a:noFill/>
          <a:ln/>
        </p:spPr>
        <p:txBody>
          <a:bodyPr wrap="square" lIns="0" tIns="0" rIns="0" bIns="0" rtlCol="0" anchor="ctr"/>
          <a:lstStyle/>
          <a:p>
            <a:pPr indent="0" marL="0">
              <a:buNone/>
            </a:pPr>
            <a:r>
              <a:rPr lang="en-US" sz="1600" b="1" dirty="0">
                <a:solidFill>
                  <a:srgbClr val="082A54"/>
                </a:solidFill>
                <a:latin typeface="Calibri" pitchFamily="34" charset="0"/>
                <a:ea typeface="Calibri" pitchFamily="34" charset="-122"/>
                <a:cs typeface="Calibri" pitchFamily="34" charset="-120"/>
              </a:rPr>
              <a:t>Map the stream</a:t>
            </a:r>
            <a:endParaRPr lang="en-US" sz="1600" dirty="0"/>
          </a:p>
        </p:txBody>
      </p:sp>
      <p:sp>
        <p:nvSpPr>
          <p:cNvPr id="14" name="Text 12"/>
          <p:cNvSpPr txBox="1"/>
          <p:nvPr/>
        </p:nvSpPr>
        <p:spPr>
          <a:xfrm>
            <a:off x="8266176" y="1737360"/>
            <a:ext cx="3246120" cy="1280160"/>
          </a:xfrm>
          <a:prstGeom prst="rect">
            <a:avLst/>
          </a:prstGeom>
          <a:noFill/>
          <a:ln/>
        </p:spPr>
        <p:txBody>
          <a:bodyPr wrap="square" lIns="0" tIns="0" rIns="0" bIns="0" rtlCol="0" anchor="t"/>
          <a:lstStyle/>
          <a:p>
            <a:pPr indent="0" marL="0">
              <a:lnSpc>
                <a:spcPct val="110000"/>
              </a:lnSpc>
              <a:buNone/>
            </a:pPr>
            <a:r>
              <a:rPr lang="en-US" sz="1200" dirty="0">
                <a:solidFill>
                  <a:srgbClr val="1A1A1A"/>
                </a:solidFill>
                <a:latin typeface="Calibri" pitchFamily="34" charset="0"/>
                <a:ea typeface="Calibri" pitchFamily="34" charset="-122"/>
                <a:cs typeface="Calibri" pitchFamily="34" charset="-120"/>
              </a:rPr>
              <a:t>Three to six steps with who performs them; process time; lead time; where the gap sits.</a:t>
            </a:r>
            <a:endParaRPr lang="en-US" sz="1200" dirty="0"/>
          </a:p>
        </p:txBody>
      </p:sp>
      <p:sp>
        <p:nvSpPr>
          <p:cNvPr id="15" name="Shape 13"/>
          <p:cNvSpPr/>
          <p:nvPr/>
        </p:nvSpPr>
        <p:spPr>
          <a:xfrm>
            <a:off x="457200" y="3291840"/>
            <a:ext cx="3611880" cy="2148840"/>
          </a:xfrm>
          <a:prstGeom prst="roundRect">
            <a:avLst>
              <a:gd name="adj" fmla="val 5106"/>
            </a:avLst>
          </a:prstGeom>
          <a:solidFill>
            <a:srgbClr val="F3F6FA"/>
          </a:solidFill>
          <a:ln w="15875">
            <a:solidFill>
              <a:srgbClr val="4A7DBA"/>
            </a:solidFill>
            <a:prstDash val="solid"/>
          </a:ln>
        </p:spPr>
      </p:sp>
      <p:sp>
        <p:nvSpPr>
          <p:cNvPr id="16" name="Text 14"/>
          <p:cNvSpPr txBox="1"/>
          <p:nvPr/>
        </p:nvSpPr>
        <p:spPr>
          <a:xfrm>
            <a:off x="640080" y="3429000"/>
            <a:ext cx="548640" cy="548640"/>
          </a:xfrm>
          <a:prstGeom prst="rect">
            <a:avLst/>
          </a:prstGeom>
          <a:noFill/>
          <a:ln/>
        </p:spPr>
        <p:txBody>
          <a:bodyPr wrap="square" lIns="0" tIns="0" rIns="0" bIns="0" rtlCol="0" anchor="ctr"/>
          <a:lstStyle/>
          <a:p>
            <a:pPr indent="0" marL="0">
              <a:buNone/>
            </a:pPr>
            <a:r>
              <a:rPr lang="en-US" sz="3000" b="1" dirty="0">
                <a:solidFill>
                  <a:srgbClr val="C59221"/>
                </a:solidFill>
                <a:latin typeface="Cambria" pitchFamily="34" charset="0"/>
                <a:ea typeface="Cambria" pitchFamily="34" charset="-122"/>
                <a:cs typeface="Cambria" pitchFamily="34" charset="-120"/>
              </a:rPr>
              <a:t>4</a:t>
            </a:r>
            <a:endParaRPr lang="en-US" sz="3000" dirty="0"/>
          </a:p>
        </p:txBody>
      </p:sp>
      <p:sp>
        <p:nvSpPr>
          <p:cNvPr id="17" name="Text 15"/>
          <p:cNvSpPr txBox="1"/>
          <p:nvPr/>
        </p:nvSpPr>
        <p:spPr>
          <a:xfrm>
            <a:off x="1234440" y="3493008"/>
            <a:ext cx="2743200" cy="457200"/>
          </a:xfrm>
          <a:prstGeom prst="rect">
            <a:avLst/>
          </a:prstGeom>
          <a:noFill/>
          <a:ln/>
        </p:spPr>
        <p:txBody>
          <a:bodyPr wrap="square" lIns="0" tIns="0" rIns="0" bIns="0" rtlCol="0" anchor="ctr"/>
          <a:lstStyle/>
          <a:p>
            <a:pPr indent="0" marL="0">
              <a:buNone/>
            </a:pPr>
            <a:r>
              <a:rPr lang="en-US" sz="1600" b="1" dirty="0">
                <a:solidFill>
                  <a:srgbClr val="082A54"/>
                </a:solidFill>
                <a:latin typeface="Calibri" pitchFamily="34" charset="0"/>
                <a:ea typeface="Calibri" pitchFamily="34" charset="-122"/>
                <a:cs typeface="Calibri" pitchFamily="34" charset="-120"/>
              </a:rPr>
              <a:t>The cost edge</a:t>
            </a:r>
            <a:endParaRPr lang="en-US" sz="1600" dirty="0"/>
          </a:p>
        </p:txBody>
      </p:sp>
      <p:sp>
        <p:nvSpPr>
          <p:cNvPr id="18" name="Text 16"/>
          <p:cNvSpPr txBox="1"/>
          <p:nvPr/>
        </p:nvSpPr>
        <p:spPr>
          <a:xfrm>
            <a:off x="640080" y="4069080"/>
            <a:ext cx="3246120" cy="1280160"/>
          </a:xfrm>
          <a:prstGeom prst="rect">
            <a:avLst/>
          </a:prstGeom>
          <a:noFill/>
          <a:ln/>
        </p:spPr>
        <p:txBody>
          <a:bodyPr wrap="square" lIns="0" tIns="0" rIns="0" bIns="0" rtlCol="0" anchor="t"/>
          <a:lstStyle/>
          <a:p>
            <a:pPr indent="0" marL="0">
              <a:lnSpc>
                <a:spcPct val="110000"/>
              </a:lnSpc>
              <a:buNone/>
            </a:pPr>
            <a:r>
              <a:rPr lang="en-US" sz="1200" dirty="0">
                <a:solidFill>
                  <a:srgbClr val="1A1A1A"/>
                </a:solidFill>
                <a:latin typeface="Calibri" pitchFamily="34" charset="0"/>
                <a:ea typeface="Calibri" pitchFamily="34" charset="-122"/>
                <a:cs typeface="Calibri" pitchFamily="34" charset="-120"/>
              </a:rPr>
              <a:t>Name the waste from the eight — not a benefit. Where it occurs today; order of magnitude.</a:t>
            </a:r>
            <a:endParaRPr lang="en-US" sz="1200" dirty="0"/>
          </a:p>
        </p:txBody>
      </p:sp>
      <p:sp>
        <p:nvSpPr>
          <p:cNvPr id="19" name="Shape 17"/>
          <p:cNvSpPr/>
          <p:nvPr/>
        </p:nvSpPr>
        <p:spPr>
          <a:xfrm>
            <a:off x="4270248" y="3291840"/>
            <a:ext cx="3611880" cy="2148840"/>
          </a:xfrm>
          <a:prstGeom prst="roundRect">
            <a:avLst>
              <a:gd name="adj" fmla="val 5106"/>
            </a:avLst>
          </a:prstGeom>
          <a:solidFill>
            <a:srgbClr val="F3F6FA"/>
          </a:solidFill>
          <a:ln w="15875">
            <a:solidFill>
              <a:srgbClr val="4A7DBA"/>
            </a:solidFill>
            <a:prstDash val="solid"/>
          </a:ln>
        </p:spPr>
      </p:sp>
      <p:sp>
        <p:nvSpPr>
          <p:cNvPr id="20" name="Text 18"/>
          <p:cNvSpPr txBox="1"/>
          <p:nvPr/>
        </p:nvSpPr>
        <p:spPr>
          <a:xfrm>
            <a:off x="4453128" y="3429000"/>
            <a:ext cx="548640" cy="548640"/>
          </a:xfrm>
          <a:prstGeom prst="rect">
            <a:avLst/>
          </a:prstGeom>
          <a:noFill/>
          <a:ln/>
        </p:spPr>
        <p:txBody>
          <a:bodyPr wrap="square" lIns="0" tIns="0" rIns="0" bIns="0" rtlCol="0" anchor="ctr"/>
          <a:lstStyle/>
          <a:p>
            <a:pPr indent="0" marL="0">
              <a:buNone/>
            </a:pPr>
            <a:r>
              <a:rPr lang="en-US" sz="3000" b="1" dirty="0">
                <a:solidFill>
                  <a:srgbClr val="C59221"/>
                </a:solidFill>
                <a:latin typeface="Cambria" pitchFamily="34" charset="0"/>
                <a:ea typeface="Cambria" pitchFamily="34" charset="-122"/>
                <a:cs typeface="Cambria" pitchFamily="34" charset="-120"/>
              </a:rPr>
              <a:t>5</a:t>
            </a:r>
            <a:endParaRPr lang="en-US" sz="3000" dirty="0"/>
          </a:p>
        </p:txBody>
      </p:sp>
      <p:sp>
        <p:nvSpPr>
          <p:cNvPr id="21" name="Text 19"/>
          <p:cNvSpPr txBox="1"/>
          <p:nvPr/>
        </p:nvSpPr>
        <p:spPr>
          <a:xfrm>
            <a:off x="5047488" y="3493008"/>
            <a:ext cx="2743200" cy="457200"/>
          </a:xfrm>
          <a:prstGeom prst="rect">
            <a:avLst/>
          </a:prstGeom>
          <a:noFill/>
          <a:ln/>
        </p:spPr>
        <p:txBody>
          <a:bodyPr wrap="square" lIns="0" tIns="0" rIns="0" bIns="0" rtlCol="0" anchor="ctr"/>
          <a:lstStyle/>
          <a:p>
            <a:pPr indent="0" marL="0">
              <a:buNone/>
            </a:pPr>
            <a:r>
              <a:rPr lang="en-US" sz="1600" b="1" dirty="0">
                <a:solidFill>
                  <a:srgbClr val="082A54"/>
                </a:solidFill>
                <a:latin typeface="Calibri" pitchFamily="34" charset="0"/>
                <a:ea typeface="Calibri" pitchFamily="34" charset="-122"/>
                <a:cs typeface="Calibri" pitchFamily="34" charset="-120"/>
              </a:rPr>
              <a:t>What it builds</a:t>
            </a:r>
            <a:endParaRPr lang="en-US" sz="1600" dirty="0"/>
          </a:p>
        </p:txBody>
      </p:sp>
      <p:sp>
        <p:nvSpPr>
          <p:cNvPr id="22" name="Text 20"/>
          <p:cNvSpPr txBox="1"/>
          <p:nvPr/>
        </p:nvSpPr>
        <p:spPr>
          <a:xfrm>
            <a:off x="4453128" y="4069080"/>
            <a:ext cx="3246120" cy="1280160"/>
          </a:xfrm>
          <a:prstGeom prst="rect">
            <a:avLst/>
          </a:prstGeom>
          <a:noFill/>
          <a:ln/>
        </p:spPr>
        <p:txBody>
          <a:bodyPr wrap="square" lIns="0" tIns="0" rIns="0" bIns="0" rtlCol="0" anchor="t"/>
          <a:lstStyle/>
          <a:p>
            <a:pPr indent="0" marL="0">
              <a:lnSpc>
                <a:spcPct val="110000"/>
              </a:lnSpc>
              <a:buNone/>
            </a:pPr>
            <a:r>
              <a:rPr lang="en-US" sz="1200" dirty="0">
                <a:solidFill>
                  <a:srgbClr val="1A1A1A"/>
                </a:solidFill>
                <a:latin typeface="Calibri" pitchFamily="34" charset="0"/>
                <a:ea typeface="Calibri" pitchFamily="34" charset="-122"/>
                <a:cs typeface="Calibri" pitchFamily="34" charset="-120"/>
              </a:rPr>
              <a:t>Decompose into A, P and C. The test for C is strict: training people on the new system is delivering the asset.</a:t>
            </a:r>
            <a:endParaRPr lang="en-US" sz="1200" dirty="0"/>
          </a:p>
        </p:txBody>
      </p:sp>
      <p:sp>
        <p:nvSpPr>
          <p:cNvPr id="23" name="Shape 21"/>
          <p:cNvSpPr/>
          <p:nvPr/>
        </p:nvSpPr>
        <p:spPr>
          <a:xfrm>
            <a:off x="8083296" y="3291840"/>
            <a:ext cx="3611880" cy="2148840"/>
          </a:xfrm>
          <a:prstGeom prst="roundRect">
            <a:avLst>
              <a:gd name="adj" fmla="val 5106"/>
            </a:avLst>
          </a:prstGeom>
          <a:solidFill>
            <a:srgbClr val="F3F6FA"/>
          </a:solidFill>
          <a:ln w="15875">
            <a:solidFill>
              <a:srgbClr val="4A7DBA"/>
            </a:solidFill>
            <a:prstDash val="solid"/>
          </a:ln>
        </p:spPr>
      </p:sp>
      <p:sp>
        <p:nvSpPr>
          <p:cNvPr id="24" name="Text 22"/>
          <p:cNvSpPr txBox="1"/>
          <p:nvPr/>
        </p:nvSpPr>
        <p:spPr>
          <a:xfrm>
            <a:off x="8266176" y="3429000"/>
            <a:ext cx="548640" cy="548640"/>
          </a:xfrm>
          <a:prstGeom prst="rect">
            <a:avLst/>
          </a:prstGeom>
          <a:noFill/>
          <a:ln/>
        </p:spPr>
        <p:txBody>
          <a:bodyPr wrap="square" lIns="0" tIns="0" rIns="0" bIns="0" rtlCol="0" anchor="ctr"/>
          <a:lstStyle/>
          <a:p>
            <a:pPr indent="0" marL="0">
              <a:buNone/>
            </a:pPr>
            <a:r>
              <a:rPr lang="en-US" sz="3000" b="1" dirty="0">
                <a:solidFill>
                  <a:srgbClr val="C59221"/>
                </a:solidFill>
                <a:latin typeface="Cambria" pitchFamily="34" charset="0"/>
                <a:ea typeface="Cambria" pitchFamily="34" charset="-122"/>
                <a:cs typeface="Cambria" pitchFamily="34" charset="-120"/>
              </a:rPr>
              <a:t>6</a:t>
            </a:r>
            <a:endParaRPr lang="en-US" sz="3000" dirty="0"/>
          </a:p>
        </p:txBody>
      </p:sp>
      <p:sp>
        <p:nvSpPr>
          <p:cNvPr id="25" name="Text 23"/>
          <p:cNvSpPr txBox="1"/>
          <p:nvPr/>
        </p:nvSpPr>
        <p:spPr>
          <a:xfrm>
            <a:off x="8860536" y="3493008"/>
            <a:ext cx="2743200" cy="457200"/>
          </a:xfrm>
          <a:prstGeom prst="rect">
            <a:avLst/>
          </a:prstGeom>
          <a:noFill/>
          <a:ln/>
        </p:spPr>
        <p:txBody>
          <a:bodyPr wrap="square" lIns="0" tIns="0" rIns="0" bIns="0" rtlCol="0" anchor="ctr"/>
          <a:lstStyle/>
          <a:p>
            <a:pPr indent="0" marL="0">
              <a:buNone/>
            </a:pPr>
            <a:r>
              <a:rPr lang="en-US" sz="1600" b="1" dirty="0">
                <a:solidFill>
                  <a:srgbClr val="082A54"/>
                </a:solidFill>
                <a:latin typeface="Calibri" pitchFamily="34" charset="0"/>
                <a:ea typeface="Calibri" pitchFamily="34" charset="-122"/>
                <a:cs typeface="Calibri" pitchFamily="34" charset="-120"/>
              </a:rPr>
              <a:t>The verdict</a:t>
            </a:r>
            <a:endParaRPr lang="en-US" sz="1600" dirty="0"/>
          </a:p>
        </p:txBody>
      </p:sp>
      <p:sp>
        <p:nvSpPr>
          <p:cNvPr id="26" name="Text 24"/>
          <p:cNvSpPr txBox="1"/>
          <p:nvPr/>
        </p:nvSpPr>
        <p:spPr>
          <a:xfrm>
            <a:off x="8266176" y="4069080"/>
            <a:ext cx="3246120" cy="1280160"/>
          </a:xfrm>
          <a:prstGeom prst="rect">
            <a:avLst/>
          </a:prstGeom>
          <a:noFill/>
          <a:ln/>
        </p:spPr>
        <p:txBody>
          <a:bodyPr wrap="square" lIns="0" tIns="0" rIns="0" bIns="0" rtlCol="0" anchor="t"/>
          <a:lstStyle/>
          <a:p>
            <a:pPr indent="0" marL="0">
              <a:lnSpc>
                <a:spcPct val="110000"/>
              </a:lnSpc>
              <a:buNone/>
            </a:pPr>
            <a:r>
              <a:rPr lang="en-US" sz="1200" dirty="0">
                <a:solidFill>
                  <a:srgbClr val="1A1A1A"/>
                </a:solidFill>
                <a:latin typeface="Calibri" pitchFamily="34" charset="0"/>
                <a:ea typeface="Calibri" pitchFamily="34" charset="-122"/>
                <a:cs typeface="Calibri" pitchFamily="34" charset="-120"/>
              </a:rPr>
              <a:t>How long before a competitor could replicate this? Fund · fund with conditions · do not fund — and what would have to be added to build C.</a:t>
            </a:r>
            <a:endParaRPr lang="en-US" sz="1200" dirty="0"/>
          </a:p>
        </p:txBody>
      </p:sp>
      <p:sp>
        <p:nvSpPr>
          <p:cNvPr id="27" name="Text 25"/>
          <p:cNvSpPr txBox="1"/>
          <p:nvPr/>
        </p:nvSpPr>
        <p:spPr>
          <a:xfrm>
            <a:off x="457200" y="5715000"/>
            <a:ext cx="11277295" cy="594360"/>
          </a:xfrm>
          <a:prstGeom prst="rect">
            <a:avLst/>
          </a:prstGeom>
          <a:noFill/>
          <a:ln/>
        </p:spPr>
        <p:txBody>
          <a:bodyPr wrap="square" lIns="0" tIns="0" rIns="0" bIns="0" rtlCol="0" anchor="t"/>
          <a:lstStyle/>
          <a:p>
            <a:pPr algn="l" indent="0" marL="0">
              <a:lnSpc>
                <a:spcPct val="115000"/>
              </a:lnSpc>
              <a:buNone/>
            </a:pPr>
            <a:r>
              <a:rPr lang="en-US" sz="1250" i="1" dirty="0">
                <a:solidFill>
                  <a:srgbClr val="5A6675"/>
                </a:solidFill>
                <a:latin typeface="Calibri" pitchFamily="34" charset="0"/>
                <a:ea typeface="Calibri" pitchFamily="34" charset="-122"/>
                <a:cs typeface="Calibri" pitchFamily="34" charset="-120"/>
              </a:rPr>
              <a:t>The group presents step 1 and step 6, with the reasoning that connects them. One spokesperson. The canvas is fillable online, saved in the browser as you type, and exportable — download before closing the tab.</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TO EXPECT</a:t>
            </a:r>
            <a:endParaRPr lang="en-US" sz="2200" dirty="0"/>
          </a:p>
        </p:txBody>
      </p:sp>
      <p:sp>
        <p:nvSpPr>
          <p:cNvPr id="3" name="Shape 1"/>
          <p:cNvSpPr/>
          <p:nvPr/>
        </p:nvSpPr>
        <p:spPr>
          <a:xfrm>
            <a:off x="457200" y="1005840"/>
            <a:ext cx="5532120" cy="3017520"/>
          </a:xfrm>
          <a:prstGeom prst="roundRect">
            <a:avLst>
              <a:gd name="adj" fmla="val 3636"/>
            </a:avLst>
          </a:prstGeom>
          <a:solidFill>
            <a:srgbClr val="FFFFFF"/>
          </a:solidFill>
          <a:ln w="15875">
            <a:solidFill>
              <a:srgbClr val="4A7DBA"/>
            </a:solidFill>
            <a:prstDash val="solid"/>
          </a:ln>
        </p:spPr>
      </p:sp>
      <p:sp>
        <p:nvSpPr>
          <p:cNvPr id="4" name="Text 2"/>
          <p:cNvSpPr txBox="1"/>
          <p:nvPr/>
        </p:nvSpPr>
        <p:spPr>
          <a:xfrm>
            <a:off x="658368" y="117043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Only one edge moves</a:t>
            </a:r>
            <a:endParaRPr lang="en-US" sz="1800" dirty="0"/>
          </a:p>
        </p:txBody>
      </p:sp>
      <p:sp>
        <p:nvSpPr>
          <p:cNvPr id="5" name="Text 3"/>
          <p:cNvSpPr txBox="1"/>
          <p:nvPr/>
        </p:nvSpPr>
        <p:spPr>
          <a:xfrm>
            <a:off x="658368" y="1591056"/>
            <a:ext cx="5129784" cy="229514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Most project portfolios are built almost entirely of cost-edge projects. That is not wrong, but it is a choice, and usually an unexamined one. The question it raises: what would it take for this same project to also move willingness to pay — and would that cost much more?</a:t>
            </a:r>
            <a:endParaRPr lang="en-US" sz="1400" dirty="0"/>
          </a:p>
        </p:txBody>
      </p:sp>
      <p:sp>
        <p:nvSpPr>
          <p:cNvPr id="6" name="Shape 4"/>
          <p:cNvSpPr/>
          <p:nvPr/>
        </p:nvSpPr>
        <p:spPr>
          <a:xfrm>
            <a:off x="6217920" y="1005840"/>
            <a:ext cx="5532120" cy="3017520"/>
          </a:xfrm>
          <a:prstGeom prst="roundRect">
            <a:avLst>
              <a:gd name="adj" fmla="val 3636"/>
            </a:avLst>
          </a:prstGeom>
          <a:solidFill>
            <a:srgbClr val="F3F6FA"/>
          </a:solidFill>
          <a:ln w="15875">
            <a:solidFill>
              <a:srgbClr val="4A7DBA"/>
            </a:solidFill>
            <a:prstDash val="solid"/>
          </a:ln>
        </p:spPr>
      </p:sp>
      <p:sp>
        <p:nvSpPr>
          <p:cNvPr id="7" name="Text 5"/>
          <p:cNvSpPr txBox="1"/>
          <p:nvPr/>
        </p:nvSpPr>
        <p:spPr>
          <a:xfrm>
            <a:off x="6419088" y="117043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C is empty</a:t>
            </a:r>
            <a:endParaRPr lang="en-US" sz="1800" dirty="0"/>
          </a:p>
        </p:txBody>
      </p:sp>
      <p:sp>
        <p:nvSpPr>
          <p:cNvPr id="8" name="Text 6"/>
          <p:cNvSpPr txBox="1"/>
          <p:nvPr/>
        </p:nvSpPr>
        <p:spPr>
          <a:xfrm>
            <a:off x="6419088" y="1591056"/>
            <a:ext cx="5129784" cy="229514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Projects deliver assets and processes because those are what can be specified, scheduled and signed off. Capability resists all three. The question it raises: if A and P are purchasable by any competitor, what in this portfolio is actually building advantage?</a:t>
            </a:r>
            <a:endParaRPr lang="en-US" sz="1400" dirty="0"/>
          </a:p>
        </p:txBody>
      </p:sp>
      <p:sp>
        <p:nvSpPr>
          <p:cNvPr id="9" name="Shape 7"/>
          <p:cNvSpPr/>
          <p:nvPr/>
        </p:nvSpPr>
        <p:spPr>
          <a:xfrm>
            <a:off x="457200" y="4206240"/>
            <a:ext cx="11277295" cy="914400"/>
          </a:xfrm>
          <a:prstGeom prst="roundRect">
            <a:avLst>
              <a:gd name="adj" fmla="val 12000"/>
            </a:avLst>
          </a:prstGeom>
          <a:solidFill>
            <a:srgbClr val="FBF3E0"/>
          </a:solidFill>
          <a:ln w="15875">
            <a:solidFill>
              <a:srgbClr val="C59221"/>
            </a:solidFill>
            <a:prstDash val="solid"/>
          </a:ln>
        </p:spPr>
      </p:sp>
      <p:sp>
        <p:nvSpPr>
          <p:cNvPr id="10" name="Text 8"/>
          <p:cNvSpPr txBox="1"/>
          <p:nvPr/>
        </p:nvSpPr>
        <p:spPr>
          <a:xfrm>
            <a:off x="658368" y="4297680"/>
            <a:ext cx="10874959" cy="731520"/>
          </a:xfrm>
          <a:prstGeom prst="rect">
            <a:avLst/>
          </a:prstGeom>
          <a:noFill/>
          <a:ln/>
        </p:spPr>
        <p:txBody>
          <a:bodyPr wrap="square" lIns="0" tIns="0" rIns="0" bIns="0" rtlCol="0" anchor="ctr"/>
          <a:lstStyle/>
          <a:p>
            <a:pPr indent="0" marL="0">
              <a:lnSpc>
                <a:spcPct val="112000"/>
              </a:lnSpc>
              <a:buNone/>
            </a:pPr>
            <a:r>
              <a:rPr lang="en-US" sz="1500" b="1" dirty="0">
                <a:solidFill>
                  <a:srgbClr val="082A54"/>
                </a:solidFill>
                <a:latin typeface="Calibri" pitchFamily="34" charset="0"/>
                <a:ea typeface="Calibri" pitchFamily="34" charset="-122"/>
                <a:cs typeface="Calibri" pitchFamily="34" charset="-120"/>
              </a:rPr>
              <a:t>Neither result is a failure of the project you chose. Both are findings worth reporting.</a:t>
            </a:r>
            <a:endParaRPr lang="en-US" sz="1500" dirty="0"/>
          </a:p>
        </p:txBody>
      </p:sp>
      <p:sp>
        <p:nvSpPr>
          <p:cNvPr id="11" name="Shape 9"/>
          <p:cNvSpPr/>
          <p:nvPr/>
        </p:nvSpPr>
        <p:spPr>
          <a:xfrm>
            <a:off x="457200" y="5257800"/>
            <a:ext cx="11277295" cy="1005840"/>
          </a:xfrm>
          <a:prstGeom prst="roundRect">
            <a:avLst>
              <a:gd name="adj" fmla="val 10909"/>
            </a:avLst>
          </a:prstGeom>
          <a:solidFill>
            <a:srgbClr val="F3F6FA"/>
          </a:solidFill>
          <a:ln w="15875">
            <a:solidFill>
              <a:srgbClr val="4A7DBA"/>
            </a:solidFill>
            <a:prstDash val="solid"/>
          </a:ln>
        </p:spPr>
      </p:sp>
      <p:sp>
        <p:nvSpPr>
          <p:cNvPr id="12" name="Text 10"/>
          <p:cNvSpPr txBox="1"/>
          <p:nvPr/>
        </p:nvSpPr>
        <p:spPr>
          <a:xfrm>
            <a:off x="658368" y="5349240"/>
            <a:ext cx="10874959" cy="822960"/>
          </a:xfrm>
          <a:prstGeom prst="rect">
            <a:avLst/>
          </a:prstGeom>
          <a:noFill/>
          <a:ln/>
        </p:spPr>
        <p:txBody>
          <a:bodyPr wrap="square" lIns="0" tIns="0" rIns="0" bIns="0" rtlCol="0" anchor="ctr"/>
          <a:lstStyle/>
          <a:p>
            <a:pPr indent="0" marL="0">
              <a:lnSpc>
                <a:spcPct val="112000"/>
              </a:lnSpc>
              <a:buNone/>
            </a:pPr>
            <a:r>
              <a:rPr lang="en-US" sz="1300" dirty="0">
                <a:solidFill>
                  <a:srgbClr val="1A1A1A"/>
                </a:solidFill>
                <a:latin typeface="Calibri" pitchFamily="34" charset="0"/>
                <a:ea typeface="Calibri" pitchFamily="34" charset="-122"/>
                <a:cs typeface="Calibri" pitchFamily="34" charset="-120"/>
              </a:rPr>
              <a:t>Keep the export and bring it to the afternoon: Session 2 examines the digital tooling that project depends on. Module 3 closes with a group Execution Optimization Challenge, and an appraised project of your own is the kind of material it draws on.</a:t>
            </a:r>
            <a:endParaRPr lang="en-US" sz="13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Part Ten</a:t>
            </a:r>
            <a:endParaRPr lang="en-US" sz="2200" dirty="0"/>
          </a:p>
        </p:txBody>
      </p:sp>
      <p:sp>
        <p:nvSpPr>
          <p:cNvPr id="3" name="Shape 1"/>
          <p:cNvSpPr/>
          <p:nvPr/>
        </p:nvSpPr>
        <p:spPr>
          <a:xfrm>
            <a:off x="457200" y="1188720"/>
            <a:ext cx="11277295" cy="4480560"/>
          </a:xfrm>
          <a:prstGeom prst="roundRect">
            <a:avLst>
              <a:gd name="adj" fmla="val 3061"/>
            </a:avLst>
          </a:prstGeom>
          <a:solidFill>
            <a:srgbClr val="082A54"/>
          </a:solidFill>
          <a:ln w="12700">
            <a:solidFill>
              <a:srgbClr val="082A54"/>
            </a:solidFill>
            <a:prstDash val="solid"/>
          </a:ln>
        </p:spPr>
      </p:sp>
      <p:sp>
        <p:nvSpPr>
          <p:cNvPr id="4" name="Text 2"/>
          <p:cNvSpPr txBox="1"/>
          <p:nvPr/>
        </p:nvSpPr>
        <p:spPr>
          <a:xfrm>
            <a:off x="1005840" y="1737360"/>
            <a:ext cx="5486400" cy="457200"/>
          </a:xfrm>
          <a:prstGeom prst="rect">
            <a:avLst/>
          </a:prstGeom>
          <a:noFill/>
          <a:ln/>
        </p:spPr>
        <p:txBody>
          <a:bodyPr wrap="square" lIns="0" tIns="0" rIns="0" bIns="0" rtlCol="0" anchor="ctr"/>
          <a:lstStyle/>
          <a:p>
            <a:pPr indent="0" marL="0">
              <a:buNone/>
            </a:pPr>
            <a:r>
              <a:rPr lang="en-US" sz="1400" b="1" spc="400" kern="0" dirty="0">
                <a:solidFill>
                  <a:srgbClr val="C59221"/>
                </a:solidFill>
                <a:latin typeface="Calibri" pitchFamily="34" charset="0"/>
                <a:ea typeface="Calibri" pitchFamily="34" charset="-122"/>
                <a:cs typeface="Calibri" pitchFamily="34" charset="-120"/>
              </a:rPr>
              <a:t>PART TEN</a:t>
            </a:r>
            <a:endParaRPr lang="en-US" sz="1400" dirty="0"/>
          </a:p>
        </p:txBody>
      </p:sp>
      <p:sp>
        <p:nvSpPr>
          <p:cNvPr id="5" name="Text 3"/>
          <p:cNvSpPr txBox="1"/>
          <p:nvPr/>
        </p:nvSpPr>
        <p:spPr>
          <a:xfrm>
            <a:off x="1005840" y="2286000"/>
            <a:ext cx="987552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Where the morning ends</a:t>
            </a:r>
            <a:endParaRPr lang="en-US" sz="3800" dirty="0"/>
          </a:p>
        </p:txBody>
      </p:sp>
      <p:sp>
        <p:nvSpPr>
          <p:cNvPr id="6" name="Text 4"/>
          <p:cNvSpPr txBox="1"/>
          <p:nvPr/>
        </p:nvSpPr>
        <p:spPr>
          <a:xfrm>
            <a:off x="1005840" y="3749040"/>
            <a:ext cx="9875520" cy="1554480"/>
          </a:xfrm>
          <a:prstGeom prst="rect">
            <a:avLst/>
          </a:prstGeom>
          <a:noFill/>
          <a:ln/>
        </p:spPr>
        <p:txBody>
          <a:bodyPr wrap="square" lIns="0" tIns="0" rIns="0" bIns="0" rtlCol="0" anchor="t"/>
          <a:lstStyle/>
          <a:p>
            <a:pPr indent="0" marL="0">
              <a:lnSpc>
                <a:spcPct val="120000"/>
              </a:lnSpc>
              <a:buNone/>
            </a:pPr>
            <a:r>
              <a:rPr lang="en-US" sz="1700" dirty="0">
                <a:solidFill>
                  <a:srgbClr val="C6D4E4"/>
                </a:solidFill>
                <a:latin typeface="Calibri" pitchFamily="34" charset="0"/>
                <a:ea typeface="Calibri" pitchFamily="34" charset="-122"/>
                <a:cs typeface="Calibri" pitchFamily="34" charset="-120"/>
              </a:rPr>
              <a:t>One claim, five moves, four equations — and three things that should survive six months.</a:t>
            </a:r>
            <a:endParaRPr lang="en-US" sz="17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ARGUMENT, IN FIVE MOVES</a:t>
            </a:r>
            <a:endParaRPr lang="en-US" sz="2200" dirty="0"/>
          </a:p>
        </p:txBody>
      </p:sp>
      <p:sp>
        <p:nvSpPr>
          <p:cNvPr id="3" name="Shape 1"/>
          <p:cNvSpPr/>
          <p:nvPr/>
        </p:nvSpPr>
        <p:spPr>
          <a:xfrm>
            <a:off x="457200" y="1051560"/>
            <a:ext cx="640080" cy="640080"/>
          </a:xfrm>
          <a:prstGeom prst="ellipse">
            <a:avLst/>
          </a:prstGeom>
          <a:solidFill>
            <a:srgbClr val="082A54"/>
          </a:solidFill>
          <a:ln w="12700">
            <a:solidFill>
              <a:srgbClr val="082A54"/>
            </a:solidFill>
            <a:prstDash val="solid"/>
          </a:ln>
        </p:spPr>
      </p:sp>
      <p:sp>
        <p:nvSpPr>
          <p:cNvPr id="4" name="Text 2"/>
          <p:cNvSpPr txBox="1"/>
          <p:nvPr/>
        </p:nvSpPr>
        <p:spPr>
          <a:xfrm>
            <a:off x="457200" y="10515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325880" y="960120"/>
            <a:ext cx="10408615" cy="9601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Value is defined from the customer backwards. Order winners create preference, qualifiers only avoid elimination, and the value stick says there are exactly two ways to create value.</a:t>
            </a:r>
            <a:endParaRPr lang="en-US" sz="1350" dirty="0"/>
          </a:p>
        </p:txBody>
      </p:sp>
      <p:sp>
        <p:nvSpPr>
          <p:cNvPr id="6" name="Shape 4"/>
          <p:cNvSpPr/>
          <p:nvPr/>
        </p:nvSpPr>
        <p:spPr>
          <a:xfrm>
            <a:off x="457200" y="2103120"/>
            <a:ext cx="640080" cy="640080"/>
          </a:xfrm>
          <a:prstGeom prst="ellipse">
            <a:avLst/>
          </a:prstGeom>
          <a:solidFill>
            <a:srgbClr val="082A54"/>
          </a:solidFill>
          <a:ln w="12700">
            <a:solidFill>
              <a:srgbClr val="082A54"/>
            </a:solidFill>
            <a:prstDash val="solid"/>
          </a:ln>
        </p:spPr>
      </p:sp>
      <p:sp>
        <p:nvSpPr>
          <p:cNvPr id="7" name="Text 5"/>
          <p:cNvSpPr txBox="1"/>
          <p:nvPr/>
        </p:nvSpPr>
        <p:spPr>
          <a:xfrm>
            <a:off x="45720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325880" y="2011680"/>
            <a:ext cx="10408615" cy="9601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Waste is the gap between those two edges, and the value stream map makes it visible: a few hours of work inside weeks of elapsed time, almost all of it waiting.</a:t>
            </a:r>
            <a:endParaRPr lang="en-US" sz="1350" dirty="0"/>
          </a:p>
        </p:txBody>
      </p:sp>
      <p:sp>
        <p:nvSpPr>
          <p:cNvPr id="9" name="Shape 7"/>
          <p:cNvSpPr/>
          <p:nvPr/>
        </p:nvSpPr>
        <p:spPr>
          <a:xfrm>
            <a:off x="457200" y="3154680"/>
            <a:ext cx="640080" cy="640080"/>
          </a:xfrm>
          <a:prstGeom prst="ellipse">
            <a:avLst/>
          </a:prstGeom>
          <a:solidFill>
            <a:srgbClr val="082A54"/>
          </a:solidFill>
          <a:ln w="12700">
            <a:solidFill>
              <a:srgbClr val="082A54"/>
            </a:solidFill>
            <a:prstDash val="solid"/>
          </a:ln>
        </p:spPr>
      </p:sp>
      <p:sp>
        <p:nvSpPr>
          <p:cNvPr id="10" name="Text 8"/>
          <p:cNvSpPr txBox="1"/>
          <p:nvPr/>
        </p:nvSpPr>
        <p:spPr>
          <a:xfrm>
            <a:off x="457200" y="3154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325880" y="3063240"/>
            <a:ext cx="10408615" cy="9601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The waiting is produced by utilisation, not cured by it. Flow efficiency, not resource efficiency, is what the customer experiences.</a:t>
            </a:r>
            <a:endParaRPr lang="en-US" sz="1350" dirty="0"/>
          </a:p>
        </p:txBody>
      </p:sp>
      <p:sp>
        <p:nvSpPr>
          <p:cNvPr id="12" name="Shape 10"/>
          <p:cNvSpPr/>
          <p:nvPr/>
        </p:nvSpPr>
        <p:spPr>
          <a:xfrm>
            <a:off x="457200" y="4206240"/>
            <a:ext cx="640080" cy="640080"/>
          </a:xfrm>
          <a:prstGeom prst="ellipse">
            <a:avLst/>
          </a:prstGeom>
          <a:solidFill>
            <a:srgbClr val="082A54"/>
          </a:solidFill>
          <a:ln w="12700">
            <a:solidFill>
              <a:srgbClr val="082A54"/>
            </a:solidFill>
            <a:prstDash val="solid"/>
          </a:ln>
        </p:spPr>
      </p:sp>
      <p:sp>
        <p:nvSpPr>
          <p:cNvPr id="13" name="Text 11"/>
          <p:cNvSpPr txBox="1"/>
          <p:nvPr/>
        </p:nvSpPr>
        <p:spPr>
          <a:xfrm>
            <a:off x="457200" y="42062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4" name="Text 12"/>
          <p:cNvSpPr txBox="1"/>
          <p:nvPr/>
        </p:nvSpPr>
        <p:spPr>
          <a:xfrm>
            <a:off x="1325880" y="4114800"/>
            <a:ext cx="10408615" cy="9601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Variation is the other half of the method. Lean removes the time the work is not being worked on; Six Sigma narrows the spread that makes that time unpredictable. Neither holds its gain without the other.</a:t>
            </a:r>
            <a:endParaRPr lang="en-US" sz="1350" dirty="0"/>
          </a:p>
        </p:txBody>
      </p:sp>
      <p:sp>
        <p:nvSpPr>
          <p:cNvPr id="15" name="Shape 13"/>
          <p:cNvSpPr/>
          <p:nvPr/>
        </p:nvSpPr>
        <p:spPr>
          <a:xfrm>
            <a:off x="457200" y="5257800"/>
            <a:ext cx="640080" cy="640080"/>
          </a:xfrm>
          <a:prstGeom prst="ellipse">
            <a:avLst/>
          </a:prstGeom>
          <a:solidFill>
            <a:srgbClr val="082A54"/>
          </a:solidFill>
          <a:ln w="12700">
            <a:solidFill>
              <a:srgbClr val="082A54"/>
            </a:solidFill>
            <a:prstDash val="solid"/>
          </a:ln>
        </p:spPr>
      </p:sp>
      <p:sp>
        <p:nvSpPr>
          <p:cNvPr id="16" name="Text 14"/>
          <p:cNvSpPr txBox="1"/>
          <p:nvPr/>
        </p:nvSpPr>
        <p:spPr>
          <a:xfrm>
            <a:off x="457200" y="5257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7" name="Text 15"/>
          <p:cNvSpPr txBox="1"/>
          <p:nvPr/>
        </p:nvSpPr>
        <p:spPr>
          <a:xfrm>
            <a:off x="1325880" y="5166360"/>
            <a:ext cx="10408615" cy="96012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All of it shows up in return on capital — in the margin through less rework, and in the denominator through less inventory. The denominator is the half that business cases forget.</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FOUR EQUATIONS, ONE STAIRCASE</a:t>
            </a:r>
            <a:endParaRPr lang="en-US" sz="2200" dirty="0"/>
          </a:p>
        </p:txBody>
      </p:sp>
      <p:sp>
        <p:nvSpPr>
          <p:cNvPr id="3" name="Shape 1"/>
          <p:cNvSpPr/>
          <p:nvPr/>
        </p:nvSpPr>
        <p:spPr>
          <a:xfrm>
            <a:off x="457200" y="960120"/>
            <a:ext cx="4754880" cy="1143000"/>
          </a:xfrm>
          <a:prstGeom prst="roundRect">
            <a:avLst>
              <a:gd name="adj" fmla="val 8000"/>
            </a:avLst>
          </a:prstGeom>
          <a:solidFill>
            <a:srgbClr val="082A54"/>
          </a:solidFill>
          <a:ln w="12700">
            <a:solidFill>
              <a:srgbClr val="082A54"/>
            </a:solidFill>
            <a:prstDash val="solid"/>
          </a:ln>
        </p:spPr>
      </p:sp>
      <p:sp>
        <p:nvSpPr>
          <p:cNvPr id="4" name="Text 2"/>
          <p:cNvSpPr txBox="1"/>
          <p:nvPr/>
        </p:nvSpPr>
        <p:spPr>
          <a:xfrm>
            <a:off x="594360" y="960120"/>
            <a:ext cx="4480560" cy="11430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Value created = WTP − SOC</a:t>
            </a:r>
            <a:endParaRPr lang="en-US" sz="1800" dirty="0"/>
          </a:p>
        </p:txBody>
      </p:sp>
      <p:sp>
        <p:nvSpPr>
          <p:cNvPr id="5" name="Text 3"/>
          <p:cNvSpPr txBox="1"/>
          <p:nvPr/>
        </p:nvSpPr>
        <p:spPr>
          <a:xfrm>
            <a:off x="5394960" y="960120"/>
            <a:ext cx="6339535" cy="114300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Where value comes from, and the only two moves that create it.</a:t>
            </a:r>
            <a:endParaRPr lang="en-US" sz="1350" dirty="0"/>
          </a:p>
        </p:txBody>
      </p:sp>
      <p:sp>
        <p:nvSpPr>
          <p:cNvPr id="6" name="Shape 4"/>
          <p:cNvSpPr/>
          <p:nvPr/>
        </p:nvSpPr>
        <p:spPr>
          <a:xfrm>
            <a:off x="868680" y="2286000"/>
            <a:ext cx="4754880" cy="1143000"/>
          </a:xfrm>
          <a:prstGeom prst="roundRect">
            <a:avLst>
              <a:gd name="adj" fmla="val 8000"/>
            </a:avLst>
          </a:prstGeom>
          <a:solidFill>
            <a:srgbClr val="082A54"/>
          </a:solidFill>
          <a:ln w="12700">
            <a:solidFill>
              <a:srgbClr val="082A54"/>
            </a:solidFill>
            <a:prstDash val="solid"/>
          </a:ln>
        </p:spPr>
      </p:sp>
      <p:sp>
        <p:nvSpPr>
          <p:cNvPr id="7" name="Text 5"/>
          <p:cNvSpPr txBox="1"/>
          <p:nvPr/>
        </p:nvSpPr>
        <p:spPr>
          <a:xfrm>
            <a:off x="1005840" y="2286000"/>
            <a:ext cx="4480560" cy="11430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VC = (WTPA − CA) − (WTPB − CB)</a:t>
            </a:r>
            <a:endParaRPr lang="en-US" sz="1800" dirty="0"/>
          </a:p>
        </p:txBody>
      </p:sp>
      <p:sp>
        <p:nvSpPr>
          <p:cNvPr id="8" name="Text 6"/>
          <p:cNvSpPr txBox="1"/>
          <p:nvPr/>
        </p:nvSpPr>
        <p:spPr>
          <a:xfrm>
            <a:off x="5806440" y="2286000"/>
            <a:ext cx="5928055" cy="114300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Creating value is not having an advantage. Advantage is the difference — and a copyable improvement returns it to zero.</a:t>
            </a:r>
            <a:endParaRPr lang="en-US" sz="1350" dirty="0"/>
          </a:p>
        </p:txBody>
      </p:sp>
      <p:sp>
        <p:nvSpPr>
          <p:cNvPr id="9" name="Shape 7"/>
          <p:cNvSpPr/>
          <p:nvPr/>
        </p:nvSpPr>
        <p:spPr>
          <a:xfrm>
            <a:off x="1280160" y="3611880"/>
            <a:ext cx="4754880" cy="1143000"/>
          </a:xfrm>
          <a:prstGeom prst="roundRect">
            <a:avLst>
              <a:gd name="adj" fmla="val 8000"/>
            </a:avLst>
          </a:prstGeom>
          <a:solidFill>
            <a:srgbClr val="082A54"/>
          </a:solidFill>
          <a:ln w="12700">
            <a:solidFill>
              <a:srgbClr val="082A54"/>
            </a:solidFill>
            <a:prstDash val="solid"/>
          </a:ln>
        </p:spPr>
      </p:sp>
      <p:sp>
        <p:nvSpPr>
          <p:cNvPr id="10" name="Text 8"/>
          <p:cNvSpPr txBox="1"/>
          <p:nvPr/>
        </p:nvSpPr>
        <p:spPr>
          <a:xfrm>
            <a:off x="1417320" y="3611880"/>
            <a:ext cx="4480560" cy="11430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ROIC = margin × capital turnover</a:t>
            </a:r>
            <a:endParaRPr lang="en-US" sz="1800" dirty="0"/>
          </a:p>
        </p:txBody>
      </p:sp>
      <p:sp>
        <p:nvSpPr>
          <p:cNvPr id="11" name="Text 9"/>
          <p:cNvSpPr txBox="1"/>
          <p:nvPr/>
        </p:nvSpPr>
        <p:spPr>
          <a:xfrm>
            <a:off x="6217920" y="3611880"/>
            <a:ext cx="5516575" cy="114300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How the improvement reaches the people who fund it, through both levers at once.</a:t>
            </a:r>
            <a:endParaRPr lang="en-US" sz="1350" dirty="0"/>
          </a:p>
        </p:txBody>
      </p:sp>
      <p:sp>
        <p:nvSpPr>
          <p:cNvPr id="12" name="Shape 10"/>
          <p:cNvSpPr/>
          <p:nvPr/>
        </p:nvSpPr>
        <p:spPr>
          <a:xfrm>
            <a:off x="1691640" y="4937760"/>
            <a:ext cx="4754880" cy="1143000"/>
          </a:xfrm>
          <a:prstGeom prst="roundRect">
            <a:avLst>
              <a:gd name="adj" fmla="val 8000"/>
            </a:avLst>
          </a:prstGeom>
          <a:solidFill>
            <a:srgbClr val="082A54"/>
          </a:solidFill>
          <a:ln w="12700">
            <a:solidFill>
              <a:srgbClr val="082A54"/>
            </a:solidFill>
            <a:prstDash val="solid"/>
          </a:ln>
        </p:spPr>
      </p:sp>
      <p:sp>
        <p:nvSpPr>
          <p:cNvPr id="13" name="Text 11"/>
          <p:cNvSpPr txBox="1"/>
          <p:nvPr/>
        </p:nvSpPr>
        <p:spPr>
          <a:xfrm>
            <a:off x="1828800" y="4937760"/>
            <a:ext cx="4480560" cy="11430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V = C × (A + P)</a:t>
            </a:r>
            <a:endParaRPr lang="en-US" sz="1800" dirty="0"/>
          </a:p>
        </p:txBody>
      </p:sp>
      <p:sp>
        <p:nvSpPr>
          <p:cNvPr id="14" name="Text 12"/>
          <p:cNvSpPr txBox="1"/>
          <p:nvPr/>
        </p:nvSpPr>
        <p:spPr>
          <a:xfrm>
            <a:off x="6629400" y="4937760"/>
            <a:ext cx="5105095" cy="1143000"/>
          </a:xfrm>
          <a:prstGeom prst="rect">
            <a:avLst/>
          </a:prstGeom>
          <a:noFill/>
          <a:ln/>
        </p:spPr>
        <p:txBody>
          <a:bodyPr wrap="square" lIns="0" tIns="0" rIns="0" bIns="0" rtlCol="0" anchor="ctr"/>
          <a:lstStyle/>
          <a:p>
            <a:pPr indent="0" marL="0">
              <a:lnSpc>
                <a:spcPct val="112000"/>
              </a:lnSpc>
              <a:buNone/>
            </a:pPr>
            <a:r>
              <a:rPr lang="en-US" sz="1350" dirty="0">
                <a:solidFill>
                  <a:srgbClr val="1A1A1A"/>
                </a:solidFill>
                <a:latin typeface="Calibri" pitchFamily="34" charset="0"/>
                <a:ea typeface="Calibri" pitchFamily="34" charset="-122"/>
                <a:cs typeface="Calibri" pitchFamily="34" charset="-120"/>
              </a:rPr>
              <a:t>Why two organisations with the same assets and processes get different results — and where the residue of advantage can live.</a:t>
            </a:r>
            <a:endParaRPr lang="en-US" sz="13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SHOULD SURVIVE SIX MONTHS</a:t>
            </a:r>
            <a:endParaRPr lang="en-US" sz="2200" dirty="0"/>
          </a:p>
        </p:txBody>
      </p:sp>
      <p:sp>
        <p:nvSpPr>
          <p:cNvPr id="3" name="Shape 1"/>
          <p:cNvSpPr/>
          <p:nvPr/>
        </p:nvSpPr>
        <p:spPr>
          <a:xfrm>
            <a:off x="457200" y="1005840"/>
            <a:ext cx="3657600" cy="2377440"/>
          </a:xfrm>
          <a:prstGeom prst="roundRect">
            <a:avLst>
              <a:gd name="adj" fmla="val 4615"/>
            </a:avLst>
          </a:prstGeom>
          <a:solidFill>
            <a:srgbClr val="FFFFFF"/>
          </a:solidFill>
          <a:ln w="15875">
            <a:solidFill>
              <a:srgbClr val="4A7DBA"/>
            </a:solidFill>
            <a:prstDash val="solid"/>
          </a:ln>
        </p:spPr>
      </p:sp>
      <p:sp>
        <p:nvSpPr>
          <p:cNvPr id="4" name="Text 2"/>
          <p:cNvSpPr txBox="1"/>
          <p:nvPr/>
        </p:nvSpPr>
        <p:spPr>
          <a:xfrm>
            <a:off x="658368"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Count elapsed time, not effort</a:t>
            </a:r>
            <a:endParaRPr lang="en-US" sz="1600" dirty="0"/>
          </a:p>
        </p:txBody>
      </p:sp>
      <p:sp>
        <p:nvSpPr>
          <p:cNvPr id="5" name="Text 3"/>
          <p:cNvSpPr txBox="1"/>
          <p:nvPr/>
        </p:nvSpPr>
        <p:spPr>
          <a:xfrm>
            <a:off x="658368" y="159105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The question is never “how long does this take to do” but “how long does it wait” — and the answer is usually ninety per cent of the lead time.</a:t>
            </a:r>
            <a:endParaRPr lang="en-US" sz="1350" dirty="0"/>
          </a:p>
        </p:txBody>
      </p:sp>
      <p:sp>
        <p:nvSpPr>
          <p:cNvPr id="6" name="Shape 4"/>
          <p:cNvSpPr/>
          <p:nvPr/>
        </p:nvSpPr>
        <p:spPr>
          <a:xfrm>
            <a:off x="4270248" y="1005840"/>
            <a:ext cx="3657600" cy="2377440"/>
          </a:xfrm>
          <a:prstGeom prst="roundRect">
            <a:avLst>
              <a:gd name="adj" fmla="val 4615"/>
            </a:avLst>
          </a:prstGeom>
          <a:solidFill>
            <a:srgbClr val="F3F6FA"/>
          </a:solidFill>
          <a:ln w="15875">
            <a:solidFill>
              <a:srgbClr val="4A7DBA"/>
            </a:solidFill>
            <a:prstDash val="solid"/>
          </a:ln>
        </p:spPr>
      </p:sp>
      <p:sp>
        <p:nvSpPr>
          <p:cNvPr id="7" name="Text 5"/>
          <p:cNvSpPr txBox="1"/>
          <p:nvPr/>
        </p:nvSpPr>
        <p:spPr>
          <a:xfrm>
            <a:off x="4471416"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Starting less finishes more</a:t>
            </a:r>
            <a:endParaRPr lang="en-US" sz="1600" dirty="0"/>
          </a:p>
        </p:txBody>
      </p:sp>
      <p:sp>
        <p:nvSpPr>
          <p:cNvPr id="8" name="Text 6"/>
          <p:cNvSpPr txBox="1"/>
          <p:nvPr/>
        </p:nvSpPr>
        <p:spPr>
          <a:xfrm>
            <a:off x="4471416" y="159105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Projects in flight divided by projects finished a year is your real lead time, whatever the schedules say — the one number on the slide nobody can argue with.</a:t>
            </a:r>
            <a:endParaRPr lang="en-US" sz="1350" dirty="0"/>
          </a:p>
        </p:txBody>
      </p:sp>
      <p:sp>
        <p:nvSpPr>
          <p:cNvPr id="9" name="Shape 7"/>
          <p:cNvSpPr/>
          <p:nvPr/>
        </p:nvSpPr>
        <p:spPr>
          <a:xfrm>
            <a:off x="8074152" y="1005840"/>
            <a:ext cx="3657600" cy="2377440"/>
          </a:xfrm>
          <a:prstGeom prst="roundRect">
            <a:avLst>
              <a:gd name="adj" fmla="val 4615"/>
            </a:avLst>
          </a:prstGeom>
          <a:solidFill>
            <a:srgbClr val="FFFFFF"/>
          </a:solidFill>
          <a:ln w="15875">
            <a:solidFill>
              <a:srgbClr val="4A7DBA"/>
            </a:solidFill>
            <a:prstDash val="solid"/>
          </a:ln>
        </p:spPr>
      </p:sp>
      <p:sp>
        <p:nvSpPr>
          <p:cNvPr id="10" name="Text 8"/>
          <p:cNvSpPr txBox="1"/>
          <p:nvPr/>
        </p:nvSpPr>
        <p:spPr>
          <a:xfrm>
            <a:off x="8275320" y="1170432"/>
            <a:ext cx="3255264" cy="384048"/>
          </a:xfrm>
          <a:prstGeom prst="rect">
            <a:avLst/>
          </a:prstGeom>
          <a:noFill/>
          <a:ln/>
        </p:spPr>
        <p:txBody>
          <a:bodyPr wrap="square" lIns="0" tIns="0" rIns="0" bIns="0" rtlCol="0" anchor="t"/>
          <a:lstStyle/>
          <a:p>
            <a:pPr indent="0" marL="0">
              <a:buNone/>
            </a:pPr>
            <a:r>
              <a:rPr lang="en-US" sz="1600" b="1" dirty="0">
                <a:solidFill>
                  <a:srgbClr val="082A54"/>
                </a:solidFill>
                <a:latin typeface="Calibri" pitchFamily="34" charset="0"/>
                <a:ea typeface="Calibri" pitchFamily="34" charset="-122"/>
                <a:cs typeface="Calibri" pitchFamily="34" charset="-120"/>
              </a:rPr>
              <a:t>Buy the bracket, build the coefficient</a:t>
            </a:r>
            <a:endParaRPr lang="en-US" sz="1600" dirty="0"/>
          </a:p>
        </p:txBody>
      </p:sp>
      <p:sp>
        <p:nvSpPr>
          <p:cNvPr id="11" name="Text 9"/>
          <p:cNvSpPr txBox="1"/>
          <p:nvPr/>
        </p:nvSpPr>
        <p:spPr>
          <a:xfrm>
            <a:off x="8275320" y="1591056"/>
            <a:ext cx="3255264" cy="1655064"/>
          </a:xfrm>
          <a:prstGeom prst="rect">
            <a:avLst/>
          </a:prstGeom>
          <a:noFill/>
          <a:ln/>
        </p:spPr>
        <p:txBody>
          <a:bodyPr wrap="square" lIns="0" tIns="0" rIns="0" bIns="0" rtlCol="0" anchor="t"/>
          <a:lstStyle/>
          <a:p>
            <a:pPr indent="0" marL="0">
              <a:lnSpc>
                <a:spcPct val="112000"/>
              </a:lnSpc>
              <a:spcAft>
                <a:spcPts val="600"/>
              </a:spcAft>
              <a:buNone/>
            </a:pPr>
            <a:r>
              <a:rPr lang="en-US" sz="1350" dirty="0">
                <a:solidFill>
                  <a:srgbClr val="1A1A1A"/>
                </a:solidFill>
                <a:latin typeface="Calibri" pitchFamily="34" charset="0"/>
                <a:ea typeface="Calibri" pitchFamily="34" charset="-122"/>
                <a:cs typeface="Calibri" pitchFamily="34" charset="-120"/>
              </a:rPr>
              <a:t>Every tool and every method is available to a competitor at the same price. What is not is the repeated ability to find and fix your own problems — what Fremont changed, and what GM could not copy.</a:t>
            </a:r>
            <a:endParaRPr lang="en-US" sz="1350" dirty="0"/>
          </a:p>
        </p:txBody>
      </p:sp>
      <p:sp>
        <p:nvSpPr>
          <p:cNvPr id="12" name="Shape 10"/>
          <p:cNvSpPr/>
          <p:nvPr/>
        </p:nvSpPr>
        <p:spPr>
          <a:xfrm>
            <a:off x="457200" y="3566160"/>
            <a:ext cx="11277295" cy="2743200"/>
          </a:xfrm>
          <a:prstGeom prst="roundRect">
            <a:avLst>
              <a:gd name="adj" fmla="val 4000"/>
            </a:avLst>
          </a:prstGeom>
          <a:solidFill>
            <a:srgbClr val="F3F6FA"/>
          </a:solidFill>
          <a:ln w="15875">
            <a:solidFill>
              <a:srgbClr val="4A7DBA"/>
            </a:solidFill>
            <a:prstDash val="solid"/>
          </a:ln>
        </p:spPr>
      </p:sp>
      <p:sp>
        <p:nvSpPr>
          <p:cNvPr id="13" name="Text 11"/>
          <p:cNvSpPr txBox="1"/>
          <p:nvPr/>
        </p:nvSpPr>
        <p:spPr>
          <a:xfrm>
            <a:off x="658368" y="3694176"/>
            <a:ext cx="10874959" cy="274320"/>
          </a:xfrm>
          <a:prstGeom prst="rect">
            <a:avLst/>
          </a:prstGeom>
          <a:noFill/>
          <a:ln/>
        </p:spPr>
        <p:txBody>
          <a:bodyPr wrap="square" lIns="0" tIns="0" rIns="0" bIns="0" rtlCol="0" anchor="ctr"/>
          <a:lstStyle/>
          <a:p>
            <a:pPr indent="0" marL="0">
              <a:buNone/>
            </a:pPr>
            <a:r>
              <a:rPr lang="en-US" sz="1100" b="1" spc="300" kern="0" dirty="0">
                <a:solidFill>
                  <a:srgbClr val="C59221"/>
                </a:solidFill>
                <a:latin typeface="Calibri" pitchFamily="34" charset="0"/>
                <a:ea typeface="Calibri" pitchFamily="34" charset="-122"/>
                <a:cs typeface="Calibri" pitchFamily="34" charset="-120"/>
              </a:rPr>
              <a:t>IN PROJECT TERMS</a:t>
            </a:r>
            <a:endParaRPr lang="en-US" sz="1100" dirty="0"/>
          </a:p>
        </p:txBody>
      </p:sp>
      <p:sp>
        <p:nvSpPr>
          <p:cNvPr id="14" name="Text 12"/>
          <p:cNvSpPr txBox="1"/>
          <p:nvPr/>
        </p:nvSpPr>
        <p:spPr>
          <a:xfrm>
            <a:off x="658368" y="4005072"/>
            <a:ext cx="1188720" cy="1069848"/>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IN A PROJECT</a:t>
            </a:r>
            <a:endParaRPr lang="en-US" sz="1050" dirty="0"/>
          </a:p>
        </p:txBody>
      </p:sp>
      <p:sp>
        <p:nvSpPr>
          <p:cNvPr id="15" name="Text 13"/>
          <p:cNvSpPr txBox="1"/>
          <p:nvPr/>
        </p:nvSpPr>
        <p:spPr>
          <a:xfrm>
            <a:off x="1874520" y="4005072"/>
            <a:ext cx="9631375" cy="1069848"/>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ONE PROCESS — take the recurring process you brought, walk it with the people who do it, and write two numbers on one line: hours of work, days of elapsed time. TWO COUNTS — projects in flight; projects closed in the last twelve months. Divide.</a:t>
            </a:r>
            <a:endParaRPr lang="en-US" sz="1250" dirty="0"/>
          </a:p>
        </p:txBody>
      </p:sp>
      <p:sp>
        <p:nvSpPr>
          <p:cNvPr id="16" name="Text 14"/>
          <p:cNvSpPr txBox="1"/>
          <p:nvPr/>
        </p:nvSpPr>
        <p:spPr>
          <a:xfrm>
            <a:off x="658368" y="5148072"/>
            <a:ext cx="1188720" cy="1069848"/>
          </a:xfrm>
          <a:prstGeom prst="rect">
            <a:avLst/>
          </a:prstGeom>
          <a:noFill/>
          <a:ln/>
        </p:spPr>
        <p:txBody>
          <a:bodyPr wrap="square" lIns="0" tIns="0" rIns="0" bIns="0" rtlCol="0" anchor="t"/>
          <a:lstStyle/>
          <a:p>
            <a:pPr indent="0" marL="0">
              <a:buNone/>
            </a:pPr>
            <a:r>
              <a:rPr lang="en-US" sz="1050" b="1" dirty="0">
                <a:solidFill>
                  <a:srgbClr val="082A54"/>
                </a:solidFill>
                <a:latin typeface="Calibri" pitchFamily="34" charset="0"/>
                <a:ea typeface="Calibri" pitchFamily="34" charset="-122"/>
                <a:cs typeface="Calibri" pitchFamily="34" charset="-120"/>
              </a:rPr>
              <a:t>ON MONDAY</a:t>
            </a:r>
            <a:endParaRPr lang="en-US" sz="1050" dirty="0"/>
          </a:p>
        </p:txBody>
      </p:sp>
      <p:sp>
        <p:nvSpPr>
          <p:cNvPr id="17" name="Text 15"/>
          <p:cNvSpPr txBox="1"/>
          <p:nvPr/>
        </p:nvSpPr>
        <p:spPr>
          <a:xfrm>
            <a:off x="1874520" y="5148072"/>
            <a:ext cx="9631375" cy="1069848"/>
          </a:xfrm>
          <a:prstGeom prst="rect">
            <a:avLst/>
          </a:prstGeom>
          <a:noFill/>
          <a:ln/>
        </p:spPr>
        <p:txBody>
          <a:bodyPr wrap="square" lIns="0" tIns="0" rIns="0" bIns="0" rtlCol="0" anchor="t"/>
          <a:lstStyle/>
          <a:p>
            <a:pPr indent="0" marL="0">
              <a:lnSpc>
                <a:spcPct val="110000"/>
              </a:lnSpc>
              <a:buNone/>
            </a:pPr>
            <a:r>
              <a:rPr lang="en-US" sz="1250" dirty="0">
                <a:solidFill>
                  <a:srgbClr val="1A1A1A"/>
                </a:solidFill>
                <a:latin typeface="Calibri" pitchFamily="34" charset="0"/>
                <a:ea typeface="Calibri" pitchFamily="34" charset="-122"/>
                <a:cs typeface="Calibri" pitchFamily="34" charset="-120"/>
              </a:rPr>
              <a:t>ONE QUESTION — at the next approval you sit in, ask which edge of value the project moves and what is left when the competitor does the same. If the answer is nothing, fund it to the threshold and not beyond.</a:t>
            </a:r>
            <a:endParaRPr lang="en-US" sz="125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3"/>
          <p:cNvSpPr/>
          <p:nvPr>
            <p:ph idx="103" type="title" hasCustomPrompt="1"/>
          </p:nvPr>
        </p:nvSpPr>
        <p:spPr>
          <a:xfrm>
            <a:off x="457200" y="73152"/>
            <a:ext cx="10332720" cy="49377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THE AFTERNOON TESTS</a:t>
            </a:r>
            <a:endParaRPr lang="en-US" sz="2200" dirty="0"/>
          </a:p>
        </p:txBody>
      </p:sp>
      <p:sp>
        <p:nvSpPr>
          <p:cNvPr id="3" name="Text 1"/>
          <p:cNvSpPr txBox="1"/>
          <p:nvPr/>
        </p:nvSpPr>
        <p:spPr>
          <a:xfrm>
            <a:off x="457200" y="1005840"/>
            <a:ext cx="11277295" cy="822960"/>
          </a:xfrm>
          <a:prstGeom prst="rect">
            <a:avLst/>
          </a:prstGeom>
          <a:noFill/>
          <a:ln/>
        </p:spPr>
        <p:txBody>
          <a:bodyPr wrap="square" lIns="0" tIns="0" rIns="0" bIns="0" rtlCol="0" anchor="t"/>
          <a:lstStyle/>
          <a:p>
            <a:pPr algn="l" indent="0" marL="0">
              <a:lnSpc>
                <a:spcPct val="115000"/>
              </a:lnSpc>
              <a:buNone/>
            </a:pPr>
            <a:r>
              <a:rPr lang="en-US" sz="1500" dirty="0">
                <a:solidFill>
                  <a:srgbClr val="1A1A1A"/>
                </a:solidFill>
                <a:latin typeface="Calibri" pitchFamily="34" charset="0"/>
                <a:ea typeface="Calibri" pitchFamily="34" charset="-122"/>
                <a:cs typeface="Calibri" pitchFamily="34" charset="-120"/>
              </a:rPr>
              <a:t>The morning ended on a claim: value is not the sum of what an organisation owns and how it works, but that sum scaled by its capacity to improve. The afternoon tests the claim against the two things organisations buy when they want that capacity and cannot build it.</a:t>
            </a:r>
            <a:endParaRPr lang="en-US" sz="1500" dirty="0"/>
          </a:p>
        </p:txBody>
      </p:sp>
      <p:sp>
        <p:nvSpPr>
          <p:cNvPr id="4" name="Shape 2"/>
          <p:cNvSpPr/>
          <p:nvPr/>
        </p:nvSpPr>
        <p:spPr>
          <a:xfrm>
            <a:off x="457200" y="2011680"/>
            <a:ext cx="5532120" cy="2194560"/>
          </a:xfrm>
          <a:prstGeom prst="roundRect">
            <a:avLst>
              <a:gd name="adj" fmla="val 5000"/>
            </a:avLst>
          </a:prstGeom>
          <a:solidFill>
            <a:srgbClr val="FFFFFF"/>
          </a:solidFill>
          <a:ln w="15875">
            <a:solidFill>
              <a:srgbClr val="4A7DBA"/>
            </a:solidFill>
            <a:prstDash val="solid"/>
          </a:ln>
        </p:spPr>
      </p:sp>
      <p:sp>
        <p:nvSpPr>
          <p:cNvPr id="5" name="Text 3"/>
          <p:cNvSpPr txBox="1"/>
          <p:nvPr/>
        </p:nvSpPr>
        <p:spPr>
          <a:xfrm>
            <a:off x="658368" y="217627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Technology</a:t>
            </a:r>
            <a:endParaRPr lang="en-US" sz="1800" dirty="0"/>
          </a:p>
        </p:txBody>
      </p:sp>
      <p:sp>
        <p:nvSpPr>
          <p:cNvPr id="6" name="Text 4"/>
          <p:cNvSpPr txBox="1"/>
          <p:nvPr/>
        </p:nvSpPr>
        <p:spPr>
          <a:xfrm>
            <a:off x="658368" y="2596896"/>
            <a:ext cx="5129784" cy="14721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Digital platforms — the most expensive thing on the list and the easiest to mistake for capability. Artificial intelligence as the extreme case of the same error.</a:t>
            </a:r>
            <a:endParaRPr lang="en-US" sz="1400" dirty="0"/>
          </a:p>
        </p:txBody>
      </p:sp>
      <p:sp>
        <p:nvSpPr>
          <p:cNvPr id="7" name="Shape 5"/>
          <p:cNvSpPr/>
          <p:nvPr/>
        </p:nvSpPr>
        <p:spPr>
          <a:xfrm>
            <a:off x="6217920" y="2011680"/>
            <a:ext cx="5532120" cy="2194560"/>
          </a:xfrm>
          <a:prstGeom prst="roundRect">
            <a:avLst>
              <a:gd name="adj" fmla="val 5000"/>
            </a:avLst>
          </a:prstGeom>
          <a:solidFill>
            <a:srgbClr val="F3F6FA"/>
          </a:solidFill>
          <a:ln w="15875">
            <a:solidFill>
              <a:srgbClr val="4A7DBA"/>
            </a:solidFill>
            <a:prstDash val="solid"/>
          </a:ln>
        </p:spPr>
      </p:sp>
      <p:sp>
        <p:nvSpPr>
          <p:cNvPr id="8" name="Text 6"/>
          <p:cNvSpPr txBox="1"/>
          <p:nvPr/>
        </p:nvSpPr>
        <p:spPr>
          <a:xfrm>
            <a:off x="6419088" y="2176272"/>
            <a:ext cx="5129784" cy="384048"/>
          </a:xfrm>
          <a:prstGeom prst="rect">
            <a:avLst/>
          </a:prstGeom>
          <a:noFill/>
          <a:ln/>
        </p:spPr>
        <p:txBody>
          <a:bodyPr wrap="square" lIns="0" tIns="0" rIns="0" bIns="0" rtlCol="0" anchor="t"/>
          <a:lstStyle/>
          <a:p>
            <a:pPr indent="0" marL="0">
              <a:buNone/>
            </a:pPr>
            <a:r>
              <a:rPr lang="en-US" sz="1800" b="1" dirty="0">
                <a:solidFill>
                  <a:srgbClr val="082A54"/>
                </a:solidFill>
                <a:latin typeface="Calibri" pitchFamily="34" charset="0"/>
                <a:ea typeface="Calibri" pitchFamily="34" charset="-122"/>
                <a:cs typeface="Calibri" pitchFamily="34" charset="-120"/>
              </a:rPr>
              <a:t>Other people's practices</a:t>
            </a:r>
            <a:endParaRPr lang="en-US" sz="1800" dirty="0"/>
          </a:p>
        </p:txBody>
      </p:sp>
      <p:sp>
        <p:nvSpPr>
          <p:cNvPr id="9" name="Text 7"/>
          <p:cNvSpPr txBox="1"/>
          <p:nvPr/>
        </p:nvSpPr>
        <p:spPr>
          <a:xfrm>
            <a:off x="6419088" y="2596896"/>
            <a:ext cx="5129784" cy="1472184"/>
          </a:xfrm>
          <a:prstGeom prst="rect">
            <a:avLst/>
          </a:prstGeom>
          <a:noFill/>
          <a:ln/>
        </p:spPr>
        <p:txBody>
          <a:bodyPr wrap="square" lIns="0" tIns="0" rIns="0" bIns="0" rtlCol="0" anchor="t"/>
          <a:lstStyle/>
          <a:p>
            <a:pPr indent="0" marL="0">
              <a:lnSpc>
                <a:spcPct val="112000"/>
              </a:lnSpc>
              <a:spcAft>
                <a:spcPts val="600"/>
              </a:spcAft>
              <a:buNone/>
            </a:pPr>
            <a:r>
              <a:rPr lang="en-US" sz="1400" dirty="0">
                <a:solidFill>
                  <a:srgbClr val="1A1A1A"/>
                </a:solidFill>
                <a:latin typeface="Calibri" pitchFamily="34" charset="0"/>
                <a:ea typeface="Calibri" pitchFamily="34" charset="-122"/>
                <a:cs typeface="Calibri" pitchFamily="34" charset="-120"/>
              </a:rPr>
              <a:t>Benchmarking — the only one that looks like it should work. Why GM toured NUMMI for twenty years and copied everything that could be photographed.</a:t>
            </a:r>
            <a:endParaRPr lang="en-US" sz="1400" dirty="0"/>
          </a:p>
        </p:txBody>
      </p:sp>
      <p:sp>
        <p:nvSpPr>
          <p:cNvPr id="10" name="Shape 8"/>
          <p:cNvSpPr/>
          <p:nvPr/>
        </p:nvSpPr>
        <p:spPr>
          <a:xfrm>
            <a:off x="457200" y="4434840"/>
            <a:ext cx="11277295" cy="914400"/>
          </a:xfrm>
          <a:prstGeom prst="roundRect">
            <a:avLst>
              <a:gd name="adj" fmla="val 12000"/>
            </a:avLst>
          </a:prstGeom>
          <a:solidFill>
            <a:srgbClr val="FBF3E0"/>
          </a:solidFill>
          <a:ln w="15875">
            <a:solidFill>
              <a:srgbClr val="C59221"/>
            </a:solidFill>
            <a:prstDash val="solid"/>
          </a:ln>
        </p:spPr>
      </p:sp>
      <p:sp>
        <p:nvSpPr>
          <p:cNvPr id="11" name="Text 9"/>
          <p:cNvSpPr txBox="1"/>
          <p:nvPr/>
        </p:nvSpPr>
        <p:spPr>
          <a:xfrm>
            <a:off x="658368" y="4526280"/>
            <a:ext cx="10874959" cy="731520"/>
          </a:xfrm>
          <a:prstGeom prst="rect">
            <a:avLst/>
          </a:prstGeom>
          <a:noFill/>
          <a:ln/>
        </p:spPr>
        <p:txBody>
          <a:bodyPr wrap="square" lIns="0" tIns="0" rIns="0" bIns="0" rtlCol="0" anchor="ctr"/>
          <a:lstStyle/>
          <a:p>
            <a:pPr indent="0" marL="0">
              <a:lnSpc>
                <a:spcPct val="112000"/>
              </a:lnSpc>
              <a:buNone/>
            </a:pPr>
            <a:r>
              <a:rPr lang="en-US" sz="1500" b="1" dirty="0">
                <a:solidFill>
                  <a:srgbClr val="082A54"/>
                </a:solidFill>
                <a:latin typeface="Calibri" pitchFamily="34" charset="0"/>
                <a:ea typeface="Calibri" pitchFamily="34" charset="-122"/>
                <a:cs typeface="Calibri" pitchFamily="34" charset="-120"/>
              </a:rPr>
              <a:t>Bring two things: your Value Case canvas, and your NUMMI hypothesis with the resolution we reached. 14:00.</a:t>
            </a:r>
            <a:endParaRPr lang="en-US" sz="1500" dirty="0"/>
          </a:p>
        </p:txBody>
      </p:sp>
      <p:sp>
        <p:nvSpPr>
          <p:cNvPr id="25" name="Slide Number Placeholder 0"/>
          <p:cNvSpPr>
            <a:spLocks noGrp="1"/>
          </p:cNvSpPr>
          <p:nvPr>
            <p:ph type="sldNum" sz="quarter" idx="4294967295"/>
          </p:nvPr>
        </p:nvSpPr>
        <p:spPr>
          <a:xfrm>
            <a:off x="11247120" y="6492240"/>
            <a:ext cx="548640" cy="365760"/>
          </a:xfrm>
          <a:prstGeom prst="rect">
            <a:avLst/>
          </a:prstGeom>
          <a:extLst>
            <a:ext uri="{C572A759-6A51-4108-AA02-DFA0A04FC94B}">
              <ma14:wrappingTextBoxFlag xmlns:ma14="http://schemas.microsoft.com/office/mac/drawingml/2011/main" val="0"/>
            </a:ext>
          </a:extLst>
        </p:spPr>
        <p:txBody>
          <a:bodyPr/>
          <a:lstStyle>
            <a:lvl1pPr>
              <a:defRPr sz="900">
                <a:solidFill>
                  <a:srgbClr val="C6D4E4"/>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822960" y="2651760"/>
            <a:ext cx="5486400"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3" name="Text 1"/>
          <p:cNvSpPr txBox="1"/>
          <p:nvPr/>
        </p:nvSpPr>
        <p:spPr>
          <a:xfrm>
            <a:off x="7498080" y="1097280"/>
            <a:ext cx="4297680" cy="3931920"/>
          </a:xfrm>
          <a:prstGeom prst="rect">
            <a:avLst/>
          </a:prstGeom>
          <a:noFill/>
          <a:ln/>
        </p:spPr>
        <p:txBody>
          <a:bodyPr wrap="square" lIns="0" tIns="0" rIns="0" bIns="0" rtlCol="0" anchor="t"/>
          <a:lstStyle/>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Prof. Dr. Thiago Lima</a:t>
            </a: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tflsixsigma@gmail.com</a:t>
            </a:r>
            <a:endParaRPr lang="en-US" sz="1400" dirty="0"/>
          </a:p>
          <a:p>
            <a:pPr indent="0" marL="0">
              <a:lnSpc>
                <a:spcPct val="125000"/>
              </a:lnSpc>
              <a:buNone/>
            </a:pP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Reading notes, simulators and the Value Case Canvas:</a:t>
            </a: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tflsixsigma-png.github.io/lean-six-sigma-digital-tools-benchmarking</a:t>
            </a:r>
            <a:endParaRPr lang="en-US" sz="1400" dirty="0"/>
          </a:p>
          <a:p>
            <a:pPr indent="0" marL="0">
              <a:lnSpc>
                <a:spcPct val="125000"/>
              </a:lnSpc>
              <a:buNone/>
            </a:pPr>
            <a:endParaRPr lang="en-US" sz="1400" dirty="0"/>
          </a:p>
          <a:p>
            <a:pPr indent="0" marL="0">
              <a:lnSpc>
                <a:spcPct val="125000"/>
              </a:lnSpc>
              <a:buNone/>
            </a:pPr>
            <a:r>
              <a:rPr lang="en-US" sz="1400" dirty="0">
                <a:solidFill>
                  <a:srgbClr val="1A1A1A"/>
                </a:solidFill>
                <a:latin typeface="Calibri" pitchFamily="34" charset="0"/>
                <a:ea typeface="Calibri" pitchFamily="34" charset="-122"/>
                <a:cs typeface="Calibri" pitchFamily="34" charset="-120"/>
              </a:rPr>
              <a:t>International Certificate in Project Management and Organizational Performance · Module 3, Session 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IAE Paris - Sorbonne Business School · IDGP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Six Sigma &amp; Continuous Improvement</dc:title>
  <dc:subject>PptxGenJS Presentation</dc:subject>
  <dc:creator>Prof. Dr. Thiago Lima</dc:creator>
  <cp:lastModifiedBy>Prof. Dr. Thiago Lima</cp:lastModifiedBy>
  <cp:revision>1</cp:revision>
  <dcterms:created xsi:type="dcterms:W3CDTF">2026-10-15T22:35:06Z</dcterms:created>
  <dcterms:modified xsi:type="dcterms:W3CDTF">2026-10-15T22:35:06Z</dcterms:modified>
</cp:coreProperties>
</file>